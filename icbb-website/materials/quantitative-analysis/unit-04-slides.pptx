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4: Describing Data and Building Table 1
Duration: 120 minutes
Objectives:
- Choose an appropriate summary for each level of measurement
- Judge distribution shape and pick mean or median accordingly
- Compute and interpret standard deviation, IQR and confidence intervals
- Build a Table 1 of participant characteristics
- Decide when a p-value belongs in Table 1 and when it does not
- Produce the table in SPSS and in 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The arithmetic is fine either way; the description is not. When mean and median disagree sharply, the median is almost always the honest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 a randomised trial, a baseline p-value answers a question nobody asked. In an observational study it can flag imbalance, but the decision to adjust still belongs to the conceptual framework, not the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ICBB-RM201   ·   Unit 4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Describing Data and Building Table 1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Summarising variables honestly: which measure of centre and spread fits which distribution, and how to assemble the participant characteristics table that opens almost every quantitative paper.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Choose an appropriate summary for each level of measurement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Judge distribution shape and pick mean or median accordingly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Compute and interpret standard deviation, IQR and confidence intervals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a Table 1 of participant characteristics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Decide when a p-value belongs in Table 1 and when it does not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Produce the table in SPSS and in 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Matching the summary to the variable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Nominal: counts and percentages only — a mean blood group is meaningless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Ordinal: median and interquartile range; means of Likert items are common but contested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Continuous and roughly symmetric: mean and standard deviation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Continuous and skewed: median and interquartile range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Always report the denominator alongside a percentage — 60% of 5 is not 60% of 500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Matching the summary to the variable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percentages to at most one decimal place; more implies precision you do not have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Judging the distribution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Look at a histogram before choosing a summary; do not rely on a test alone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Right skew is common for income, length of stay, biomarker concentrations and cost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mean far from the median signals skew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Formal normality tests (Shapiro-Wilk) are oversensitive in large samples and underpowered in small ones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R: hist(dat$x) and boxplot(dat$x); in SPSS, Analyze &gt; Descriptive Statistics &gt; Explore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Judging the distribution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question is not "is it exactly normal" but "is a mean a fair description of this distribution"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a mean and standard deviation for a badly skewed variable is not wrong arithmetic — it is a misleading description. A mean income of GHS 4,200 with an SD of GHS 9,000 tells the reader almost nothing useful.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Spread and uncertainty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Standard deviation describes the spread of the observations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Standard error describes the precision of the estimate, and shrinks as the sample grows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confidence interval is the interval estimate that goes with a point estimate: mean ± 1.96 × SE for a large sample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Reporting SE instead of SD to make a figure look tidier misrepresents variability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Interquartile range is the 25th to 75th percentile, and is robust to outliers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Spread and uncertainty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which you are reporting: "mean (SD)" and "median (IQR)" are not interchangeable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 summary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002536"/>
                <a:gridCol w="2002536"/>
                <a:gridCol w="2002536"/>
                <a:gridCol w="20025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Variable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Shape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Report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Example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Age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Roughly symmetric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Mean (SD)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42.3 (11.8) years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Right skewed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Median (IQR)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GHS 1,800 (900-3,400)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Sex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Nominal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 (%)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312 (52.0%) female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Education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Ordinal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 (%) by level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104 (17.3%) tertiary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Length of stay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Right skewed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Median (IQR)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4 (2-9) days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Table 1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row per characteristic, columns for the whole sample and for each comparison group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Give the denominator for every column, and note where it differs because of missing data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Order rows sensibly: demographics, then clinical, then exposure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Include the unit of measurement in the row label, not in every cell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R: the tableone or gtsummary package builds this directly from the data frame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Table 1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SPSS: Analyze &gt; Descriptive Statistics &gt; Explore, split by group, then assemble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Should Table 1 contain p-values?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a randomised trial, no: any baseline difference is by definition due to chance, so testing it answers a question nobody asked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CONSORT explicitly discourages significance testing of baseline characteristics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an observational study, a p-value can flag imbalance worth adjusting for, but the decision to adjust should be driven by subject knowledge, not by p &lt; 0.05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Standardised differences are a better measure of imbalance and do not depend on sample size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Should Table 1 contain p-values?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Whatever you report, describe the comparison in the table footnote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Mean or median: an income variable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Monthly household income in a sample of 600: mean GHS 4,200, median GHS 1,800, standard deviation GHS 9,100, maximum GHS 180,000.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mean is more than twice the median, which signals strong right skew.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standard deviation exceeds the mean, so mean ± SD runs negative — impossible for income.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histogram confirms it: most households below GHS 3,000, a long tail of a few very high earners.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Reporting "mean GHS 4,200 (SD 9,100)" describes almost nobody in the sample.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median GHS 1,800 (IQR 900 to 3,400), which describes the typical household.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a mean is needed for a total or a cost calculation, report it separately and say why.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p-value column that should not be there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randomised trial submits Table 1 with a p-value column comparing baseline characteristics between arms. One row shows p = 0.04 for age, and the student wants to adjust for 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guarantees that any baseline difference arose by chance.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the p-value tests a hypothesis known to be true, and 1 in 20 rows will be "significant" by construction.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CONSORT explicitly discourages significance testing of baseline characteristics.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real question is not whether the difference is significant but whether it is large enough to matter.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standardised difference answers that and does not depend on sample size.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Adjusting for a prognostic variable is fine — but decide that in advance from subject knowledge, not from a baseline p-value.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Standard deviation — The typical distance of observations from their mean; describes spread in the data.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Standard error — The standard deviation of an estimate; describes precision, and shrinks as n grows.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Interquartile range — The 25th to 75th percentile — a spread measure robust to outliers.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Skew — Asymmetry in a distribution, pulling the mean away from the median.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Table 1 — The participant characteristics table summarising the sample, overall and by group.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Standardised difference — A measure of group imbalance independent of sample size, used instead of a p-value.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Table 1 for your own dataset, or a supplied one: overall column plus one column per group. For every row, justify in one line why you chose mean or median. Then decide whether a p-value column belongs, and defend it.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ICBB-RM201 — Unit 4: Describing Data and Building Table 1</dc:title>
  <dc:subject>Quantitative Data Analysis</dc:subject>
  <dc:creator>Jesse Anak</dc:creator>
  <cp:lastModifiedBy>Jesse Anak</cp:lastModifiedBy>
  <cp:revision>1</cp:revision>
  <dcterms:created xsi:type="dcterms:W3CDTF">2026-08-19T18:49:01Z</dcterms:created>
  <dcterms:modified xsi:type="dcterms:W3CDTF">2026-08-19T18:49:01Z</dcterms:modified>
</cp:coreProperties>
</file>