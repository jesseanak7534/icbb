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7: Comparing Groups
Duration: 180 minutes
Objectives:
- Select a test from the design, the outcome type and the number of groups
- Check the assumptions each test relies on
- Distinguish paired from independent comparisons
- Run and interpret t-tests, ANOVA with post-hoc tests, and chi-square
- Choose a non-parametric alternative when assumptions fail
- Report a comparison completely: estimate, interval, test statistic and effect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Test choice is a short decision tree, not memorisation. Getting the paired versus independent question wrong is the most common error, and it changes both the test and the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Independence is the one assumption no test survives losing, and no transformation repairs. Whenever observations are grouped — schools, clinics, villages, repeated visits — the clustering must be in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90288"/>
            <a:ext cx="8010144" cy="10973"/>
          </a:xfrm>
          <a:prstGeom prst="rect">
            <a:avLst/>
          </a:prstGeom>
          <a:solidFill>
            <a:srgbClr val="D8D3CB"/>
          </a:solidFill>
          <a:ln/>
        </p:spPr>
      </p:sp>
      <p:pic>
        <p:nvPicPr>
          <p:cNvPr id="3" name="Image 0" descr="preencoded.png">    </p:cNvPr>
          <p:cNvPicPr>
            <a:picLocks noChangeAspect="1"/>
          </p:cNvPicPr>
          <p:nvPr/>
        </p:nvPicPr>
        <p:blipFill>
          <a:blip r:embed="rId1">
            <a:alphaModFix amt="38000"/>
          </a:blip>
          <a:stretch>
            <a:fillRect/>
          </a:stretch>
        </p:blipFill>
        <p:spPr>
          <a:xfrm>
            <a:off x="7973568" y="4709160"/>
            <a:ext cx="566928" cy="374904"/>
          </a:xfrm>
          <a:prstGeom prst="rect">
            <a:avLst/>
          </a:prstGeom>
        </p:spPr>
      </p:pic>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132330"/>
        </a:solidFill>
      </p:bgPr>
    </p:bg>
    <p:spTree>
      <p:nvGrpSpPr>
        <p:cNvPr id="1" name=""/>
        <p:cNvGrpSpPr/>
        <p:nvPr/>
      </p:nvGrpSpPr>
      <p:grpSpPr>
        <a:xfrm>
          <a:off x="0" y="0"/>
          <a:ext cx="0" cy="0"/>
          <a:chOff x="0" y="0"/>
          <a:chExt cx="0" cy="0"/>
        </a:xfrm>
      </p:grpSpPr>
      <p:sp>
        <p:nvSpPr>
          <p:cNvPr id="2" name="Shape 0"/>
          <p:cNvSpPr/>
          <p:nvPr/>
        </p:nvSpPr>
        <p:spPr>
          <a:xfrm>
            <a:off x="685800" y="1481328"/>
            <a:ext cx="1051560" cy="25603"/>
          </a:xfrm>
          <a:prstGeom prst="rect">
            <a:avLst/>
          </a:prstGeom>
          <a:solidFill>
            <a:srgbClr val="9A6A3C"/>
          </a:solidFill>
          <a:ln/>
        </p:spPr>
      </p:sp>
      <p:pic>
        <p:nvPicPr>
          <p:cNvPr id="3" name="Image 0" descr="preencoded.png">    </p:cNvPr>
          <p:cNvPicPr>
            <a:picLocks noChangeAspect="1"/>
          </p:cNvPicPr>
          <p:nvPr/>
        </p:nvPicPr>
        <p:blipFill>
          <a:blip r:embed="rId1">
            <a:alphaModFix amt="45000"/>
          </a:blip>
          <a:stretch>
            <a:fillRect/>
          </a:stretch>
        </p:blipFill>
        <p:spPr>
          <a:xfrm>
            <a:off x="7863840" y="4315968"/>
            <a:ext cx="676656" cy="44805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ICBB-RM201   ·   Unit 7 of 10</a:t>
            </a:r>
            <a:endParaRPr lang="en-US" sz="1150" dirty="0"/>
          </a:p>
        </p:txBody>
      </p:sp>
      <p:sp>
        <p:nvSpPr>
          <p:cNvPr id="3" name="Text 1"/>
          <p:cNvSpPr/>
          <p:nvPr/>
        </p:nvSpPr>
        <p:spPr>
          <a:xfrm>
            <a:off x="685800" y="1700784"/>
            <a:ext cx="6858000" cy="1417320"/>
          </a:xfrm>
          <a:prstGeom prst="rect">
            <a:avLst/>
          </a:prstGeom>
          <a:noFill/>
          <a:ln/>
        </p:spPr>
        <p:txBody>
          <a:bodyPr wrap="square" rtlCol="0" anchor="t"/>
          <a:lstStyle/>
          <a:p>
            <a:pPr indent="0" marL="0">
              <a:lnSpc>
                <a:spcPct val="102000"/>
              </a:lnSpc>
              <a:buNone/>
            </a:pPr>
            <a:r>
              <a:rPr lang="en-US" sz="3300" dirty="0">
                <a:solidFill>
                  <a:srgbClr val="FFFFFF"/>
                </a:solidFill>
                <a:latin typeface="Constantia" pitchFamily="34" charset="0"/>
                <a:ea typeface="Constantia" pitchFamily="34" charset="-122"/>
                <a:cs typeface="Constantia" pitchFamily="34" charset="-120"/>
              </a:rPr>
              <a:t>Comparing Groups</a:t>
            </a:r>
            <a:endParaRPr lang="en-US" sz="3300" dirty="0"/>
          </a:p>
        </p:txBody>
      </p:sp>
      <p:sp>
        <p:nvSpPr>
          <p:cNvPr id="4" name="Text 2"/>
          <p:cNvSpPr/>
          <p:nvPr/>
        </p:nvSpPr>
        <p:spPr>
          <a:xfrm>
            <a:off x="685800" y="3127248"/>
            <a:ext cx="6309360" cy="1051560"/>
          </a:xfrm>
          <a:prstGeom prst="rect">
            <a:avLst/>
          </a:prstGeom>
          <a:noFill/>
          <a:ln/>
        </p:spPr>
        <p:txBody>
          <a:bodyPr wrap="square" rtlCol="0" anchor="t"/>
          <a:lstStyle/>
          <a:p>
            <a:pPr indent="0" marL="0">
              <a:lnSpc>
                <a:spcPct val="128000"/>
              </a:lnSpc>
              <a:buNone/>
            </a:pPr>
            <a:r>
              <a:rPr lang="en-US" sz="1350" dirty="0">
                <a:solidFill>
                  <a:srgbClr val="B9C2CB"/>
                </a:solidFill>
                <a:latin typeface="Corbel" pitchFamily="34" charset="0"/>
                <a:ea typeface="Corbel" pitchFamily="34" charset="-122"/>
                <a:cs typeface="Corbel" pitchFamily="34" charset="-120"/>
              </a:rPr>
              <a:t>Choosing the right test for your design, outcome and assumptions — t-tests, ANOVA, chi-square and their non-parametric alternatives — and running them in SPSS and R.</a:t>
            </a:r>
            <a:endParaRPr lang="en-US" sz="1350" dirty="0"/>
          </a:p>
        </p:txBody>
      </p:sp>
      <p:sp>
        <p:nvSpPr>
          <p:cNvPr id="5" name="Text 3"/>
          <p:cNvSpPr/>
          <p:nvPr/>
        </p:nvSpPr>
        <p:spPr>
          <a:xfrm>
            <a:off x="685800" y="4407408"/>
            <a:ext cx="4572000" cy="274320"/>
          </a:xfrm>
          <a:prstGeom prst="rect">
            <a:avLst/>
          </a:prstGeom>
          <a:noFill/>
          <a:ln/>
        </p:spPr>
        <p:txBody>
          <a:bodyPr wrap="square" rtlCol="0" anchor="ctr"/>
          <a:lstStyle/>
          <a:p>
            <a:pPr indent="0" marL="0">
              <a:buNone/>
            </a:pPr>
            <a:r>
              <a:rPr lang="en-US" sz="1050" spc="120" kern="0" dirty="0">
                <a:solidFill>
                  <a:srgbClr val="8894A0"/>
                </a:solidFill>
                <a:latin typeface="Corbel" pitchFamily="34" charset="0"/>
                <a:ea typeface="Corbel" pitchFamily="34" charset="-122"/>
                <a:cs typeface="Corbel" pitchFamily="34" charset="-120"/>
              </a:rPr>
              <a:t>Jesse Anak   ·   ICBB</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What you will be able to do</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Select a test from the design, the outcome type and the number of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Check the assumptions each test relies on</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Distinguish paired from independent comparisons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Run and interpret t-tests, ANOVA with post-hoc tests, and chi-square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Choose a non-parametric alternative when assumptions fail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Report a comparison completely: estimate, interval, test statistic and effect size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the test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Three questions settle it: what type is the outcome, how many groups, and are the groups independent or paired?</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Continuous outcome, two independent groups: independent samples t-test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Continuous outcome, two paired measurements: paired t-test</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Continuous outcome, three or more independent groups: one-way ANOVA</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Categorical outcome, two or more groups: chi-square test of independence</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the test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Small expected counts in a contingency table: Fisher's exact test</a:t>
            </a:r>
            <a:endParaRPr lang="en-US" sz="1800" dirty="0"/>
          </a:p>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Paired binary outcome: McNemar's test</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Test selection</a:t>
            </a:r>
            <a:endParaRPr lang="en-US" sz="2500" dirty="0"/>
          </a:p>
        </p:txBody>
      </p:sp>
      <p:sp>
        <p:nvSpPr>
          <p:cNvPr id="4" name="Shape 2"/>
          <p:cNvSpPr/>
          <p:nvPr/>
        </p:nvSpPr>
        <p:spPr>
          <a:xfrm>
            <a:off x="566928" y="1335024"/>
            <a:ext cx="566928" cy="20117"/>
          </a:xfrm>
          <a:prstGeom prst="rect">
            <a:avLst/>
          </a:prstGeom>
          <a:solidFill>
            <a:srgbClr val="9A6A3C"/>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8010144" cy="914400"/>
        </p:xfrm>
        <a:graphic>
          <a:graphicData uri="http://schemas.openxmlformats.org/drawingml/2006/table">
            <a:tbl>
              <a:tblPr/>
              <a:tblGrid>
                <a:gridCol w="2002536"/>
                <a:gridCol w="2002536"/>
                <a:gridCol w="2002536"/>
                <a:gridCol w="2002536"/>
              </a:tblGrid>
              <a:tr h="0">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Outcome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Groups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Parametric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c>
                  <a:txBody>
                    <a:bodyPr/>
                    <a:lstStyle/>
                    <a:p>
                      <a:pPr indent="0" marL="0">
                        <a:buNone/>
                      </a:pPr>
                      <a:r>
                        <a:rPr lang="en-US" sz="1100" b="1" dirty="0">
                          <a:solidFill>
                            <a:srgbClr val="1C3140"/>
                          </a:solidFill>
                          <a:latin typeface="Corbel" pitchFamily="34" charset="0"/>
                          <a:ea typeface="Corbel" pitchFamily="34" charset="-122"/>
                          <a:cs typeface="Corbel" pitchFamily="34" charset="-120"/>
                        </a:rPr>
                        <a:t>Non-parametric</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6F4F0"/>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independent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Independent t-test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Mann-Whitney U</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paired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Paired t-test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Wilcoxon signed-rank</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 independent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One-way ANOVA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Kruskal-Wallis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Continuous</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3+ repeated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Repeated-measures ANOVA</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Friedman</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Categorical</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independent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Chi-square</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Fisher's exact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3282E"/>
                          </a:solidFill>
                          <a:latin typeface="Corbel" pitchFamily="34" charset="0"/>
                          <a:ea typeface="Corbel" pitchFamily="34" charset="-122"/>
                          <a:cs typeface="Corbel" pitchFamily="34" charset="-120"/>
                        </a:rPr>
                        <a:t>Binary</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2 paired</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McNemar's test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c>
                  <a:txBody>
                    <a:bodyPr/>
                    <a:lstStyle/>
                    <a:p>
                      <a:pPr indent="0" marL="0">
                        <a:buNone/>
                      </a:pPr>
                      <a:r>
                        <a:rPr lang="en-US" sz="1100" dirty="0">
                          <a:solidFill>
                            <a:srgbClr val="23282E"/>
                          </a:solidFill>
                          <a:latin typeface="Corbel" pitchFamily="34" charset="0"/>
                          <a:ea typeface="Corbel" pitchFamily="34" charset="-122"/>
                          <a:cs typeface="Corbel" pitchFamily="34" charset="-120"/>
                        </a:rPr>
                        <a:t>—</a:t>
                      </a:r>
                      <a:endParaRPr lang="en-US" sz="1100" dirty="0">
                        <a:latin typeface="Corbel" charset="0"/>
                        <a:ea typeface="Corbel" charset="0"/>
                        <a:cs typeface="Corbel" charset="0"/>
                      </a:endParaRPr>
                    </a:p>
                  </a:txBody>
                  <a:tcPr marL="76200" marR="76200" marT="76200" marB="76200" anchor="t">
                    <a:lnL w="5080" cap="flat" cmpd="sng" algn="ctr">
                      <a:solidFill>
                        <a:srgbClr val="D8D3CB"/>
                      </a:solidFill>
                      <a:prstDash val="solid"/>
                      <a:round/>
                      <a:headEnd type="none" w="med" len="med"/>
                      <a:tailEnd type="none" w="med" len="med"/>
                    </a:lnL>
                    <a:lnR w="5080" cap="flat" cmpd="sng" algn="ctr">
                      <a:solidFill>
                        <a:srgbClr val="D8D3CB"/>
                      </a:solidFill>
                      <a:prstDash val="solid"/>
                      <a:round/>
                      <a:headEnd type="none" w="med" len="med"/>
                      <a:tailEnd type="none" w="med" len="med"/>
                    </a:lnR>
                    <a:lnT w="5080" cap="flat" cmpd="sng" algn="ctr">
                      <a:solidFill>
                        <a:srgbClr val="D8D3CB"/>
                      </a:solidFill>
                      <a:prstDash val="solid"/>
                      <a:round/>
                      <a:headEnd type="none" w="med" len="med"/>
                      <a:tailEnd type="none" w="med" len="med"/>
                    </a:lnT>
                    <a:lnB w="5080" cap="flat" cmpd="sng" algn="ctr">
                      <a:solidFill>
                        <a:srgbClr val="D8D3C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Assumptions, and what to do when they fail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Independence of observations — the one assumption no test survives losing, and no fix repairs after the fact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Approximate normality of the outcome within groups; matters most in small samples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Equal variances for the classic t-test — but Welch's t-test drops this and is a sensible default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For chi-square, expected counts of at least 5 in most cells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Judge normality from a histogram, not only a significance test</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Assumptions, and what to do when they fail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When assumptions fail: transform the outcome, use a non-parametric test, or use a bootstrap</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Non-parametric tests compare distributions or ranks, not means, so interpret accordingly</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In practice</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Shape 3"/>
          <p:cNvSpPr/>
          <p:nvPr/>
        </p:nvSpPr>
        <p:spPr>
          <a:xfrm>
            <a:off x="566928" y="1664208"/>
            <a:ext cx="8010144" cy="2395728"/>
          </a:xfrm>
          <a:prstGeom prst="rect">
            <a:avLst/>
          </a:prstGeom>
          <a:solidFill>
            <a:srgbClr val="F6F4F0"/>
          </a:solidFill>
          <a:ln/>
        </p:spPr>
      </p:sp>
      <p:sp>
        <p:nvSpPr>
          <p:cNvPr id="6" name="Text 4"/>
          <p:cNvSpPr/>
          <p:nvPr/>
        </p:nvSpPr>
        <p:spPr>
          <a:xfrm>
            <a:off x="932688" y="1847088"/>
            <a:ext cx="7278624" cy="2029968"/>
          </a:xfrm>
          <a:prstGeom prst="rect">
            <a:avLst/>
          </a:prstGeom>
          <a:noFill/>
          <a:ln/>
        </p:spPr>
        <p:txBody>
          <a:bodyPr wrap="square" rtlCol="0" anchor="t"/>
          <a:lstStyle/>
          <a:p>
            <a:pPr indent="0" marL="0">
              <a:lnSpc>
                <a:spcPct val="132000"/>
              </a:lnSpc>
              <a:buNone/>
            </a:pPr>
            <a:r>
              <a:rPr lang="en-US" sz="1600" i="1" dirty="0">
                <a:solidFill>
                  <a:srgbClr val="1C3140"/>
                </a:solidFill>
                <a:latin typeface="Constantia" pitchFamily="34" charset="0"/>
                <a:ea typeface="Constantia" pitchFamily="34" charset="-122"/>
                <a:cs typeface="Constantia" pitchFamily="34" charset="-120"/>
              </a:rPr>
              <a:t>Clustered data — pupils within schools, patients within clinics, repeated visits per person — violate independence. A t-test on such data reports standard errors that are far too small. That needs a mixed model or a cluster-robust approach, not a different t-test.</a:t>
            </a:r>
            <a:endParaRPr lang="en-US" sz="16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ANOVA and post-hoc tests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A significant ANOVA says the groups are not all equal; it does not say which differ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Running every pairwise t-test afterwards without adjustment inflates the false positive rate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Post-hoc tests control it: Tukey HSD for all pairwise comparisons, Dunnett when comparing several groups against one control</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Bonferroni is simple and conservative; it divides the significance level by the number of comparisons</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ANOVA and post-hoc tests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Two-way ANOVA tests two factors and their interaction — an interaction means the effect of one factor depends on the level of the other</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Interpret main effects with care in the presence of a significant interaction</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Running it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independent t-test: t.test(bp ~ group, data = dat) — Welch by default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paired: t.test(before, after, paired = TRUE)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ANOVA: fit &lt;- aov(bp ~ group, data = dat); summary(fit); TukeyHSD(fit)</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R, chi-square: chisq.test(table(dat$group, dat$outcome))</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SPSS: Analyze &gt; Compare Means &gt; Independent-Samples T Test, or One-Way ANOVA with Post Hoc</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Running it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SPSS chi-square lives under Analyze &gt; Descriptive Statistics &gt; Crosstabs &gt; Statistics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 SPSS always read the Levene test row to decide which t-test line to quote</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a comparison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the group summaries first: mean (SD) or median (IQR) with n per group</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the estimated difference with its confidence interval — the interval is the finding</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the test statistic, degrees of freedom and exact p-value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Give an effect size</a:t>
            </a:r>
            <a:endParaRPr lang="en-US" sz="1500" dirty="0"/>
          </a:p>
          <a:p>
            <a:pPr marL="342900" indent="-342900">
              <a:lnSpc>
                <a:spcPct val="130000"/>
              </a:lnSpc>
              <a:spcAft>
                <a:spcPts val="1100"/>
              </a:spcAft>
              <a:buSzPct val="100000"/>
              <a:buChar char="–"/>
            </a:pPr>
            <a:r>
              <a:rPr lang="en-US" sz="1500" dirty="0">
                <a:solidFill>
                  <a:srgbClr val="23282E"/>
                </a:solidFill>
                <a:latin typeface="Corbel" pitchFamily="34" charset="0"/>
                <a:ea typeface="Corbel" pitchFamily="34" charset="-122"/>
                <a:cs typeface="Corbel" pitchFamily="34" charset="-120"/>
              </a:rPr>
              <a:t>Example: "Mean systolic BP was 8.4 mmHg lower in the intervention group (95% CI 3.1 to 13.7; t(118) = 3.12, p = 0.002; d = 0.57)."</a:t>
            </a:r>
            <a:endParaRPr lang="en-US" sz="15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Reporting a comparison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800" dirty="0">
                <a:solidFill>
                  <a:srgbClr val="23282E"/>
                </a:solidFill>
                <a:latin typeface="Corbel" pitchFamily="34" charset="0"/>
                <a:ea typeface="Corbel" pitchFamily="34" charset="-122"/>
                <a:cs typeface="Corbel" pitchFamily="34" charset="-120"/>
              </a:rPr>
              <a:t>Name the test used and state that its assumptions were checked</a:t>
            </a:r>
            <a:endParaRPr lang="en-US" sz="180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Choosing a test in three questions</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Four analyses are needed, and the student wants to know which test each requires.</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Mean BP in intervention vs control, different people: continuous, two groups, independent → independent t-test (Welch).</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Anxiety score before and after in the same patients: continuous, two measurements, paired → paired t-test.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Mean score across four clinics: continuous, four groups, independent → one-way ANOVA, then Tukey.</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Proportion adhering in two groups: categorical outcome, two groups → chi-square, or Fisher if expected counts are small.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Each answer came from three questions: outcome type, number of groups, paired or independent.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Only then check assumptions and consider a non-parametric alternative.</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  ·  WORKED EXAMPLE</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Pupils in schools are not independent</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566928" y="1645920"/>
            <a:ext cx="8010144" cy="822960"/>
          </a:xfrm>
          <a:prstGeom prst="rect">
            <a:avLst/>
          </a:prstGeom>
          <a:noFill/>
          <a:ln/>
        </p:spPr>
        <p:txBody>
          <a:bodyPr wrap="square" rtlCol="0" anchor="t"/>
          <a:lstStyle/>
          <a:p>
            <a:pPr indent="0" marL="0">
              <a:lnSpc>
                <a:spcPct val="124000"/>
              </a:lnSpc>
              <a:buNone/>
            </a:pPr>
            <a:r>
              <a:rPr lang="en-US" sz="1300" i="1" dirty="0">
                <a:solidFill>
                  <a:srgbClr val="5F6B76"/>
                </a:solidFill>
                <a:latin typeface="Constantia" pitchFamily="34" charset="0"/>
                <a:ea typeface="Constantia" pitchFamily="34" charset="-122"/>
                <a:cs typeface="Constantia" pitchFamily="34" charset="-120"/>
              </a:rPr>
              <a:t>Test scores from 600 pupils across 20 schools are compared between two teaching methods with an independent t-test. The result is p = 0.004.</a:t>
            </a:r>
            <a:endParaRPr lang="en-US" sz="1300" dirty="0"/>
          </a:p>
        </p:txBody>
      </p:sp>
      <p:sp>
        <p:nvSpPr>
          <p:cNvPr id="6" name="Text 4"/>
          <p:cNvSpPr/>
          <p:nvPr/>
        </p:nvSpPr>
        <p:spPr>
          <a:xfrm>
            <a:off x="786384" y="2523744"/>
            <a:ext cx="7406640" cy="1920240"/>
          </a:xfrm>
          <a:prstGeom prst="rect">
            <a:avLst/>
          </a:prstGeom>
          <a:noFill/>
          <a:ln/>
        </p:spPr>
        <p:txBody>
          <a:bodyPr wrap="square" rtlCol="0" anchor="t"/>
          <a:lstStyle/>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Pupils in the same school share teachers, resources and intake — their scores are correlated.</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A t-test assumes 600 independent observations. In effect there are closer to 20.</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Treating correlated observations as independent understates the standard error, so p is far too small.</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design effect quantifies it: with an intra-class correlation of 0.15 and 30 pupils per school, variance inflates by about 5.</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The right analysis is a mixed model with a random intercept for school: lmer(score ~ method + (1 | school), data = dat)</a:t>
            </a:r>
            <a:endParaRPr lang="en-US" sz="1250" dirty="0"/>
          </a:p>
          <a:p>
            <a:pPr marL="342900" indent="-342900">
              <a:lnSpc>
                <a:spcPct val="120000"/>
              </a:lnSpc>
              <a:spcAft>
                <a:spcPts val="500"/>
              </a:spcAft>
              <a:buSzPct val="100000"/>
              <a:buFont typeface="+mj-lt"/>
              <a:buAutoNum type="arabicPeriod" startAt="1"/>
            </a:pPr>
            <a:r>
              <a:rPr lang="en-US" sz="1250" dirty="0">
                <a:solidFill>
                  <a:srgbClr val="23282E"/>
                </a:solidFill>
                <a:latin typeface="Corbel" pitchFamily="34" charset="0"/>
                <a:ea typeface="Corbel" pitchFamily="34" charset="-122"/>
                <a:cs typeface="Corbel" pitchFamily="34" charset="-120"/>
              </a:rPr>
              <a:t>Refitted properly, the same data give p = 0.14 — the original finding was an artefact of ignoring clustering.</a:t>
            </a:r>
            <a:endParaRPr lang="en-US" sz="12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(1/2)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Welch's t-test — A t-test that does not assume equal variances; a safe default for two independent groups.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Paired test — A comparison of two measurements on the same units, analysing the within-pair differences.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Post-hoc test — A follow-up comparison after a significant ANOVA, adjusted for multiple testing.</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Interaction — When the effect of one factor depends on the level of another.</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84048"/>
            <a:ext cx="7772400" cy="237744"/>
          </a:xfrm>
          <a:prstGeom prst="rect">
            <a:avLst/>
          </a:prstGeom>
          <a:noFill/>
          <a:ln/>
        </p:spPr>
        <p:txBody>
          <a:bodyPr wrap="square" rtlCol="0" anchor="ctr"/>
          <a:lstStyle/>
          <a:p>
            <a:pPr indent="0" marL="0">
              <a:buNone/>
            </a:pPr>
            <a:r>
              <a:rPr lang="en-US" sz="1000" spc="200" kern="0" dirty="0">
                <a:solidFill>
                  <a:srgbClr val="9A6A3C"/>
                </a:solidFill>
                <a:latin typeface="Corbel" pitchFamily="34" charset="0"/>
                <a:ea typeface="Corbel" pitchFamily="34" charset="-122"/>
                <a:cs typeface="Corbel" pitchFamily="34" charset="-120"/>
              </a:rPr>
              <a:t>UNIT 7</a:t>
            </a:r>
            <a:endParaRPr lang="en-US" sz="1000" dirty="0"/>
          </a:p>
        </p:txBody>
      </p:sp>
      <p:sp>
        <p:nvSpPr>
          <p:cNvPr id="3" name="Text 1"/>
          <p:cNvSpPr/>
          <p:nvPr/>
        </p:nvSpPr>
        <p:spPr>
          <a:xfrm>
            <a:off x="566928" y="658368"/>
            <a:ext cx="7772400" cy="658368"/>
          </a:xfrm>
          <a:prstGeom prst="rect">
            <a:avLst/>
          </a:prstGeom>
          <a:noFill/>
          <a:ln/>
        </p:spPr>
        <p:txBody>
          <a:bodyPr wrap="square" rtlCol="0" anchor="t"/>
          <a:lstStyle/>
          <a:p>
            <a:pPr indent="0" marL="0">
              <a:lnSpc>
                <a:spcPct val="100000"/>
              </a:lnSpc>
              <a:buNone/>
            </a:pPr>
            <a:r>
              <a:rPr lang="en-US" sz="2500" dirty="0">
                <a:solidFill>
                  <a:srgbClr val="1C3140"/>
                </a:solidFill>
                <a:latin typeface="Constantia" pitchFamily="34" charset="0"/>
                <a:ea typeface="Constantia" pitchFamily="34" charset="-122"/>
                <a:cs typeface="Constantia" pitchFamily="34" charset="-120"/>
              </a:rPr>
              <a:t>Key terms (2/2)</a:t>
            </a:r>
            <a:endParaRPr lang="en-US" sz="2500" dirty="0"/>
          </a:p>
        </p:txBody>
      </p:sp>
      <p:sp>
        <p:nvSpPr>
          <p:cNvPr id="4" name="Shape 2"/>
          <p:cNvSpPr/>
          <p:nvPr/>
        </p:nvSpPr>
        <p:spPr>
          <a:xfrm>
            <a:off x="566928" y="1335024"/>
            <a:ext cx="566928" cy="20117"/>
          </a:xfrm>
          <a:prstGeom prst="rect">
            <a:avLst/>
          </a:prstGeom>
          <a:solidFill>
            <a:srgbClr val="9A6A3C"/>
          </a:solidFill>
          <a:ln/>
        </p:spPr>
      </p:sp>
      <p:sp>
        <p:nvSpPr>
          <p:cNvPr id="5" name="Text 3"/>
          <p:cNvSpPr/>
          <p:nvPr/>
        </p:nvSpPr>
        <p:spPr>
          <a:xfrm>
            <a:off x="713232" y="1664208"/>
            <a:ext cx="7498080" cy="2788920"/>
          </a:xfrm>
          <a:prstGeom prst="rect">
            <a:avLst/>
          </a:prstGeom>
          <a:noFill/>
          <a:ln/>
        </p:spPr>
        <p:txBody>
          <a:bodyPr wrap="square" rtlCol="0" anchor="t"/>
          <a:lstStyle/>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Fisher's exact test — An exact test for a contingency table, used when expected counts are small.</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Cohen's d — A standardised difference between two means, expressed in pooled standard deviations.</a:t>
            </a:r>
            <a:endParaRPr lang="en-US" sz="1650" dirty="0"/>
          </a:p>
          <a:p>
            <a:pPr marL="342900" indent="-342900">
              <a:lnSpc>
                <a:spcPct val="130000"/>
              </a:lnSpc>
              <a:spcAft>
                <a:spcPts val="1100"/>
              </a:spcAft>
              <a:buSzPct val="100000"/>
              <a:buChar char="–"/>
            </a:pPr>
            <a:r>
              <a:rPr lang="en-US" sz="1650" dirty="0">
                <a:solidFill>
                  <a:srgbClr val="23282E"/>
                </a:solidFill>
                <a:latin typeface="Corbel" pitchFamily="34" charset="0"/>
                <a:ea typeface="Corbel" pitchFamily="34" charset="-122"/>
                <a:cs typeface="Corbel" pitchFamily="34" charset="-120"/>
              </a:rPr>
              <a:t>Clustering — Non-independence arising when observations are grouped within units such as schools or clinics.</a:t>
            </a:r>
            <a:endParaRPr lang="en-US" sz="1650" dirty="0"/>
          </a:p>
        </p:txBody>
      </p:sp>
      <p:sp>
        <p:nvSpPr>
          <p:cNvPr id="25" name="Slide Number Placeholder 0"/>
          <p:cNvSpPr>
            <a:spLocks noGrp="1"/>
          </p:cNvSpPr>
          <p:nvPr>
            <p:ph type="sldNum" sz="quarter" idx="4294967295"/>
          </p:nvPr>
        </p:nvSpPr>
        <p:spPr>
          <a:xfrm>
            <a:off x="566928" y="4700016"/>
            <a:ext cx="9144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B76"/>
                </a:solidFill>
                <a:latin typeface="Corbel"/>
                <a:ea typeface="Corbel"/>
                <a:cs typeface="Corbe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1024128"/>
            <a:ext cx="6766560" cy="292608"/>
          </a:xfrm>
          <a:prstGeom prst="rect">
            <a:avLst/>
          </a:prstGeom>
          <a:noFill/>
          <a:ln/>
        </p:spPr>
        <p:txBody>
          <a:bodyPr wrap="square" rtlCol="0" anchor="ctr"/>
          <a:lstStyle/>
          <a:p>
            <a:pPr indent="0" marL="0">
              <a:buNone/>
            </a:pPr>
            <a:r>
              <a:rPr lang="en-US" sz="1150" spc="240" kern="0" dirty="0">
                <a:solidFill>
                  <a:srgbClr val="C8A67B"/>
                </a:solidFill>
                <a:latin typeface="Corbel" pitchFamily="34" charset="0"/>
                <a:ea typeface="Corbel" pitchFamily="34" charset="-122"/>
                <a:cs typeface="Corbel" pitchFamily="34" charset="-120"/>
              </a:rPr>
              <a:t>Over to you</a:t>
            </a:r>
            <a:endParaRPr lang="en-US" sz="1150" dirty="0"/>
          </a:p>
        </p:txBody>
      </p:sp>
      <p:sp>
        <p:nvSpPr>
          <p:cNvPr id="3" name="Text 1"/>
          <p:cNvSpPr/>
          <p:nvPr/>
        </p:nvSpPr>
        <p:spPr>
          <a:xfrm>
            <a:off x="685800" y="1700784"/>
            <a:ext cx="6858000" cy="640080"/>
          </a:xfrm>
          <a:prstGeom prst="rect">
            <a:avLst/>
          </a:prstGeom>
          <a:noFill/>
          <a:ln/>
        </p:spPr>
        <p:txBody>
          <a:bodyPr wrap="square" rtlCol="0" anchor="t"/>
          <a:lstStyle/>
          <a:p>
            <a:pPr indent="0" marL="0">
              <a:buNone/>
            </a:pPr>
            <a:r>
              <a:rPr lang="en-US" sz="3000" dirty="0">
                <a:solidFill>
                  <a:srgbClr val="FFFFFF"/>
                </a:solidFill>
                <a:latin typeface="Constantia" pitchFamily="34" charset="0"/>
                <a:ea typeface="Constantia" pitchFamily="34" charset="-122"/>
                <a:cs typeface="Constantia" pitchFamily="34" charset="-120"/>
              </a:rPr>
              <a:t>Activity</a:t>
            </a:r>
            <a:endParaRPr lang="en-US" sz="3000" dirty="0"/>
          </a:p>
        </p:txBody>
      </p:sp>
      <p:sp>
        <p:nvSpPr>
          <p:cNvPr id="4" name="Text 2"/>
          <p:cNvSpPr/>
          <p:nvPr/>
        </p:nvSpPr>
        <p:spPr>
          <a:xfrm>
            <a:off x="685800" y="2487168"/>
            <a:ext cx="6949440" cy="1737360"/>
          </a:xfrm>
          <a:prstGeom prst="rect">
            <a:avLst/>
          </a:prstGeom>
          <a:noFill/>
          <a:ln/>
        </p:spPr>
        <p:txBody>
          <a:bodyPr wrap="square" rtlCol="0" anchor="t"/>
          <a:lstStyle/>
          <a:p>
            <a:pPr indent="0" marL="0">
              <a:lnSpc>
                <a:spcPct val="134000"/>
              </a:lnSpc>
              <a:buNone/>
            </a:pPr>
            <a:r>
              <a:rPr lang="en-US" sz="1450" dirty="0">
                <a:solidFill>
                  <a:srgbClr val="C4CCD4"/>
                </a:solidFill>
                <a:latin typeface="Corbel" pitchFamily="34" charset="0"/>
                <a:ea typeface="Corbel" pitchFamily="34" charset="-122"/>
                <a:cs typeface="Corbel" pitchFamily="34" charset="-120"/>
              </a:rPr>
              <a:t>For three research questions from your own study, write down: the outcome type, the number of groups, whether they are paired, and the test you would use. Then name the one assumption most likely to fail in each, and what you would do about it.</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onstant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rbe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Institute of Computational Biology and Bioinformatics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ICBB-RM201 — Unit 7: Comparing Groups</dc:title>
  <dc:subject>Quantitative Data Analysis</dc:subject>
  <dc:creator>Jesse Anak</dc:creator>
  <cp:lastModifiedBy>Jesse Anak</cp:lastModifiedBy>
  <cp:revision>1</cp:revision>
  <dcterms:created xsi:type="dcterms:W3CDTF">2026-08-19T19:26:58Z</dcterms:created>
  <dcterms:modified xsi:type="dcterms:W3CDTF">2026-08-19T19:26:58Z</dcterms:modified>
</cp:coreProperties>
</file>