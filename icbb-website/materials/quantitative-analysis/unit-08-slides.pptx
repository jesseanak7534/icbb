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8: Correlation and Linear Regression
Duration: 180 minutes
Objectives:
- Distinguish correlation from regression and know when each is appropriate
- Interpret a slope, an intercept and R-squared in the units of the problem
- Include categorical predictors correctly using dummy coding
- Extend to multiple regression and interpret adjusted coefficients
- Check the assumptions using residual plots
- Report a regression model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A coefficient is a sentence in the units of the problem, not a p-value. If you cannot say it out loud in those units, you cannot yet interpret your own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Numeric coding of an unordered or unequally spaced categorical variable imposes a straight line nobody checked. Use factors, and let the data show the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CBB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90288"/>
            <a:ext cx="8010144" cy="10973"/>
          </a:xfrm>
          <a:prstGeom prst="rect">
            <a:avLst/>
          </a:prstGeom>
          <a:solidFill>
            <a:srgbClr val="D8D3CB"/>
          </a:solidFill>
          <a:ln/>
        </p:spPr>
      </p:sp>
      <p:pic>
        <p:nvPicPr>
          <p:cNvPr id="3" name="Image 0" descr="preencoded.png">    </p:cNvPr>
          <p:cNvPicPr>
            <a:picLocks noChangeAspect="1"/>
          </p:cNvPicPr>
          <p:nvPr/>
        </p:nvPicPr>
        <p:blipFill>
          <a:blip r:embed="rId1">
            <a:alphaModFix amt="38000"/>
          </a:blip>
          <a:stretch>
            <a:fillRect/>
          </a:stretch>
        </p:blipFill>
        <p:spPr>
          <a:xfrm>
            <a:off x="7973568" y="4709160"/>
            <a:ext cx="566928" cy="374904"/>
          </a:xfrm>
          <a:prstGeom prst="rect">
            <a:avLst/>
          </a:prstGeom>
        </p:spPr>
      </p:pic>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BB_TITLE">
    <p:bg>
      <p:bgPr>
        <a:solidFill>
          <a:srgbClr val="132330"/>
        </a:solidFill>
      </p:bgPr>
    </p:bg>
    <p:spTree>
      <p:nvGrpSpPr>
        <p:cNvPr id="1" name=""/>
        <p:cNvGrpSpPr/>
        <p:nvPr/>
      </p:nvGrpSpPr>
      <p:grpSpPr>
        <a:xfrm>
          <a:off x="0" y="0"/>
          <a:ext cx="0" cy="0"/>
          <a:chOff x="0" y="0"/>
          <a:chExt cx="0" cy="0"/>
        </a:xfrm>
      </p:grpSpPr>
      <p:sp>
        <p:nvSpPr>
          <p:cNvPr id="2" name="Shape 0"/>
          <p:cNvSpPr/>
          <p:nvPr/>
        </p:nvSpPr>
        <p:spPr>
          <a:xfrm>
            <a:off x="685800" y="1481328"/>
            <a:ext cx="1051560" cy="25603"/>
          </a:xfrm>
          <a:prstGeom prst="rect">
            <a:avLst/>
          </a:prstGeom>
          <a:solidFill>
            <a:srgbClr val="9A6A3C"/>
          </a:solidFill>
          <a:ln/>
        </p:spPr>
      </p:sp>
      <p:pic>
        <p:nvPicPr>
          <p:cNvPr id="3" name="Image 0" descr="preencoded.png">    </p:cNvPr>
          <p:cNvPicPr>
            <a:picLocks noChangeAspect="1"/>
          </p:cNvPicPr>
          <p:nvPr/>
        </p:nvPicPr>
        <p:blipFill>
          <a:blip r:embed="rId1">
            <a:alphaModFix amt="45000"/>
          </a:blip>
          <a:stretch>
            <a:fillRect/>
          </a:stretch>
        </p:blipFill>
        <p:spPr>
          <a:xfrm>
            <a:off x="7863840" y="4315968"/>
            <a:ext cx="676656" cy="44805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ICBB-RM201   ·   Unit 8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Correlation and Linear Regression</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Modelling a continuous outcome: what a regression coefficient means, how to handle categorical predictors, and how to check the model is entitled to the conclusions you want from it.</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Distinguish correlation from regression and know when each is appropriate</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Interpret a slope, an intercept and R-squared in the units of the problem</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Include categorical predictors correctly using dummy coding</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Extend to multiple regression and interpret adjusted coefficients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Check the assumptions using residual plots</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Report a regression model completely</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Correlation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Pearson r measures the strength and direction of a linear relationship between two continuous variables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It runs from -1 to +1; 0 means no linear relationship, not no relationship at all</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Spearman rho is the rank-based alternative for monotonic but non-linear relationships, or with outliers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r-squared is the proportion of variance in one variable explained by the other</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Correlation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Always plot the scatterplot before quoting r — very different patterns give identical coefficients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Correlation is symmetric and makes no prediction; regression is directional and does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Simple linear regression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The model is y = b0 + b1·x + error</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b1 is the estimated change in y for a one-unit increase in x</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b0 is the predicted y when x is zero — often meaningless, as with a predicted birth weight at age zero</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Centring a predictor (subtracting its mean) makes the intercept interpretable as the value at the average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R-squared is the proportion of variance explained; a low value does not mean the model is wrong, only that much is unexplained</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Simple linear regression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In R: fit &lt;- lm(bp ~ age, data = dat); summary(fit); confint(fit)</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Always report the coefficient with its confidence interval, not just its p-value</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Categorical predictors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 binary predictor enters as 0/1, and its coefficient is the difference between the two groups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 k-category predictor needs k-1 dummy variables, with one level as the reference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Every coefficient is then interpreted as the difference from that reference level</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Choose a reference that makes sense — usually the largest group, or the untreated one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 R declare it a factor and lm() handles the coding: dat$edu &lt;- factor(dat$edu)</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Categorical predictors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350" dirty="0">
                <a:solidFill>
                  <a:srgbClr val="23282E"/>
                </a:solidFill>
                <a:latin typeface="Corbel" pitchFamily="34" charset="0"/>
                <a:ea typeface="Corbel" pitchFamily="34" charset="-122"/>
                <a:cs typeface="Corbel" pitchFamily="34" charset="-120"/>
              </a:rPr>
              <a:t>Entering an unordered categorical variable as a plain number is a common and serious error: it forces a straight-line effect across arbitrary category codes</a:t>
            </a:r>
            <a:endParaRPr lang="en-US" sz="13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Coding education as 1 to 5 and putting it in as numeric assumes the step from none to primary equals the step from SHS to tertiary, and that both are one unit of the same thing. Almost never true — use factors.</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Multiple regression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Each coefficient is the effect of that predictor holding the others constant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"Adjusted for" and "holding constant" mean the same thing here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Adding a confounder changes the coefficient of interest; that change is the confounding</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Adjusted R-squared penalises adding predictors that do not help</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Do not select variables purely by p-value; stepwise selection produces unstable models and biased intervals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Multiple regression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Choose predictors from subject knowledge and the conceptual framework built in Part 1</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 rough guide: at least 10-15 observations per predictor, more for binary outcomes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Reading a regression table</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002536"/>
                <a:gridCol w="2002536"/>
                <a:gridCol w="2002536"/>
                <a:gridCol w="2002536"/>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Predictor</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b (95% CI)</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p</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Interpretation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Age (years)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0.42 (0.28 to 0.56)</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&lt;0.001</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Each extra year adds 0.42 mmHg</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Sex (female vs male)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-3.10 (-5.9 to -0.3)</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0.030</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Women 3.1 mmHg lower than men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BMI (kg/m²)</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0.88 (0.55 to 1.21)</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&lt;0.001</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Each BMI unit adds 0.88 mmHg</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Education: tertiary vs none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-2.40 (-5.1 to 0.3)</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0.081</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Lower, but interval includes no difference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Checking the model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Linearity: residuals versus fitted values should show no pattern; a curve means the relationship is not linear</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Constant variance: the same plot should not fan out — a funnel shape is heteroscedasticity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Normality of residuals: a Q-Q plot should follow the diagonal. It is the residuals that matter, not the raw data</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Independence: cannot be checked from residuals alone; it follows from the design</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Checking the model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Influential points: Cook's distance identifies observations that move the coefficients substantially</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Multicollinearity: a variance inflation factor above about 5 to 10 means predictors are too closely related to separate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 R: plot(fit) gives the four diagnostic plots; vif(fit) from the car package gives VIFs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Reading a regression table out loud</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A model of systolic blood pressure gives: age 0.42 (0.28 to 0.56); female -3.10 (-5.9 to -0.3); BMI 0.88 (0.55 to 1.21); tertiary education -2.40 (-5.1 to 0.3).</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Age: each additional year is associated with 0.42 mmHg higher SBP, holding sex, BMI and education constant.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Female: women average 3.1 mmHg lower than men, adjusted for the others. The reference category is male.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BMI: each additional kg/m² adds 0.88 mmHg — over 5 units, about 4.4 mmHg.</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Tertiary education: 2.4 mmHg lower than the reference level, but the interval crosses zero, so this is compatible with no difference.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Every statement needs "holding the others constant" — that is what adjustment means.</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Reporting only "age was significant" throws away the magnitude, which is the part a clinician can use.</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The education variable entered as a number</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Education has five categories coded 1 to 5. It is entered into the regression as numeric and returns a neat coefficient of -1.2 per level.</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That single coefficient assumes each step has the same effect: none→primary equals SHS→tertiary.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It also assumes the categories are equally spaced on some underlying scale, which nobody has established.</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Declaring it a factor — dat$edu &lt;- factor(dat$edu) — estimates four coefficients against a reference.</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Refitted, the effect turns out to be flat across the first three levels and then drops sharply at tertiary.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linear version averaged that into a misleading constant slope and understated the tertiary effect.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If a single-number summary is genuinely wanted, test for trend explicitly and say that is what you did.</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Pearson r — A measure of linear association between two continuous variables, from -1 to +1.</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Regression coefficient — The estimated change in the outcome per one-unit increase in a predictor.</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Dummy variable — A binary indicator representing one level of a categorical predictor against a reference.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Adjusted — Estimated while holding the other predictors in the model constant.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Heteroscedasticity — Non-constant variance of residuals across fitted values.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8</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Multicollinearity — Predictors so correlated that their separate effects cannot be estimated reliably.</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Cook's distance — A measure of how much an observation influences the fitted coefficients.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Fit a regression with one continuous and one categorical predictor on your own data or a supplied dataset. Write one sentence interpreting each coefficient in the units of the problem, then run the four diagnostic plots and say which assumption you are least comfortable with.</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onstant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rbe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Institute of Computational Biology and Bioinformatics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ICBB-RM201 — Unit 8: Correlation and Linear Regression</dc:title>
  <dc:subject>Quantitative Data Analysis</dc:subject>
  <dc:creator>Jesse Anak</dc:creator>
  <cp:lastModifiedBy>Jesse Anak</cp:lastModifiedBy>
  <cp:revision>1</cp:revision>
  <dcterms:created xsi:type="dcterms:W3CDTF">2026-08-19T19:26:58Z</dcterms:created>
  <dcterms:modified xsi:type="dcterms:W3CDTF">2026-08-19T19:26:58Z</dcterms:modified>
</cp:coreProperties>
</file>