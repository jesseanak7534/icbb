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10: Reporting, Reproducibility and the Results Section
Duration: 150 minutes
Objectives:
- Write a results section that matches the pre-specified analysis plan
- Report estimates, intervals and p-values to the right precision
- Lay out tables and figures to journal standards
- Apply the relevant reporting checklist
- Build a reproducible analysis with a script and a clear folder structure
- Produce a dynamic report with R Markdown or Quarto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at the start, and return to them at the end of the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The results section reports what was found, in numbers, with uncertainty. Every clause of interpretation that creeps in is a clause a reviewer will ask you to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Copying numbers by hand and later changing the analysis is the most common source of error in a results section. Generating the document from the data makes the failure impossible rather than unlikely.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Allow 10-15 minutes, then take feedback from two or three pairs.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CBB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90288"/>
            <a:ext cx="8010144" cy="10973"/>
          </a:xfrm>
          <a:prstGeom prst="rect">
            <a:avLst/>
          </a:prstGeom>
          <a:solidFill>
            <a:srgbClr val="D8D3CB"/>
          </a:solidFill>
          <a:ln/>
        </p:spPr>
      </p:sp>
      <p:pic>
        <p:nvPicPr>
          <p:cNvPr id="3" name="Image 0" descr="preencoded.png">    </p:cNvPr>
          <p:cNvPicPr>
            <a:picLocks noChangeAspect="1"/>
          </p:cNvPicPr>
          <p:nvPr/>
        </p:nvPicPr>
        <p:blipFill>
          <a:blip r:embed="rId1">
            <a:alphaModFix amt="38000"/>
          </a:blip>
          <a:stretch>
            <a:fillRect/>
          </a:stretch>
        </p:blipFill>
        <p:spPr>
          <a:xfrm>
            <a:off x="7973568" y="4709160"/>
            <a:ext cx="566928" cy="374904"/>
          </a:xfrm>
          <a:prstGeom prst="rect">
            <a:avLst/>
          </a:prstGeom>
        </p:spPr>
      </p:pic>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CBB_TITLE">
    <p:bg>
      <p:bgPr>
        <a:solidFill>
          <a:srgbClr val="132330"/>
        </a:solidFill>
      </p:bgPr>
    </p:bg>
    <p:spTree>
      <p:nvGrpSpPr>
        <p:cNvPr id="1" name=""/>
        <p:cNvGrpSpPr/>
        <p:nvPr/>
      </p:nvGrpSpPr>
      <p:grpSpPr>
        <a:xfrm>
          <a:off x="0" y="0"/>
          <a:ext cx="0" cy="0"/>
          <a:chOff x="0" y="0"/>
          <a:chExt cx="0" cy="0"/>
        </a:xfrm>
      </p:grpSpPr>
      <p:sp>
        <p:nvSpPr>
          <p:cNvPr id="2" name="Shape 0"/>
          <p:cNvSpPr/>
          <p:nvPr/>
        </p:nvSpPr>
        <p:spPr>
          <a:xfrm>
            <a:off x="685800" y="1481328"/>
            <a:ext cx="1051560" cy="25603"/>
          </a:xfrm>
          <a:prstGeom prst="rect">
            <a:avLst/>
          </a:prstGeom>
          <a:solidFill>
            <a:srgbClr val="9A6A3C"/>
          </a:solidFill>
          <a:ln/>
        </p:spPr>
      </p:sp>
      <p:pic>
        <p:nvPicPr>
          <p:cNvPr id="3" name="Image 0" descr="preencoded.png">    </p:cNvPr>
          <p:cNvPicPr>
            <a:picLocks noChangeAspect="1"/>
          </p:cNvPicPr>
          <p:nvPr/>
        </p:nvPicPr>
        <p:blipFill>
          <a:blip r:embed="rId1">
            <a:alphaModFix amt="45000"/>
          </a:blip>
          <a:stretch>
            <a:fillRect/>
          </a:stretch>
        </p:blipFill>
        <p:spPr>
          <a:xfrm>
            <a:off x="7863840" y="4315968"/>
            <a:ext cx="676656" cy="44805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ICBB-RM201   ·   Unit 10 of 10</a:t>
            </a:r>
            <a:endParaRPr lang="en-US" sz="1150" dirty="0"/>
          </a:p>
        </p:txBody>
      </p:sp>
      <p:sp>
        <p:nvSpPr>
          <p:cNvPr id="3" name="Text 1"/>
          <p:cNvSpPr/>
          <p:nvPr/>
        </p:nvSpPr>
        <p:spPr>
          <a:xfrm>
            <a:off x="685800" y="1700784"/>
            <a:ext cx="6858000" cy="1417320"/>
          </a:xfrm>
          <a:prstGeom prst="rect">
            <a:avLst/>
          </a:prstGeom>
          <a:noFill/>
          <a:ln/>
        </p:spPr>
        <p:txBody>
          <a:bodyPr wrap="square" rtlCol="0" anchor="t"/>
          <a:lstStyle/>
          <a:p>
            <a:pPr indent="0" marL="0">
              <a:lnSpc>
                <a:spcPct val="102000"/>
              </a:lnSpc>
              <a:buNone/>
            </a:pPr>
            <a:r>
              <a:rPr lang="en-US" sz="3300" dirty="0">
                <a:solidFill>
                  <a:srgbClr val="FFFFFF"/>
                </a:solidFill>
                <a:latin typeface="Constantia" pitchFamily="34" charset="0"/>
                <a:ea typeface="Constantia" pitchFamily="34" charset="-122"/>
                <a:cs typeface="Constantia" pitchFamily="34" charset="-120"/>
              </a:rPr>
              <a:t>Reporting, Reproducibility and the Results Section</a:t>
            </a:r>
            <a:endParaRPr lang="en-US" sz="3300" dirty="0"/>
          </a:p>
        </p:txBody>
      </p:sp>
      <p:sp>
        <p:nvSpPr>
          <p:cNvPr id="4" name="Text 2"/>
          <p:cNvSpPr/>
          <p:nvPr/>
        </p:nvSpPr>
        <p:spPr>
          <a:xfrm>
            <a:off x="685800" y="3127248"/>
            <a:ext cx="6309360" cy="1051560"/>
          </a:xfrm>
          <a:prstGeom prst="rect">
            <a:avLst/>
          </a:prstGeom>
          <a:noFill/>
          <a:ln/>
        </p:spPr>
        <p:txBody>
          <a:bodyPr wrap="square" rtlCol="0" anchor="t"/>
          <a:lstStyle/>
          <a:p>
            <a:pPr indent="0" marL="0">
              <a:lnSpc>
                <a:spcPct val="128000"/>
              </a:lnSpc>
              <a:buNone/>
            </a:pPr>
            <a:r>
              <a:rPr lang="en-US" sz="1350" dirty="0">
                <a:solidFill>
                  <a:srgbClr val="B9C2CB"/>
                </a:solidFill>
                <a:latin typeface="Corbel" pitchFamily="34" charset="0"/>
                <a:ea typeface="Corbel" pitchFamily="34" charset="-122"/>
                <a:cs typeface="Corbel" pitchFamily="34" charset="-120"/>
              </a:rPr>
              <a:t>Turning output into a results section a reviewer will accept: what to report, how to lay out tables, and how to make the whole analysis reproducible by someone else.</a:t>
            </a:r>
            <a:endParaRPr lang="en-US" sz="1350" dirty="0"/>
          </a:p>
        </p:txBody>
      </p:sp>
      <p:sp>
        <p:nvSpPr>
          <p:cNvPr id="5" name="Text 3"/>
          <p:cNvSpPr/>
          <p:nvPr/>
        </p:nvSpPr>
        <p:spPr>
          <a:xfrm>
            <a:off x="685800" y="4407408"/>
            <a:ext cx="4572000" cy="274320"/>
          </a:xfrm>
          <a:prstGeom prst="rect">
            <a:avLst/>
          </a:prstGeom>
          <a:noFill/>
          <a:ln/>
        </p:spPr>
        <p:txBody>
          <a:bodyPr wrap="square" rtlCol="0" anchor="ctr"/>
          <a:lstStyle/>
          <a:p>
            <a:pPr indent="0" marL="0">
              <a:buNone/>
            </a:pPr>
            <a:r>
              <a:rPr lang="en-US" sz="1050" spc="120" kern="0" dirty="0">
                <a:solidFill>
                  <a:srgbClr val="8894A0"/>
                </a:solidFill>
                <a:latin typeface="Corbel" pitchFamily="34" charset="0"/>
                <a:ea typeface="Corbel" pitchFamily="34" charset="-122"/>
                <a:cs typeface="Corbel" pitchFamily="34" charset="-120"/>
              </a:rPr>
              <a:t>Jesse Anak   ·   ICBB</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you will be able to do</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Write a results section that matches the pre-specified analysis plan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Report estimates, intervals and p-values to the right precision</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Lay out tables and figures to journal standards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Apply the relevant reporting checklist</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Build a reproducible analysis with a script and a clear folder structure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Produce a dynamic report with R Markdown or Quarto</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belongs in the results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Participant flow: how many were approached, included, excluded and analysed, and why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Table 1 of participant characteristics</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The primary analysis, answering the primary objective, first</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Secondary analyses clearly labelled as secondary</a:t>
            </a:r>
            <a:endParaRPr lang="en-US" sz="1500" dirty="0"/>
          </a:p>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Any analysis not planned in advance labelled exploratory — not doing so is the difference between honest reporting and fishing</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What belongs in the results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No interpretation in the results section; that belongs in the discussion</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Every objective from the proposal produces a result, and every result answers an objective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Precision and notation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Report to the precision the data support: a mean age of 42.3 years, not 42.3187</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Percentages to at most one decimal, and never for a denominator under about 20</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p-values to two or three decimals; below 0.001 write p &lt; 0.001, never p = 0.000</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Effect estimates with confidence intervals, using "to" rather than a dash when values may be negative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Give the unit of measurement in the row or column label, not repeated in every cell</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Precision and notation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Be consistent about decimal places within a column so figures line up</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Common reporting faults</a:t>
            </a:r>
            <a:endParaRPr lang="en-US" sz="2500" dirty="0"/>
          </a:p>
        </p:txBody>
      </p:sp>
      <p:sp>
        <p:nvSpPr>
          <p:cNvPr id="4" name="Shape 2"/>
          <p:cNvSpPr/>
          <p:nvPr/>
        </p:nvSpPr>
        <p:spPr>
          <a:xfrm>
            <a:off x="566928" y="1335024"/>
            <a:ext cx="566928" cy="20117"/>
          </a:xfrm>
          <a:prstGeom prst="rect">
            <a:avLst/>
          </a:prstGeom>
          <a:solidFill>
            <a:srgbClr val="9A6A3C"/>
          </a:solidFill>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8010144" cy="914400"/>
        </p:xfrm>
        <a:graphic>
          <a:graphicData uri="http://schemas.openxmlformats.org/drawingml/2006/table">
            <a:tbl>
              <a:tblPr/>
              <a:tblGrid>
                <a:gridCol w="2670048"/>
                <a:gridCol w="2670048"/>
                <a:gridCol w="2670048"/>
              </a:tblGrid>
              <a:tr h="0">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Written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Problem</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c>
                  <a:txBody>
                    <a:bodyPr/>
                    <a:lstStyle/>
                    <a:p>
                      <a:pPr indent="0" marL="0">
                        <a:buNone/>
                      </a:pPr>
                      <a:r>
                        <a:rPr lang="en-US" sz="1100" b="1" dirty="0">
                          <a:solidFill>
                            <a:srgbClr val="1C3140"/>
                          </a:solidFill>
                          <a:latin typeface="Corbel" pitchFamily="34" charset="0"/>
                          <a:ea typeface="Corbel" pitchFamily="34" charset="-122"/>
                          <a:cs typeface="Corbel" pitchFamily="34" charset="-120"/>
                        </a:rPr>
                        <a:t>Better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6F4F0"/>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p = 0.000</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 p-value is zero</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 &lt; 0.001</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Mean 42.3187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False precision</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Mean 42.3 years</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OR 2.4 (p &lt; 0.05)</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 interval</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OR 2.4 (95% CI 1.3 to 4.5)</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33.3% (n = 3)</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Percentage of a tiny denominator</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1 of 3</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r h="0">
                <a:tc>
                  <a:txBody>
                    <a:bodyPr/>
                    <a:lstStyle/>
                    <a:p>
                      <a:pPr indent="0" marL="0">
                        <a:buNone/>
                      </a:pPr>
                      <a:r>
                        <a:rPr lang="en-US" sz="1100" dirty="0">
                          <a:solidFill>
                            <a:srgbClr val="23282E"/>
                          </a:solidFill>
                          <a:latin typeface="Corbel" pitchFamily="34" charset="0"/>
                          <a:ea typeface="Corbel" pitchFamily="34" charset="-122"/>
                          <a:cs typeface="Corbel" pitchFamily="34" charset="-120"/>
                        </a:rPr>
                        <a:t>A trend towards significance</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p = 0.08 is not a trend</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c>
                  <a:txBody>
                    <a:bodyPr/>
                    <a:lstStyle/>
                    <a:p>
                      <a:pPr indent="0" marL="0">
                        <a:buNone/>
                      </a:pPr>
                      <a:r>
                        <a:rPr lang="en-US" sz="1100" dirty="0">
                          <a:solidFill>
                            <a:srgbClr val="23282E"/>
                          </a:solidFill>
                          <a:latin typeface="Corbel" pitchFamily="34" charset="0"/>
                          <a:ea typeface="Corbel" pitchFamily="34" charset="-122"/>
                          <a:cs typeface="Corbel" pitchFamily="34" charset="-120"/>
                        </a:rPr>
                        <a:t>No significant difference (p = 0.08)</a:t>
                      </a:r>
                      <a:endParaRPr lang="en-US" sz="1100" dirty="0">
                        <a:latin typeface="Corbel" charset="0"/>
                        <a:ea typeface="Corbel" charset="0"/>
                        <a:cs typeface="Corbel" charset="0"/>
                      </a:endParaRPr>
                    </a:p>
                  </a:txBody>
                  <a:tcPr marL="76200" marR="76200" marT="76200" marB="76200" anchor="t">
                    <a:lnL w="5080" cap="flat" cmpd="sng" algn="ctr">
                      <a:solidFill>
                        <a:srgbClr val="D8D3CB"/>
                      </a:solidFill>
                      <a:prstDash val="solid"/>
                      <a:round/>
                      <a:headEnd type="none" w="med" len="med"/>
                      <a:tailEnd type="none" w="med" len="med"/>
                    </a:lnL>
                    <a:lnR w="5080" cap="flat" cmpd="sng" algn="ctr">
                      <a:solidFill>
                        <a:srgbClr val="D8D3CB"/>
                      </a:solidFill>
                      <a:prstDash val="solid"/>
                      <a:round/>
                      <a:headEnd type="none" w="med" len="med"/>
                      <a:tailEnd type="none" w="med" len="med"/>
                    </a:lnR>
                    <a:lnT w="5080" cap="flat" cmpd="sng" algn="ctr">
                      <a:solidFill>
                        <a:srgbClr val="D8D3CB"/>
                      </a:solidFill>
                      <a:prstDash val="solid"/>
                      <a:round/>
                      <a:headEnd type="none" w="med" len="med"/>
                      <a:tailEnd type="none" w="med" len="med"/>
                    </a:lnT>
                    <a:lnB w="5080" cap="flat" cmpd="sng" algn="ctr">
                      <a:solidFill>
                        <a:srgbClr val="D8D3C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Checklists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STROBE for observational studies — cohort, case-control and cross-sectional</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CONSORT for randomised trials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PRISMA for systematic reviews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TRIPOD for prediction model studies</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SAMPL for statistical reporting generally</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Checklists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Find them at the EQUATOR Network, and use one while writing rather than afterwards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Most journals require the completed checklist at submission anyway</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Making the analysis reproducible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A reproducible analysis means someone else can run your script on your data and get your numbers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Structure: data/raw (read-only), data/clean, scripts, output, and a README explaining the order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Number scripts in running order: 01-clean.R, 02-describe.R, 03-model.R</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Never edit data by hand; every change is a line of code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Set a seed before anything random so imputation and bootstrap results repeat exactly</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Making the analysis reproducible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Record package versions — sessionInfo() in R, or renv for a full lockfile</a:t>
            </a:r>
            <a:endParaRPr lang="en-US" sz="1800" dirty="0"/>
          </a:p>
          <a:p>
            <a:pPr marL="342900" indent="-342900">
              <a:lnSpc>
                <a:spcPct val="130000"/>
              </a:lnSpc>
              <a:spcAft>
                <a:spcPts val="1100"/>
              </a:spcAft>
              <a:buSzPct val="100000"/>
              <a:buChar char="–"/>
            </a:pPr>
            <a:r>
              <a:rPr lang="en-US" sz="1800" dirty="0">
                <a:solidFill>
                  <a:srgbClr val="23282E"/>
                </a:solidFill>
                <a:latin typeface="Corbel" pitchFamily="34" charset="0"/>
                <a:ea typeface="Corbel" pitchFamily="34" charset="-122"/>
                <a:cs typeface="Corbel" pitchFamily="34" charset="-120"/>
              </a:rPr>
              <a:t>Use relative paths so the project runs on another machine</a:t>
            </a:r>
            <a:endParaRPr lang="en-US" sz="18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In practice</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Shape 3"/>
          <p:cNvSpPr/>
          <p:nvPr/>
        </p:nvSpPr>
        <p:spPr>
          <a:xfrm>
            <a:off x="566928" y="1664208"/>
            <a:ext cx="8010144" cy="2395728"/>
          </a:xfrm>
          <a:prstGeom prst="rect">
            <a:avLst/>
          </a:prstGeom>
          <a:solidFill>
            <a:srgbClr val="F6F4F0"/>
          </a:solidFill>
          <a:ln/>
        </p:spPr>
      </p:sp>
      <p:sp>
        <p:nvSpPr>
          <p:cNvPr id="6" name="Text 4"/>
          <p:cNvSpPr/>
          <p:nvPr/>
        </p:nvSpPr>
        <p:spPr>
          <a:xfrm>
            <a:off x="932688" y="1847088"/>
            <a:ext cx="7278624" cy="2029968"/>
          </a:xfrm>
          <a:prstGeom prst="rect">
            <a:avLst/>
          </a:prstGeom>
          <a:noFill/>
          <a:ln/>
        </p:spPr>
        <p:txBody>
          <a:bodyPr wrap="square" rtlCol="0" anchor="t"/>
          <a:lstStyle/>
          <a:p>
            <a:pPr indent="0" marL="0">
              <a:lnSpc>
                <a:spcPct val="132000"/>
              </a:lnSpc>
              <a:buNone/>
            </a:pPr>
            <a:r>
              <a:rPr lang="en-US" sz="1600" i="1" dirty="0">
                <a:solidFill>
                  <a:srgbClr val="1C3140"/>
                </a:solidFill>
                <a:latin typeface="Constantia" pitchFamily="34" charset="0"/>
                <a:ea typeface="Constantia" pitchFamily="34" charset="-122"/>
                <a:cs typeface="Constantia" pitchFamily="34" charset="-120"/>
              </a:rPr>
              <a:t>The practical test: delete every output file, rerun the scripts from raw data, and check the numbers in your manuscript still match. Most analyses fail this the first time, which is exactly why it is worth doing before a reviewer asks.</a:t>
            </a:r>
            <a:endParaRPr lang="en-US" sz="16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Dynamic reports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 Markdown and Quarto embed the code that produces each number in the document itself</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The manuscript is then generated from the data, so a table can never disagree with the analysis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Inline code writes results into prose: the mean was `r round(mean(dat$age), 1)` years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Re-running after a data correction updates every number, table and figure at once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Output to Word for co-authors, PDF for submission, or HTML for sharing</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Dynamic reports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500" dirty="0">
                <a:solidFill>
                  <a:srgbClr val="23282E"/>
                </a:solidFill>
                <a:latin typeface="Corbel" pitchFamily="34" charset="0"/>
                <a:ea typeface="Corbel" pitchFamily="34" charset="-122"/>
                <a:cs typeface="Corbel" pitchFamily="34" charset="-120"/>
              </a:rPr>
              <a:t>This removes the single most common source of error in a results section: copying a number by hand and later changing the analysis</a:t>
            </a:r>
            <a:endParaRPr lang="en-US" sz="150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A results paragraph rewritten</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A draft reads: "The intervention group had significantly lower blood pressure (p &lt; 0.05), showing that the programme works well and should be rolled out nationally."</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estimate: how much lower? The reader cannot tell if it is 1 mmHg or 20.</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No interval: no sense of precision.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p &lt; 0.05 rather than the exact value, which discards information.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"Showing that the programme works well" is interpretation, and belongs in the discussion.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"Should be rolled out nationally" is a recommendation, and belongs in the conclusion — supported by more than one trial.</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Rewritten: "Mean systolic BP was 8.4 mmHg lower in the intervention group (95% CI 3.1 to 13.7; t(118) = 3.12, p = 0.002; d = 0.57)."</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  ·  WORKED EXAMPLE</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The table that no longer matched the analysis</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566928" y="1645920"/>
            <a:ext cx="8010144" cy="822960"/>
          </a:xfrm>
          <a:prstGeom prst="rect">
            <a:avLst/>
          </a:prstGeom>
          <a:noFill/>
          <a:ln/>
        </p:spPr>
        <p:txBody>
          <a:bodyPr wrap="square" rtlCol="0" anchor="t"/>
          <a:lstStyle/>
          <a:p>
            <a:pPr indent="0" marL="0">
              <a:lnSpc>
                <a:spcPct val="124000"/>
              </a:lnSpc>
              <a:buNone/>
            </a:pPr>
            <a:r>
              <a:rPr lang="en-US" sz="1300" i="1" dirty="0">
                <a:solidFill>
                  <a:srgbClr val="5F6B76"/>
                </a:solidFill>
                <a:latin typeface="Constantia" pitchFamily="34" charset="0"/>
                <a:ea typeface="Constantia" pitchFamily="34" charset="-122"/>
                <a:cs typeface="Constantia" pitchFamily="34" charset="-120"/>
              </a:rPr>
              <a:t>Two weeks before submission a data error is found and corrected. The analysis is rerun. The manuscript is submitted, and a co-author notices Table 3 still carries the old numbers.</a:t>
            </a:r>
            <a:endParaRPr lang="en-US" sz="1300" dirty="0"/>
          </a:p>
        </p:txBody>
      </p:sp>
      <p:sp>
        <p:nvSpPr>
          <p:cNvPr id="6" name="Text 4"/>
          <p:cNvSpPr/>
          <p:nvPr/>
        </p:nvSpPr>
        <p:spPr>
          <a:xfrm>
            <a:off x="786384" y="2523744"/>
            <a:ext cx="7406640" cy="1920240"/>
          </a:xfrm>
          <a:prstGeom prst="rect">
            <a:avLst/>
          </a:prstGeom>
          <a:noFill/>
          <a:ln/>
        </p:spPr>
        <p:txBody>
          <a:bodyPr wrap="square" rtlCol="0" anchor="t"/>
          <a:lstStyle/>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The tables had been typed by hand from earlier output.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Rerunning the analysis updated the output files but not the manuscript.</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Three of eleven numbers in Table 3 changed; two did not, so nothing looked obviously wrong.</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 Quarto or R Markdown the table is generated from the data at render time, so this cannot happen.</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Inline code puts results into prose too: the mean was `r round(mean(dat$age), 1)` years.</a:t>
            </a:r>
            <a:endParaRPr lang="en-US" sz="1250" dirty="0"/>
          </a:p>
          <a:p>
            <a:pPr marL="342900" indent="-342900">
              <a:lnSpc>
                <a:spcPct val="120000"/>
              </a:lnSpc>
              <a:spcAft>
                <a:spcPts val="500"/>
              </a:spcAft>
              <a:buSzPct val="100000"/>
              <a:buFont typeface="+mj-lt"/>
              <a:buAutoNum type="arabicPeriod" startAt="1"/>
            </a:pPr>
            <a:r>
              <a:rPr lang="en-US" sz="1250" dirty="0">
                <a:solidFill>
                  <a:srgbClr val="23282E"/>
                </a:solidFill>
                <a:latin typeface="Corbel" pitchFamily="34" charset="0"/>
                <a:ea typeface="Corbel" pitchFamily="34" charset="-122"/>
                <a:cs typeface="Corbel" pitchFamily="34" charset="-120"/>
              </a:rPr>
              <a:t>Re-rendering after the correction would have updated every number, table and figure at once.</a:t>
            </a:r>
            <a:endParaRPr lang="en-US" sz="12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(1/2)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Primary analysis — The pre-specified analysis answering the study's main objective.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Exploratory analysis — An analysis not planned in advance, which must be labelled as such.</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STROBE — The reporting checklist for observational studies.</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Reproducibility — The property that another person can obtain your results from your data and code.</a:t>
            </a:r>
            <a:endParaRPr lang="en-US" sz="1650" dirty="0"/>
          </a:p>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Seed — A starting value for the random number generator, making stochastic procedures repeatable.</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384048"/>
            <a:ext cx="7772400" cy="237744"/>
          </a:xfrm>
          <a:prstGeom prst="rect">
            <a:avLst/>
          </a:prstGeom>
          <a:noFill/>
          <a:ln/>
        </p:spPr>
        <p:txBody>
          <a:bodyPr wrap="square" rtlCol="0" anchor="ctr"/>
          <a:lstStyle/>
          <a:p>
            <a:pPr indent="0" marL="0">
              <a:buNone/>
            </a:pPr>
            <a:r>
              <a:rPr lang="en-US" sz="1000" spc="200" kern="0" dirty="0">
                <a:solidFill>
                  <a:srgbClr val="9A6A3C"/>
                </a:solidFill>
                <a:latin typeface="Corbel" pitchFamily="34" charset="0"/>
                <a:ea typeface="Corbel" pitchFamily="34" charset="-122"/>
                <a:cs typeface="Corbel" pitchFamily="34" charset="-120"/>
              </a:rPr>
              <a:t>UNIT 10</a:t>
            </a:r>
            <a:endParaRPr lang="en-US" sz="1000" dirty="0"/>
          </a:p>
        </p:txBody>
      </p:sp>
      <p:sp>
        <p:nvSpPr>
          <p:cNvPr id="3" name="Text 1"/>
          <p:cNvSpPr/>
          <p:nvPr/>
        </p:nvSpPr>
        <p:spPr>
          <a:xfrm>
            <a:off x="566928" y="658368"/>
            <a:ext cx="7772400" cy="658368"/>
          </a:xfrm>
          <a:prstGeom prst="rect">
            <a:avLst/>
          </a:prstGeom>
          <a:noFill/>
          <a:ln/>
        </p:spPr>
        <p:txBody>
          <a:bodyPr wrap="square" rtlCol="0" anchor="t"/>
          <a:lstStyle/>
          <a:p>
            <a:pPr indent="0" marL="0">
              <a:lnSpc>
                <a:spcPct val="100000"/>
              </a:lnSpc>
              <a:buNone/>
            </a:pPr>
            <a:r>
              <a:rPr lang="en-US" sz="2500" dirty="0">
                <a:solidFill>
                  <a:srgbClr val="1C3140"/>
                </a:solidFill>
                <a:latin typeface="Constantia" pitchFamily="34" charset="0"/>
                <a:ea typeface="Constantia" pitchFamily="34" charset="-122"/>
                <a:cs typeface="Constantia" pitchFamily="34" charset="-120"/>
              </a:rPr>
              <a:t>Key terms (2/2)</a:t>
            </a:r>
            <a:endParaRPr lang="en-US" sz="2500" dirty="0"/>
          </a:p>
        </p:txBody>
      </p:sp>
      <p:sp>
        <p:nvSpPr>
          <p:cNvPr id="4" name="Shape 2"/>
          <p:cNvSpPr/>
          <p:nvPr/>
        </p:nvSpPr>
        <p:spPr>
          <a:xfrm>
            <a:off x="566928" y="1335024"/>
            <a:ext cx="566928" cy="20117"/>
          </a:xfrm>
          <a:prstGeom prst="rect">
            <a:avLst/>
          </a:prstGeom>
          <a:solidFill>
            <a:srgbClr val="9A6A3C"/>
          </a:solidFill>
          <a:ln/>
        </p:spPr>
      </p:sp>
      <p:sp>
        <p:nvSpPr>
          <p:cNvPr id="5" name="Text 3"/>
          <p:cNvSpPr/>
          <p:nvPr/>
        </p:nvSpPr>
        <p:spPr>
          <a:xfrm>
            <a:off x="713232" y="1664208"/>
            <a:ext cx="7498080" cy="2788920"/>
          </a:xfrm>
          <a:prstGeom prst="rect">
            <a:avLst/>
          </a:prstGeom>
          <a:noFill/>
          <a:ln/>
        </p:spPr>
        <p:txBody>
          <a:bodyPr wrap="square" rtlCol="0" anchor="t"/>
          <a:lstStyle/>
          <a:p>
            <a:pPr marL="342900" indent="-342900">
              <a:lnSpc>
                <a:spcPct val="130000"/>
              </a:lnSpc>
              <a:spcAft>
                <a:spcPts val="1100"/>
              </a:spcAft>
              <a:buSzPct val="100000"/>
              <a:buChar char="–"/>
            </a:pPr>
            <a:r>
              <a:rPr lang="en-US" sz="1650" dirty="0">
                <a:solidFill>
                  <a:srgbClr val="23282E"/>
                </a:solidFill>
                <a:latin typeface="Corbel" pitchFamily="34" charset="0"/>
                <a:ea typeface="Corbel" pitchFamily="34" charset="-122"/>
                <a:cs typeface="Corbel" pitchFamily="34" charset="-120"/>
              </a:rPr>
              <a:t>Dynamic report — A document in which results are generated from the data at render time rather than pasted in.</a:t>
            </a:r>
            <a:endParaRPr lang="en-US" sz="1650" dirty="0"/>
          </a:p>
        </p:txBody>
      </p:sp>
      <p:sp>
        <p:nvSpPr>
          <p:cNvPr id="25" name="Slide Number Placeholder 0"/>
          <p:cNvSpPr>
            <a:spLocks noGrp="1"/>
          </p:cNvSpPr>
          <p:nvPr>
            <p:ph type="sldNum" sz="quarter" idx="4294967295"/>
          </p:nvPr>
        </p:nvSpPr>
        <p:spPr>
          <a:xfrm>
            <a:off x="566928" y="4700016"/>
            <a:ext cx="91440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F6B76"/>
                </a:solidFill>
                <a:latin typeface="Corbel"/>
                <a:ea typeface="Corbel"/>
                <a:cs typeface="Corbe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1024128"/>
            <a:ext cx="6766560" cy="292608"/>
          </a:xfrm>
          <a:prstGeom prst="rect">
            <a:avLst/>
          </a:prstGeom>
          <a:noFill/>
          <a:ln/>
        </p:spPr>
        <p:txBody>
          <a:bodyPr wrap="square" rtlCol="0" anchor="ctr"/>
          <a:lstStyle/>
          <a:p>
            <a:pPr indent="0" marL="0">
              <a:buNone/>
            </a:pPr>
            <a:r>
              <a:rPr lang="en-US" sz="1150" spc="240" kern="0" dirty="0">
                <a:solidFill>
                  <a:srgbClr val="C8A67B"/>
                </a:solidFill>
                <a:latin typeface="Corbel" pitchFamily="34" charset="0"/>
                <a:ea typeface="Corbel" pitchFamily="34" charset="-122"/>
                <a:cs typeface="Corbel" pitchFamily="34" charset="-120"/>
              </a:rPr>
              <a:t>Over to you</a:t>
            </a:r>
            <a:endParaRPr lang="en-US" sz="1150" dirty="0"/>
          </a:p>
        </p:txBody>
      </p:sp>
      <p:sp>
        <p:nvSpPr>
          <p:cNvPr id="3" name="Text 1"/>
          <p:cNvSpPr/>
          <p:nvPr/>
        </p:nvSpPr>
        <p:spPr>
          <a:xfrm>
            <a:off x="685800" y="1700784"/>
            <a:ext cx="6858000" cy="640080"/>
          </a:xfrm>
          <a:prstGeom prst="rect">
            <a:avLst/>
          </a:prstGeom>
          <a:noFill/>
          <a:ln/>
        </p:spPr>
        <p:txBody>
          <a:bodyPr wrap="square" rtlCol="0" anchor="t"/>
          <a:lstStyle/>
          <a:p>
            <a:pPr indent="0" marL="0">
              <a:buNone/>
            </a:pPr>
            <a:r>
              <a:rPr lang="en-US" sz="3000" dirty="0">
                <a:solidFill>
                  <a:srgbClr val="FFFFFF"/>
                </a:solidFill>
                <a:latin typeface="Constantia" pitchFamily="34" charset="0"/>
                <a:ea typeface="Constantia" pitchFamily="34" charset="-122"/>
                <a:cs typeface="Constantia" pitchFamily="34" charset="-120"/>
              </a:rPr>
              <a:t>Activity</a:t>
            </a:r>
            <a:endParaRPr lang="en-US" sz="3000" dirty="0"/>
          </a:p>
        </p:txBody>
      </p:sp>
      <p:sp>
        <p:nvSpPr>
          <p:cNvPr id="4" name="Text 2"/>
          <p:cNvSpPr/>
          <p:nvPr/>
        </p:nvSpPr>
        <p:spPr>
          <a:xfrm>
            <a:off x="685800" y="2487168"/>
            <a:ext cx="6949440" cy="1737360"/>
          </a:xfrm>
          <a:prstGeom prst="rect">
            <a:avLst/>
          </a:prstGeom>
          <a:noFill/>
          <a:ln/>
        </p:spPr>
        <p:txBody>
          <a:bodyPr wrap="square" rtlCol="0" anchor="t"/>
          <a:lstStyle/>
          <a:p>
            <a:pPr indent="0" marL="0">
              <a:lnSpc>
                <a:spcPct val="134000"/>
              </a:lnSpc>
              <a:buNone/>
            </a:pPr>
            <a:r>
              <a:rPr lang="en-US" sz="1450" dirty="0">
                <a:solidFill>
                  <a:srgbClr val="C4CCD4"/>
                </a:solidFill>
                <a:latin typeface="Corbel" pitchFamily="34" charset="0"/>
                <a:ea typeface="Corbel" pitchFamily="34" charset="-122"/>
                <a:cs typeface="Corbel" pitchFamily="34" charset="-120"/>
              </a:rPr>
              <a:t>Take one table from a draft of your own results. Check it against the reporting faults table in this unit, fix every instance, and add a confidence interval to every estimate that lacks one. Then write the accompanying paragraph without a single word of interpretation.</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onstant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orbe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Institute of Computational Biology and Bioinformatics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ICBB-RM201 — Unit 10: Reporting, Reproducibility and the Results Section</dc:title>
  <dc:subject>Quantitative Data Analysis</dc:subject>
  <dc:creator>Jesse Anak</dc:creator>
  <cp:lastModifiedBy>Jesse Anak</cp:lastModifiedBy>
  <cp:revision>1</cp:revision>
  <dcterms:created xsi:type="dcterms:W3CDTF">2026-08-19T19:26:59Z</dcterms:created>
  <dcterms:modified xsi:type="dcterms:W3CDTF">2026-08-19T19:26:59Z</dcterms:modified>
</cp:coreProperties>
</file>