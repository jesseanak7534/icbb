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Lst>
  <p:notesMasterIdLst>
    <p:notesMasterId r:id="rId19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notesMaster" Target="notesMasters/notesMaster1.xml"/><Relationship Id="rId194" Type="http://schemas.openxmlformats.org/officeDocument/2006/relationships/presProps" Target="presProps.xml"/><Relationship Id="rId195" Type="http://schemas.openxmlformats.org/officeDocument/2006/relationships/viewProps" Target="viewProps.xml"/><Relationship Id="rId196" Type="http://schemas.openxmlformats.org/officeDocument/2006/relationships/theme" Target="theme/theme1.xml"/><Relationship Id="rId19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From Questionnaire to Dataset
Duration: 120 minutes
Objectives:
- Build a codebook that documents every variable and its coding
- Name and type variables so the dataset survives being handed to someone else
- Choose between wide and long layout for your design
- Set up double entry or electronic capture to control transcription error
- Import a dataset into SPSS and R and confirm it arrived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Data entry decisions are analysis decisions. An hour spent on the codebook before entry saves days afterwards, and the days afterwards never fully restore confidence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Neither shape is correct in general — the analysis decides. Knowing how to convert takes the argument away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Cleaning and Preparing Data
Duration: 150 minutes
Objectives:
- Screen every variable for implausible and out-of-range values
- Detect and resolve duplicate records
- Recode, collapse and reverse-score variables correctly
- Compute derived variables such as BMI and scale totals
- Decide whether an outlier is an error or a real observation
- Keep cleaning reproducible by scripting it rather than editing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Every one of these passes a casual look at the spreadsheet. Six commands, run before any analysis, catch them all — and the last one would otherwise have silently corrupted every income statistic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 question is never "does this point help my result" but "is this value real". A sensitivity analysis lets you keep an honest observation and still show it is not driving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Missing Data
Duration: 120 minutes
Objectives:
- Quantify and display the pattern of missingness in a dataset
- Distinguish MCAR, MAR and MNAR and explain why the distinction matters
- State the cost of listwise and pairwise deletion
- Explain why mean substitution understates uncertainty
- Describe what multiple imputation does and when it is appropriate
- Report missing data handling so a reader can judge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Always report the analysis n for every model, and compare it with the recruited n. A gap that large should be explained, not left for a reviewer to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Leaving the outcome out feels cautious and is actively harmful. It is one of the most common imputation errors, and it always pushes results towards finding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4: Describing Data and Building Table 1
Duration: 120 minutes
Objectives:
- Choose an appropriate summary for each level of measurement
- Judge distribution shape and pick mean or median accordingly
- Compute and interpret standard deviation, IQR and confidence intervals
- Build a Table 1 of participant characteristics
- Decide when a p-value belongs in Table 1 and when it does not
- Produce the table in SPSS and in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 arithmetic is fine either way; the description is not. When mean and median disagree sharply, the median is almost always the honest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In a randomised trial, a baseline p-value answers a question nobody asked. In an observational study it can flag imbalance, but the decision to adjust still belongs to the conceptual framework, not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5: Visualising Data
Duration: 120 minutes
Objectives:
- Match a chart type to the variables being shown
- Read a histogram, boxplot and scatterplot for shape, spread and outliers
- Explain why bar charts of means conceal distribution
- Build publication-quality figures in R and SPSS
- Apply the conventions that make a figure readable in print and to colour-blind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 bar chart shows two numbers and hides everything else. Plotting the points costs nothing and sometimes hands you the actual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Truncating a bar axis is the most common way an honest researcher produces a misleading figure. If the effect only looks impressive on a cropped axis, it is not impressive.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6: The Logic of Inference
Duration: 150 minutes
Objectives:
- Explain sampling variation and the sampling distribution
- Interpret a confidence interval correctly, and reject the common misreadings
- State precisely what a p-value measures
- Distinguish statistical significance from practical importance
- Calculate and interpret common effect sizes
- Explain Type I and Type II error, power, and the cost of multiple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Absence of significance is not evidence of absence. The confidence interval is what separates "we showed there is no meaningful effect" from "we could not tell", and it is why intervals belong in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Testing many things and reporting the winner inverts the meaning of the p-value. Pre-specifying the primary outcome is the cheapest defence, and it has to happen before the analysis,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7: Comparing Groups
Duration: 180 minutes
Objectives:
- Select a test from the design, the outcome type and the number of groups
- Check the assumptions each test relies on
- Distinguish paired from independent comparisons
- Run and interpret t-tests, ANOVA with post-hoc tests, and chi-square
- Choose a non-parametric alternative when assumptions fail
- Report a comparison completely: estimate, interval, test statistic and effect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Test choice is a short decision tree, not memorisation. Getting the paired versus independent question wrong is the most common error, and it changes both the test and the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Independence is the one assumption no test survives losing, and no transformation repairs. Whenever observations are grouped — schools, clinics, villages, repeated visits — the clustering must be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8: Correlation and Linear Regression
Duration: 180 minutes
Objectives:
- Distinguish correlation from regression and know when each is appropriate
- Interpret a slope, an intercept and R-squared in the units of the problem
- Include categorical predictors correctly using dummy coding
- Extend to multiple regression and interpret adjusted coefficients
- Check the assumptions using residual plots
- Report a regression model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 coefficient is a sentence in the units of the problem, not a p-value. If you cannot say it out loud in those units, you cannot yet interpret your own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Numeric coding of an unordered or unequally spaced categorical variable imposes a straight line nobody checked. Use factors, and let the data show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9: Logistic Regression and Confounding
Duration: 180 minutes
Objectives:
- Explain why linear regression is unsuitable for a binary outcome
- Interpret odds ratios and their confidence intervals correctly
- Distinguish odds ratio from risk ratio and know when they diverge
- Fit and interpret multivariable logistic regression
- Distinguish confounders, mediators and colliders, and adjust accordingly
- Assess model fit and predictive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Logistic regression naturally produces odds ratios, and they are routinely described as risks. For common outcomes that is a real and large overstatement, and it appears in print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Adjusting for everything available is not the cautious choice. Which variables to adjust for is a causal question answered from subject knowledge, not a statistical one answered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10: Reporting, Reproducibility and the Results Section
Duration: 150 minutes
Objectives:
- Write a results section that matches the pre-specified analysis plan
- Report estimates, intervals and p-values to the right precision
- Lay out tables and figures to journal standards
- Apply the relevant reporting checklist
- Build a reproducible analysis with a script and a clear folder structure
- Produce a dynamic report with R Markdown or Quarto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 results section reports what was found, in numbers, with uncertainty. Every clause of interpretation that creeps in is a clause a reviewer will ask you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Copying numbers by hand and later changing the analysis is the most common source of error in a results section. Generating the document from the data makes the failure impossible rather than unlikely.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a:t>
            </a:r>
            <a:endParaRPr lang="en-US" sz="1150" dirty="0"/>
          </a:p>
        </p:txBody>
      </p:sp>
      <p:sp>
        <p:nvSpPr>
          <p:cNvPr id="3" name="Text 1"/>
          <p:cNvSpPr/>
          <p:nvPr/>
        </p:nvSpPr>
        <p:spPr>
          <a:xfrm>
            <a:off x="685800" y="1700784"/>
            <a:ext cx="6949440" cy="1463040"/>
          </a:xfrm>
          <a:prstGeom prst="rect">
            <a:avLst/>
          </a:prstGeom>
          <a:noFill/>
          <a:ln/>
        </p:spPr>
        <p:txBody>
          <a:bodyPr wrap="square" rtlCol="0" anchor="t"/>
          <a:lstStyle/>
          <a:p>
            <a:pPr indent="0" marL="0">
              <a:lnSpc>
                <a:spcPct val="102000"/>
              </a:lnSpc>
              <a:buNone/>
            </a:pPr>
            <a:r>
              <a:rPr lang="en-US" sz="3100" dirty="0">
                <a:solidFill>
                  <a:srgbClr val="FFFFFF"/>
                </a:solidFill>
                <a:latin typeface="Constantia" pitchFamily="34" charset="0"/>
                <a:ea typeface="Constantia" pitchFamily="34" charset="-122"/>
                <a:cs typeface="Constantia" pitchFamily="34" charset="-120"/>
              </a:rPr>
              <a:t>Quantitative Data Analysis</a:t>
            </a:r>
            <a:endParaRPr lang="en-US" sz="3100" dirty="0"/>
          </a:p>
        </p:txBody>
      </p:sp>
      <p:sp>
        <p:nvSpPr>
          <p:cNvPr id="4" name="Text 2"/>
          <p:cNvSpPr/>
          <p:nvPr/>
        </p:nvSpPr>
        <p:spPr>
          <a:xfrm>
            <a:off x="685800" y="3200400"/>
            <a:ext cx="6766560" cy="365760"/>
          </a:xfrm>
          <a:prstGeom prst="rect">
            <a:avLst/>
          </a:prstGeom>
          <a:noFill/>
          <a:ln/>
        </p:spPr>
        <p:txBody>
          <a:bodyPr wrap="square" rtlCol="0" anchor="ctr"/>
          <a:lstStyle/>
          <a:p>
            <a:pPr indent="0" marL="0">
              <a:buNone/>
            </a:pPr>
            <a:r>
              <a:rPr lang="en-US" sz="1300" dirty="0">
                <a:solidFill>
                  <a:srgbClr val="B9C2CB"/>
                </a:solidFill>
                <a:latin typeface="Corbel" pitchFamily="34" charset="0"/>
                <a:ea typeface="Corbel" pitchFamily="34" charset="-122"/>
                <a:cs typeface="Corbel" pitchFamily="34" charset="-120"/>
              </a:rPr>
              <a:t>10 units · 25 contact hours · Intermediate</a:t>
            </a:r>
            <a:endParaRPr lang="en-US" sz="130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1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From Questionnaire to Dataset</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Turning completed forms into a rectangular dataset a computer can read: the codebook, variable naming, data entry, and the decisions that are expensive to reverse later.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Build a codebook that documents every variable and its coding</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Name and type variables so the dataset survives being handed to someone else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Choose between wide and long layout for your design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Set up double entry or electronic capture to control transcription error</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Import a dataset into SPSS and R and confirm it arrived intact</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codebook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One row per variable: name, label, type, coding, permitted range, and the question it came from</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Write it before data entry begins, not afterwards — it is the specification, not the documentation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Record the exact wording of the question, because "income" means nothing six months later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Note the unit of measurement: kilograms or pounds, cedis or dollars, days or weeks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codebook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Every recode you invent later gets added to the codebook, so the file always describes the data you actually have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The codebook is what lets someone else — a supervisor, a co-author, a reviewer, or you in a year — understand the dataset without asking you. A study without one is a study only its author can analyse.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Structuring the dataset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One row per unit of analysis, one column per variable, one value per cell</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unit of analysis is usually the participant, but may be the visit, the household or the sample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Wide format: one row per participant, repeated measures in separate columns (bp_baseline, bp_6months)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Long format: one row per participant per occasion, with a time variable — required by most mixed-model and repeated-measures procedures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Structuring the dataset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Never store two pieces of information in one column ("35M" for age and sex)</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Never use colour or bold to encode meaning; a computer cannot read formatting</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Naming and typing variables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Short, lowercase, no spaces, no accents: age_years, sex, bp_systolic</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Do not start a name with a digit, and avoid names that are reserved words in R or SPSS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Prefix grouped items consistently: phq_1 to phq_9, so they can be selected as a block</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Types: numeric for measurements, integer for counts, factor or categorical for groups, date for dates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Coding categories as numbers with value labels is standard in SPSS; in R prefer factors with meaningful levels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Naming and typing variables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Reserve a consistent code for missing — and never use 0, 9 or 99 if those are plausible real values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 codebook extract</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Variable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Label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Type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Coding / range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id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Participant ID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integer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1-600, unique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sex</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Sex</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categorical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 = male, 2 = female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age_years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Age at interview</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numeric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18-95</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edu</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Highest education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ordinal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 = none, 2 = primary, 3 = JHS, 4 = SHS, 5 = tertiary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bp_systolic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Systolic BP (mmHg)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numeric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70-260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nhis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Has NHIS cover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binary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 = no, 1 = yes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Missing value code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-99 across all variables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Getting the data in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Electronic capture (KoBoToolbox, REDCap, ODK) enforces ranges and skip logic at the point of entry and removes transcription entirely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 paper, use double entry: two people enter independently, then compare and reconcile differences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Single entry with a 10% verification sample is the minimum defensible alternative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Enter data exactly as recorded; correct implausible values as a documented cleaning step, not silently during entry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Getting the data in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Keep the raw file untouched and read-only — all cleaning happens in a script or a documented copy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Back up before you start: three copies, two media, one off-site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it into your software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CSV is the safest interchange format; Excel silently reformats dates and long ID numbers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R: dat &lt;- read.csv("survey.csv", na.strings = "-99")</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SPSS: File &gt; Import Data &gt; CSV, then set measurement level and missing values in Variable View</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Immediately check dimensions, variable names and types against the codebook</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str(dat) in R, or Variable View in SPSS, will show a numeric variable that arrived as text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it into your software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variable that should be numeric but imported as character almost always means a stray value — "N/A", a comment, or a thousands separator</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spreadsheet that cannot be analysed</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arrives with 340 completed questionnaires typed into Excel. Ages are recorded as "35 yrs", "about 40" and "1987". Sex is coded M, F, m, f and Male. Missing answers are blank in some columns and "N/A" in others.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Nothing can be computed yet: age is text, so R will not take a mean and SPSS will treat it as nominal.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"1987" is a birth year, not an age — two different variables were entered into one column.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Five spellings of two categories means table(sex) returns five groups instead of two.</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Blank and "N/A" both mean missing, but only blank will be recognised on import.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fix is not cleverer code, it is a codebook and re-entry: age_years numeric, sex coded 1/2, one missing code throughout.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Re-entering 340 records takes two days. Untangling this by script takes longer and leaves doubt about every value.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Wide or long: the same data, two shapes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Blood pressure measured at baseline, 3 and 6 months for 120 patients. The student wants a repeated-measures analysis and the procedure refuses to run.</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data are wide: one row per patient with bp_0, bp_3, bp_6 as three columns.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Wide is convenient for computing change scores: dat$change &lt;- dat$bp_6 - dat$bp_0.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Mixed models and most repeated-measures procedures need long: one row per patient per occasion.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 R: long &lt;- reshape(dat, direction = "long", varying = c("bp_0","bp_3","bp_6"), v.names = "bp", timevar = "month")</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Or with tidyr: pivot_longer(dat, cols = starts_with("bp_"), names_to = "month", values_to = "bp")</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Keep both. They are the same data, and converting between them is two lines.</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Codebook — A document defining every variable, its type, coding and permitted values.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Unit of analysis — The entity each row of the dataset represents — participant, visit, household.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Wide format — One row per participant, with repeated measures held in separate columns.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Long format — One row per participant per occasion, with an explicit time variable.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Double entry — Entering paper data twice independently and reconciling differences to catch transcription error.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Missing value code — A reserved value marking absent data, chosen so it cannot be confused with a real observation.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Take one page of your own questionnaire and write the codebook rows for every variable on it: name, label, type, coding and permitted range. Swap with a partner and try to enter three fictional respondents using only their codebook. Every question you have to ask them is a gap in it.</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2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Cleaning and Preparing Data</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Finding what is wrong with a real dataset — impossible values, duplicates, inconsistent categories — and building the derived variables the analysis actually needs, all as a script you can rerun.</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Screen every variable for implausible and out-of-range values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Detect and resolve duplicate records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Recode, collapse and reverse-score variables correctly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Compute derived variables such as BMI and scale totals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Decide whether an outlier is an error or a real observation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Keep cleaning reproducible by scripting it rather than editing cells</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First look at a new dataset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Check dimensions against expectation: does the row count match the number of questionnaires?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Run a frequency table for every categorical variable and a min/max for every continuous one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R: summary(dat) then table(dat$sex, useNA = "ifany") for each factor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SPSS: Analyze &gt; Descriptive Statistics &gt; Frequencies, ticking Minimum and Maximum</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Look for categories that should not exist — a sex coded 3, an education level of 7</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First look at a new dataset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Look for values at the boundaries: an age of 0, a blood pressure of 999</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Impossible, implausible and duplicate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Impossible: outside the physically possible range — a diastolic BP of 400, a date of birth in the future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Implausible: possible but unlikely enough to warrant checking — a 3-year-old with three children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Cross-variable checks catch what single-variable checks miss: pregnant men, ages inconsistent with dates of birth</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Duplicates may be exact (entered twice) or partial (same participant, two IDs)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Impossible, implausible and duplicate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Check for duplicates on the identifier and on a combination of key fields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Resolve against the paper form where possible; where not, document the decision</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Return to the source before you "correct" anything. A value that looks impossible is sometimes a real and interesting observation, and sometimes a data entry slip — and only the original form tells you which.</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Recoding and deriving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Collapse categories only with a reason, and state it: small cell counts, or a clinically meaningful threshold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Reverse-score negatively worded items before summing a scale, or the total is meaningless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For a 1-5 item, the reversed value is 6 minus the original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Compute scale totals only when the required number of items is present, and say how you handled partial scales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Recoding and deriving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Derived variables get their own names and codebook entries — never overwrite the source variable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BMI in R: dat$bmi &lt;- dat$weight_kg / (dat$height_m)^2</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Banding continuous variables loses information; do it for presentation, not for the primary analysis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Outliers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An outlier is an observation far from the others; it is not automatically an error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Detect with boxplots, standardised scores beyond about ±3, or simply sorting the variable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Ask first whether it is plausible: a systolic BP of 210 is high but real; 2100 is a typing slip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If it is an error and the true value is recoverable, correct it and document 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If it is a genuine extreme value, keep it — and report a sensitivity analysis with and without it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Outliers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Deleting inconvenient observations because they weaken a result is data manipulation, not cleaning</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Doing it reproducibly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Every change goes in a script: R, SPSS syntax, or Stata do-file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Point-and-click cleaning cannot be checked, cannot be rerun, and cannot be corrected when you find a mistake at step three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Structure the script: read raw, clean, derive, save analysis dataset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Never overwrite the raw file; write a separate cleaned file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Keep a running count so you can report how many records were excluded and why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Doing it reproducibly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Rerunning the whole script from raw data should reproduce the analysis dataset exactly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Six checks that catch most entry errors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district survey of 600 households arrives as a clean-looking CSV. Before analysing anything, it needs screening.</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Dimensions: nrow(dat) should be 600. It is 603 — three extra rows.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Duplicates: sum(duplicated(dat$id)) returns 3. The same households were entered twice.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Ranges: summary(dat$age_years) shows a maximum of 199. A typing slip for 19 or 99.</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Categories: table(dat$edu) shows a level 7 that the codebook does not define.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Cross-variable: sum(dat$sex == 1 &amp; dat$pregnant == 1) returns 2 pregnant men.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Missing codes: min(dat$income) is -99, so the missing code was imported as a real value and every mean is wrong.</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outlier that was real</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In a study of hypertension, one participant has a systolic pressure of 218 mmHg. It sits far above the rest and weakens the association the student expected. They ask whether to remove it.</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First: is it possible? 218 mmHg is high but entirely attainable, and this is a hypertension study.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Second: check the source. The paper form says 218, recorded twice, with a note that the patient was referred.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it is not an error. It is precisely the kind of participant the study exists to capture.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Removing it because it weakens the finding would be data manipulation, not cleaning.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Keep it, and run the analysis with and without it as a sensitivity check.</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 both: "excluding the participant with SBP 218, the association was 4.1 mmHg (95% CI 0.8 to 7.4) rather than 5.2".</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Range check — Verifying every value of a variable falls within its permitted minimum and maximum.</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Cross-variable check — Testing that combinations of values are logically consistent with each other.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Reverse scoring — Inverting negatively worded items so that all items on a scale point the same way.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Derived variable — A new variable computed from existing ones, such as BMI or a scale total.</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Outlier — An observation distant from the rest of the distribution; an error or a genuine extreme.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Sensitivity analysis — Repeating an analysis under a different assumption to see whether the conclusion holds.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You are given a dataset of 600 records. Write down the checks you would run before analysing anything — list them variable by variable, including at least three cross-variable checks. Then write the R or SPSS syntax for two of them.</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3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Missing Data</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Why data are missing determines what you may do about it. Deletion, single imputation and multiple imputation, and what each assumes.</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Quantify and display the pattern of missingness in a dataset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MCAR, MAR and MNAR and explain why the distinction matters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the cost of listwise and pairwise deletion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why mean substitution understates uncertainty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Describe what multiple imputation does and when it is appropriate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Report missing data handling so a reader can judge it</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Look before you decide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the amount missing per variable, not just overall</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Look at the pattern: is missingness concentrated in a few participants, or spread thinly?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variable missing for 40% of participants is a different problem from 40 variables each missing 1%</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 R: colMeans(is.na(dat)) gives the proportion missing per variable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Compare respondents and non-respondents on the variables you do have — this is the evidence for whether missingness is random</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Look before you decide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Item non-response (a skipped question) and unit non-response (a participant who never took part) are different problems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Three mechanisms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MCAR — Missing Completely At Random: missingness unrelated to anything, observed or not. A dropped test tube.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MAR — Missing At Random: missingness explained by variables you observed. Older participants skip the income question more often, and you recorded age.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MNAR — Missing Not At Random: missingness depends on the unobserved value itself. The highest earners decline to state income.</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Three mechanisms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MCAR is testable in part; MAR is an assumption; MNAR cannot be verified from the data at hand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Most real missingness is MAR at best, which is precisely the case imputation is built for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MNAR requires sensitivity analysis under different assumptions rather than a single fix</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each mechanism permits</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Mechanism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Example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Deletion gives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Preferred handling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MCAR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Sample lost in transit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Unbiased, less precise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Complete cases acceptable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Older people skip income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Biased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Multiple imputation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MNAR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High earners refuse income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Biased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Sensitivity analysis; model the mechanism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Deletion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Listwise (complete case) deletion drops any participant missing any analysis variable — the default in most software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With 10 variables each 5% missing, complete cases can lose 40% of the sample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 is unbiased only under MCAR; under MAR it biases estimates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Pairwise deletion uses all available data for each computation, so different coefficients rest on different subsamples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Deletion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Pairwise can produce a correlation matrix that is mathematically impossible, which breaks regression and factor analysis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Deletion is defensible when missingness is genuinely tiny — say under 5% and plausibly MCAR — and you say so</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Report how many participants each analysis actually used. A table saying n = 600 in the methods and a regression silently fitted on 380 is one of the easiest things for a reviewer to catch.</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Imputation (1/3)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Mean substitution fills gaps with the variable mean; it preserves the mean, shrinks the variance, and biases standard errors downwards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Because it pretends imputed values are as certain as observed ones, it manufactures significance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Regression imputation predicts the missing value from other variables — better, but still too certain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Imputation (2/3)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Multiple imputation creates several completed datasets, analyses each, and pools the results, so the uncertainty of imputation is carried into the standard errors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Rubin's rules do the pooling; 5-20 imputations is typical, more if missingness is heavy</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 R: mice(dat, m = 20) then pool(with(imp, lm(y ~ x)))</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Include the outcome and any variable predictive of missingness in the imputation model, or you bias towards the null</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Imputation (3/3)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Last observation carried forward is not recommended for longitudinal data — it assumes no change, which is rarely true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amount missing per variable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assumed mechanism and the evidence for 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method used and the number of imputations if applicable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analysis sample size for every model reported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Where missingness is substantial, present a complete-case analysis alongside as a sensitivity check</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reader should be able to judge whether your conclusion could plausibly be an artefact of the missing data</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How 5% missing becomes 40% lost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regression uses 10 variables, each with about 5% missing values, roughly independently. The dataset has 600 participants. The output says n = 358.</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SPSS and R both delete any case missing any variable in the model — listwise deletion, silently.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chance a participant is complete on all ten is 0.95^10, about 0.60.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600 × 0.60 is 360, which matches the 358 reported.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40% of the sample was discarded without a warning appearing anywhere.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Worse, if missingness relates to age or income, the remaining 358 are not a random subset — the estimates are biased, not just imprecise.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Multiple imputation with mice(dat, m = 20) uses all 600 and carries the imputation uncertainty into the standard errors.</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the outcome goes into the imputation model</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imputes missing income values but deliberately leaves the outcome — depression score — out of the imputation model, reasoning that including it would be circular.</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instinct is understandable but the statistics say the opposite.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Imputation is not prediction of the truth; it is generating values with the right joint distribution.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Omitting the outcome imputes incomes that carry no relationship to depression.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Those imputed cases then dilute the real association, biasing the estimate towards the null.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Include the outcome, and any variable that predicts missingness, in the imputation model.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Include more variables in the imputation model than in the analysis model — that is the recommended practice, not a mistake.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MCAR — Missing Completely At Random — missingness unrelated to observed or unobserved values.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MAR — Missing At Random — missingness explained by observed variables.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MNAR — Missing Not At Random — missingness depends on the unobserved value itself.</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Listwise deletion — Excluding any case with a missing value on any variable in the analysis.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Multiple imputation — Creating several plausible completed datasets and pooling the results, so imputation uncertainty is reflected in the standard errors.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Rubin's rules — The formulae for combining estimates and standard errors across multiply imputed datasets.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For your own dataset, tabulate the percentage missing for every variable. Pick the worst one and argue, from what you know about how the data were collected, whether it is plausibly MCAR, MAR or MNAR — and say what that implies for how you should handle it.</a:t>
            </a:r>
            <a:endParaRPr lang="en-US" sz="14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4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Describing Data and Building Table 1</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Summarising variables honestly: which measure of centre and spread fits which distribution, and how to assemble the participant characteristics table that opens almost every quantitative paper.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Choose an appropriate summary for each level of measurement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Judge distribution shape and pick mean or median accordingly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Compute and interpret standard deviation, IQR and confidence intervals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Build a Table 1 of participant characteristics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Decide when a p-value belongs in Table 1 and when it does not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Produce the table in SPSS and in R</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Matching the summary to the variable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Nominal: counts and percentages only — a mean blood group is meaningless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Ordinal: median and interquartile range; means of Likert items are common but contested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Continuous and roughly symmetric: mean and standard deviation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Continuous and skewed: median and interquartile range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Always report the denominator alongside a percentage — 60% of 5 is not 60% of 500</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Matching the summary to the variable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percentages to at most one decimal place; more implies precision you do not have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Judging the distribution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Look at a histogram before choosing a summary; do not rely on a test alone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Right skew is common for income, length of stay, biomarker concentrations and cost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mean far from the median signals skew</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Formal normality tests (Shapiro-Wilk) are oversensitive in large samples and underpowered in small ones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R: hist(dat$x) and boxplot(dat$x); in SPSS, Analyze &gt; Descriptive Statistics &gt; Explore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Judging the distribution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question is not "is it exactly normal" but "is a mean a fair description of this distribution"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Reporting a mean and standard deviation for a badly skewed variable is not wrong arithmetic — it is a misleading description. A mean income of GHS 4,200 with an SD of GHS 9,000 tells the reader almost nothing useful.</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Spread and uncertainty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Standard deviation describes the spread of the observations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Standard error describes the precision of the estimate, and shrinks as the sample grows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confidence interval is the interval estimate that goes with a point estimate: mean ± 1.96 × SE for a large sample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Reporting SE instead of SD to make a figure look tidier misrepresents variability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Interquartile range is the 25th to 75th percentile, and is robust to outliers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Spread and uncertainty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Say which you are reporting: "mean (SD)" and "median (IQR)" are not interchangeable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a summary</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Variable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Shape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Report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Example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Age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Roughly symmetric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Mean (SD)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42.3 (11.8)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Right skewed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Median (IQR)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GHS 1,800 (900-3,400)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Sex</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Nominal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 (%)</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312 (52.0%) female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Education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Ordinal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 (%) by level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104 (17.3%) tertiary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Length of stay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Right skewed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Median (IQR)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4 (2-9) days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Table 1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One row per characteristic, columns for the whole sample and for each comparison group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Give the denominator for every column, and note where it differs because of missing data</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Order rows sensibly: demographics, then clinical, then exposure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Include the unit of measurement in the row label, not in every cell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R: the tableone or gtsummary package builds this directly from the data frame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Table 1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SPSS: Analyze &gt; Descriptive Statistics &gt; Explore, split by group, then assemble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Should Table 1 contain p-values?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 a randomised trial, no: any baseline difference is by definition due to chance, so testing it answers a question nobody asked</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CONSORT explicitly discourages significance testing of baseline characteristics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 an observational study, a p-value can flag imbalance worth adjusting for, but the decision to adjust should be driven by subject knowledge, not by p &lt; 0.05</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Standardised differences are a better measure of imbalance and do not depend on sample size</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Should Table 1 contain p-values?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Whatever you report, describe the comparison in the table footnote</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Mean or median: an income variable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Monthly household income in a sample of 600: mean GHS 4,200, median GHS 1,800, standard deviation GHS 9,100, maximum GHS 180,000.</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mean is more than twice the median, which signals strong right skew.</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standard deviation exceeds the mean, so mean ± SD runs negative — impossible for income.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histogram confirms it: most households below GHS 3,000, a long tail of a few very high earners.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Reporting "mean GHS 4,200 (SD 9,100)" describes almost nobody in the sample.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 median GHS 1,800 (IQR 900 to 3,400), which describes the typical household.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a mean is needed for a total or a cost calculation, report it separately and say why.</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p-value column that should not be there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randomised trial submits Table 1 with a p-value column comparing baseline characteristics between arms. One row shows p = 0.04 for age, and the student wants to adjust for it.</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Randomisation guarantees that any baseline difference arose by chance.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the p-value tests a hypothesis known to be true, and 1 in 20 rows will be "significant" by construction.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CONSORT explicitly discourages significance testing of baseline characteristics.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real question is not whether the difference is significant but whether it is large enough to matter.</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standardised difference answers that and does not depend on sample size.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Adjusting for a prognostic variable is fine — but decide that in advance from subject knowledge, not from a baseline p-value.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Standard deviation — The typical distance of observations from their mean; describes spread in the data.</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Standard error — The standard deviation of an estimate; describes precision, and shrinks as n grows.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Interquartile range — The 25th to 75th percentile — a spread measure robust to outliers.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Skew — Asymmetry in a distribution, pulling the mean away from the median.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Table 1 — The participant characteristics table summarising the sample, overall and by group.</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Standardised difference — A measure of group imbalance independent of sample size, used instead of a p-value.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Build Table 1 for your own dataset, or a supplied one: overall column plus one column per group. For every row, justify in one line why you chose mean or median. Then decide whether a p-value column belongs, and defend it.</a:t>
            </a:r>
            <a:endParaRPr lang="en-US" sz="14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5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Visualising Data</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Choosing a chart that shows what the data actually do, and avoiding the plots that hide the very thing a reader needs to see.</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Match a chart type to the variables being shown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Read a histogram, boxplot and scatterplot for shape, spread and outliers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Explain why bar charts of means conceal distribution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Build publication-quality figures in R and SPSS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Apply the conventions that make a figure readable in print and to colour-blind readers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Which chart for which variables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One continuous variable: histogram or density plot for shape; boxplot for summary and outliers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One categorical variable: bar chart of counts — never a pie chart with more than three slices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Continuous by categorical: boxplot, violin plot, or a dot plot showing every observation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Two continuous: scatterplot, with a fitted line only if you are claiming a relationship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Change over time: line plot with time on the horizontal axis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Which chart for which variables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Two categorical: grouped or stacked bar chart, or a mosaic plot</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bar chart of means problem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bar with an error bar shows two numbers and hides the entire distribution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Radically different datasets — bimodal, skewed, or containing outliers — produce identical bars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also implies the bar length is meaningful from zero, which is false for many measurements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For group comparisons prefer a boxplot, or a dot plot with every point drawn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With small n, plot every observation; there is no reason to summarise 12 points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bar chart of means problem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If you must use bars, state whether the error bar is SD, SE or a confidence interval — they differ by a factor of several</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Journals in several fields now refuse bar charts of continuous data for exactly this reason. Showing the points costs nothing and lets a reader see what you saw.</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Making figures honest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Start a bar chart axis at zero; truncating it exaggerates differences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For line and scatter plots a non-zero axis is acceptable, but say so if the range is narrow</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Label both axes with the variable and its unit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Do not use a second vertical axis to imply a relationship between two series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Avoid three-dimensional effects entirely — they distort area and length</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Making figures honest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Aspect ratio changes the apparent steepness of a slope; keep it consistent when comparing panels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Colour and accessibility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Roughly 1 in 12 men has some form of colour vision deficiency, most commonly red-green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Never use red and green as the only distinction between two series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Use the viridis palette, or vary shape and line type as well as colour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Check a figure by converting it to greyscale — if it still reads, it will survive printing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Keep the palette consistent across every figure in a paper or deck</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Colour and accessibility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Use colour to encode data, not for decoration</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Chart choice at a glance</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You have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Show shape with</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Compare groups with</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One continuous variable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Histogram, density plot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Boxplot by group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One categorical variable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Bar chart of counts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Grouped bar chart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Two continuous variables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Scatterplot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Scatterplot coloured by group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 over time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Line plot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One line per group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Small samples (n &lt; 20)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Plot every point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Dot plot with median line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Doing it in software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base: hist(dat$bp), boxplot(bp ~ group, data = dat), plot(x, 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ggplot2 gives publication quality: ggplot(dat, aes(group, bp)) + geom_boxplot() + geom_jitter(width = 0.15)</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geom_jitter over a boxplot shows both the summary and the raw observations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SPSS: Graphs &gt; Chart Builder, then double-click the chart to edit elements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Export at 300 dpi or higher, or as a vector format (PDF, EPS, SVG), never a screenshot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Doing it in software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Set the figure size at export rather than resizing afterwards, or the text will not scale with it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Four datasets, one bar chart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Three groups are compared on a continuous outcome. The bar chart of means with error bars looks clean and shows a clear difference. The reviewer asks to see the data.</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Group A is tightly clustered around its mean.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Group B is bimodal — two subgroups, and almost nobody near the mean itself.</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Group C is skewed with three extreme values pulling the mean up.</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All three produce a nearly identical bar and error bar.</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Replacing it with ggplot(dat, aes(group, y)) + geom_boxplot() + geom_jitter(width = 0.15) shows all of this at once.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bimodality in group B turns out to be sex, which was the real finding.</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axis that exaggerated a difference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slide shows attendance rising from 78% to 82% after an intervention. The bars make it look like a doubling.</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vertical axis starts at 76, so the visible bar heights are 2 and 6 — a threefold difference.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Bar length encodes magnitude from zero, so the eye reads the ratio of the drawn heights.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Redrawn from zero, the bars are nearly the same height, which is the honest picture.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the difference genuinely matters at that scale, a line or dot plot with a restricted axis is acceptable — position, not length, carries the meaning there.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Either way, show the confidence intervals: 78% (95% CI 74 to 82) and 82% (95% CI 78 to 86) overlap substantially.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4-point difference may be real, but the chart was claiming far more than the data support.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Histogram — A chart of the distribution of one continuous variable, using binned counts.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Boxplot — A summary showing median, quartiles and outliers, useful for comparing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Jitter — Small random horizontal displacement so overlapping points become visible.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Truncated axis — An axis not starting at zero, which exaggerates apparent differences in a bar chart.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Viridis — A perceptually uniform colour palette that remains readable in greyscale and to colour-blind viewers.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Vector format — A figure stored as shapes rather than pixels, so it stays sharp at any size.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Take one finding from your own data and draw it three different ways — for example a bar of means, a boxplot, and a dot plot of every observation. Decide which one a sceptical reader would trust most, and say why the other two are less honest.</a:t>
            </a:r>
            <a:endParaRPr lang="en-US" sz="14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6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The Logic of Inference</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What a p-value is and is not, what a confidence interval actually tells you, and why an effect size belongs in every result you report.</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sampling variation and the sampling distribution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Interpret a confidence interval correctly, and reject the common misreadings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precisely what a p-value measures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statistical significance from practical importance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Calculate and interpret common effect sizes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Type I and Type II error, power, and the cost of multiple testing</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samples vary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Any sample is one of many that could have been drawn; each gives a slightly different estimate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The sampling distribution is the distribution of an estimate across all possible samples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Its standard deviation is the standard error of the estimate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The central limit theorem says that for a large enough sample the sampling distribution of the mean is approximately normal, whatever the shape of the underlying data</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samples vary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This is why means can be handled with normal-theory methods even when the raw data are skewed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says nothing about the data being normal — a persistent confusion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Confidence intervals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95% confidence interval is constructed so that, over repeated sampling, 95% of such intervals contain the true value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 is not "a 95% probability the true value lies in this interval" — the true value is fixed, the interval is what varies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Its width reflects precision: wide means the study could not pin the effect down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CI that includes the null value corresponds to p &gt; 0.05, but carries far more information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Confidence intervals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intervals for every effect estimate, not just p-values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non-significant result with a narrow interval around zero is evidence of no meaningful effect; with a wide interval it is simply uninformative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"No significant difference" and "no difference" are not the same claim. The confidence interval is what tells them apart, which is the single strongest argument for always reporting it.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a p-value is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probability of observing data at least as extreme as yours, if the null hypothesis were true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is not the probability the null hypothesis is true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is not the probability your finding is a fluke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is not a measure of effect size — a tiny, unimportant difference gives a small p in a large enough sample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0.05 is a convention, not a law of nature, and nothing decisive happens between 0.049 and 0.051</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a p-value is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exact values (p = 0.03), not thresholds (p &lt; 0.05), and never "p = 0.000" — write p &lt; 0.001</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Effect size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effect size answers "how big", which is what a reader actually wants to know</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Cohen's d for a difference between two means: roughly 0.2 small, 0.5 medium, 0.8 large — as rough guides only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Correlation r, or r-squared, for the strength of association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Odds ratio, risk ratio and risk difference for binary outcomes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Eta-squared or partial eta-squared for ANOVA</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Effect size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Always interpret the effect in the units of the problem: "8 mmHg lower" means more to a clinician than "d = 0.42"</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Statistical significance with a trivial effect size is a large-sample artefact, not a finding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each number tells you</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Quantity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Answers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Depends on sample size?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p-value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Is this compatible with no effect?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 strongly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Effect size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How big is the effect?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Confidence interval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How precisely do we know 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 width shrinks with 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Power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Could this study have detected 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Errors, power and multiplicity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Type I error: concluding there is an effect when there is none. Its rate is the significance level, conventionally 5%</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Type II error: missing a real effect. Its rate is beta; power is 1 minus beta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80% power is conventional, meaning a 1 in 5 chance of missing a real effect of the size you specified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 underpowered study that finds nothing has not shown absence of an effect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Testing 20 hypotheses at 5% gives roughly a 64% chance of at least one false positive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Errors, power and multiplicity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Adjust for multiplicity (Bonferroni is simple and conservative; Benjamini-Hochberg controls false discovery rate), or pre-specify one primary outcome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Pre-specifying the primary analysis is the cleanest defence against fishing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Two non-significant results that mean opposite things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Two trials of the same drug both report "no significant difference" (p = 0.31 and p = 0.28). A reviewer treats them as equivalent evidence that the drug does not work.</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A: difference 0.4 mmHg, 95% CI -0.8 to 1.6. Narrow, centred near zero.</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B: difference 6.0 mmHg, 95% CI -5.5 to 17.5. Wide, spanning clinically important effects in both directions.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A has effectively excluded a meaningful effect — its interval contains nothing that would change practice.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B is simply uninformative; it is compatible with the drug being useless or highly effective.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p-values are almost identical and tell you none of this.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Reporting only "p &gt; 0.05" would make the two studies indistinguishable in a review.</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Twenty tests, one press release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study measures 20 outcomes, finds one significant at p = 0.04, and the abstract reports it as the main finding.</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With 20 independent tests at the 5% level, the chance of at least one false positive is 1 - 0.95^20, about 64%.</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finding one significant result among twenty is the expected outcome under no effect at all.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Bonferroni-adjusted threshold would be 0.05/20 = 0.0025; p = 0.04 does not come close.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Benjamini-Hochberg is less conservative and controls the false discovery rate instead.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cleaner protection is to pre-specify one primary outcome in the protocol, before seeing data.</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finding is not worthless — it is hypothesis-generating, and should be reported as exploratory.</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Sampling distribution — The distribution of an estimate across all possible samples of a given size.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Standard error — The standard deviation of the sampling distribution; the precision of an estimate.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Confidence interval — A range constructed so that a stated proportion of such intervals contain the true value over repeated sampling.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p-value — The probability of data at least as extreme as observed, assuming the null hypothesis is true.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Effect size — A measure of the magnitude of an effect, independent of sample size.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Power — The probability of detecting an effect of a specified size when it genuinely exists.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Multiplicity — The inflation of false positive risk that comes from testing many hypotheses.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Find a paper in your field that reports "no significant difference". Locate the confidence interval. Decide whether the study showed there was no meaningful effect, or simply could not tell — and write one sentence explaining how the interval settles it.</a:t>
            </a:r>
            <a:endParaRPr lang="en-US" sz="14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7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Comparing Groups</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Choosing the right test for your design, outcome and assumptions — t-tests, ANOVA, chi-square and their non-parametric alternatives — and running them in SPSS and 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Select a test from the design, the outcome type and the number of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Check the assumptions each test relies 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Distinguish paired from independent comparisons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Run and interpret t-tests, ANOVA with post-hoc tests, and chi-square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a non-parametric alternative when assumptions fail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a comparison completely: estimate, interval, test statistic and effect size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the test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Three questions settle it: what type is the outcome, how many groups, and are the groups independent or paired?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Continuous outcome, two independent groups: independent samples t-test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Continuous outcome, two paired measurements: paired t-test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Continuous outcome, three or more independent groups: one-way ANOVA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Categorical outcome, two or more groups: chi-square test of independence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the test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Small expected counts in a contingency table: Fisher's exact test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Paired binary outcome: McNemar's test</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Test selection</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Groups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Parametric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Non-parametric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independent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Independent t-test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Mann-Whitney U</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paired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Paired t-test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Wilcoxon signed-rank</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 independent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One-way ANOVA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Kruskal-Wallis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 repeated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Repeated-measures ANOVA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Friedman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Categorical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independent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Chi-square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Fisher's exact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Binary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paired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McNemar's 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Assumptions, and what to do when they fail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Independence of observations — the one assumption no test survives losing, and no fix repairs after the fact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Approximate normality of the outcome within groups; matters most in small samples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Equal variances for the classic t-test — but Welch's t-test drops this and is a sensible default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For chi-square, expected counts of at least 5 in most cells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Judge normality from a histogram, not only a significance test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Assumptions, and what to do when they fail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When assumptions fail: transform the outcome, use a non-parametric test, or use a bootstrap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Non-parametric tests compare distributions or ranks, not means, so interpret accordingly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Clustered data — pupils within schools, patients within clinics, repeated visits per person — violate independence. A t-test on such data reports standard errors that are far too small. That needs a mixed model or a cluster-robust approach, not a different t-test.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ANOVA and post-hoc tests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significant ANOVA says the groups are not all equal; it does not say which differ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Running every pairwise t-test afterwards without adjustment inflates the false positive rate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Post-hoc tests control it: Tukey HSD for all pairwise comparisons, Dunnett when comparing several groups against one control</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Bonferroni is simple and conservative; it divides the significance level by the number of comparisons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ANOVA and post-hoc tests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Two-way ANOVA tests two factors and their interaction — an interaction means the effect of one factor depends on the level of the other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Interpret main effects with care in the presence of a significant interaction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Running it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independent t-test: t.test(bp ~ group, data = dat) — Welch by default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paired: t.test(before, after, paired = TRUE)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ANOVA: fit &lt;- aov(bp ~ group, data = dat); summary(fit); TukeyHSD(fit)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chi-square: chisq.test(table(dat$group, dat$outcome))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SPSS: Analyze &gt; Compare Means &gt; Independent-Samples T Test, or One-Way ANOVA with Post Hoc</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Running it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SPSS chi-square lives under Analyze &gt; Descriptive Statistics &gt; Crosstabs &gt; Statistics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SPSS always read the Levene test row to decide which t-test line to quote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a comparison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the group summaries first: mean (SD) or median (IQR) with n per group</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the estimated difference with its confidence interval — the interval is the finding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the test statistic, degrees of freedom and exact p-value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an effect size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Example: "Mean systolic BP was 8.4 mmHg lower in the intervention group (95% CI 3.1 to 13.7; t(118) = 3.12, p = 0.002; d = 0.57)."</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a comparison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Name the test used and state that its assumptions were checked</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a test in three questions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Four analyses are needed, and the student wants to know which test each requires.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Mean BP in intervention vs control, different people: continuous, two groups, independent → independent t-test (Welch).</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Anxiety score before and after in the same patients: continuous, two measurements, paired → paired t-test.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Mean score across four clinics: continuous, four groups, independent → one-way ANOVA, then Tukey.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Proportion adhering in two groups: categorical outcome, two groups → chi-square, or Fisher if expected counts are small.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Each answer came from three questions: outcome type, number of groups, paired or independent.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Only then check assumptions and consider a non-parametric alternative.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Pupils in schools are not independent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Test scores from 600 pupils across 20 schools are compared between two teaching methods with an independent t-test. The result is p = 0.004.</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Pupils in the same school share teachers, resources and intake — their scores are correlated.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t-test assumes 600 independent observations. In effect there are closer to 20.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Treating correlated observations as independent understates the standard error, so p is far too small.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design effect quantifies it: with an intra-class correlation of 0.15 and 30 pupils per school, variance inflates by about 5.</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right analysis is a mixed model with a random intercept for school: lmer(score ~ method + (1 | school), data = dat)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Refitted properly, the same data give p = 0.14 — the original finding was an artefact of ignoring clustering.</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Welch's t-test — A t-test that does not assume equal variances; a safe default for two independent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Paired test — A comparison of two measurements on the same units, analysing the within-pair differences.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Post-hoc test — A follow-up comparison after a significant ANOVA, adjusted for multiple testing.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Interaction — When the effect of one factor depends on the level of another.</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Fisher's exact test — An exact test for a contingency table, used when expected counts are small.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Cohen's d — A standardised difference between two means, expressed in pooled standard deviations.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Clustering — Non-independence arising when observations are grouped within units such as schools or clinics.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For three research questions from your own study, write down: the outcome type, the number of groups, whether they are paired, and the test you would use. Then name the one assumption most likely to fail in each, and what you would do about it.</a:t>
            </a:r>
            <a:endParaRPr lang="en-US" sz="14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8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Correlation and Linear Regression</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Modelling a continuous outcome: what a regression coefficient means, how to handle categorical predictors, and how to check the model is entitled to the conclusions you want from it.</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correlation from regression and know when each is appropriate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Interpret a slope, an intercept and R-squared in the units of the problem</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Include categorical predictors correctly using dummy coding</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Extend to multiple regression and interpret adjusted coefficients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Check the assumptions using residual plots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Report a regression model completely</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Correlation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Pearson r measures the strength and direction of a linear relationship between two continuous variables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runs from -1 to +1; 0 means no linear relationship, not no relationship at all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Spearman rho is the rank-based alternative for monotonic but non-linear relationships, or with outliers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r-squared is the proportion of variance in one variable explained by the other</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Correlation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Always plot the scatterplot before quoting r — very different patterns give identical coefficients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Correlation is symmetric and makes no prediction; regression is directional and does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Simple linear regression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model is y = b0 + b1·x + error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b1 is the estimated change in y for a one-unit increase in x</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b0 is the predicted y when x is zero — often meaningless, as with a predicted birth weight at age zero</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Centring a predictor (subtracting its mean) makes the intercept interpretable as the value at the average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R-squared is the proportion of variance explained; a low value does not mean the model is wrong, only that much is unexplained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Simple linear regression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 R: fit &lt;- lm(bp ~ age, data = dat); summary(fit); confint(fit)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Always report the coefficient with its confidence interval, not just its p-value</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Categorical predictors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binary predictor enters as 0/1, and its coefficient is the difference between the two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k-category predictor needs k-1 dummy variables, with one level as the reference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Every coefficient is then interpreted as the difference from that reference level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a reference that makes sense — usually the largest group, or the untreated one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R declare it a factor and lm() handles the coding: dat$edu &lt;- factor(dat$edu)</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Categorical predictors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Entering an unordered categorical variable as a plain number is a common and serious error: it forces a straight-line effect across arbitrary category codes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Coding education as 1 to 5 and putting it in as numeric assumes the step from none to primary equals the step from SHS to tertiary, and that both are one unit of the same thing. Almost never true — use factors.</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Multiple regression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Each coefficient is the effect of that predictor holding the others constant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"Adjusted for" and "holding constant" mean the same thing here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Adding a confounder changes the coefficient of interest; that change is the confounding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Adjusted R-squared penalises adding predictors that do not help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Do not select variables purely by p-value; stepwise selection produces unstable models and biased intervals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Multiple regression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predictors from subject knowledge and the conceptual framework built in Part 1</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rough guide: at least 10-15 observations per predictor, more for binary outcomes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a regression table</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Predictor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b (95% CI)</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Interpretation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Age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0.42 (0.28 to 0.56)</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&lt;0.001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Each extra year adds 0.42 mmHg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Sex (female vs male)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-3.10 (-5.9 to -0.3)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0.030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Women 3.1 mmHg lower than men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BMI (kg/m²)</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0.88 (0.55 to 1.21)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&lt;0.001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Each BMI unit adds 0.88 mmHg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Education: tertiary vs none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-2.40 (-5.1 to 0.3)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0.081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Lower, but interval includes no difference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Checking the model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Linearity: residuals versus fitted values should show no pattern; a curve means the relationship is not linear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Constant variance: the same plot should not fan out — a funnel shape is heteroscedasticity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Normality of residuals: a Q-Q plot should follow the diagonal. It is the residuals that matter, not the raw data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Independence: cannot be checked from residuals alone; it follows from the design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Checking the model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Influential points: Cook's distance identifies observations that move the coefficients substantially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Multicollinearity: a variance inflation factor above about 5 to 10 means predictors are too closely related to separate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 R: plot(fit) gives the four diagnostic plots; vif(fit) from the car package gives VIFs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a regression table out loud</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model of systolic blood pressure gives: age 0.42 (0.28 to 0.56); female -3.10 (-5.9 to -0.3); BMI 0.88 (0.55 to 1.21); tertiary education -2.40 (-5.1 to 0.3).</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Age: each additional year is associated with 0.42 mmHg higher SBP, holding sex, BMI and education constant.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Female: women average 3.1 mmHg lower than men, adjusted for the others. The reference category is male.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BMI: each additional kg/m² adds 0.88 mmHg — over 5 units, about 4.4 mmHg.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Tertiary education: 2.4 mmHg lower than the reference level, but the interval crosses zero, so this is compatible with no difference.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Every statement needs "holding the others constant" — that is what adjustment means.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Reporting only "age was significant" throws away the magnitude, which is the part a clinician can use.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education variable entered as a number</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Education has five categories coded 1 to 5. It is entered into the regression as numeric and returns a neat coefficient of -1.2 per level.</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That single coefficient assumes each step has the same effect: none→primary equals SHS→tertiary.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It also assumes the categories are equally spaced on some underlying scale, which nobody has established.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Declaring it a factor — dat$edu &lt;- factor(dat$edu) — estimates four coefficients against a reference.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Refitted, the effect turns out to be flat across the first three levels and then drops sharply at tertiary.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linear version averaged that into a misleading constant slope and understated the tertiary effect.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a single-number summary is genuinely wanted, test for trend explicitly and say that is what you did.</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Pearson r — A measure of linear association between two continuous variables, from -1 to +1.</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Regression coefficient — The estimated change in the outcome per one-unit increase in a predictor.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Dummy variable — A binary indicator representing one level of a categorical predictor against a reference.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Adjusted — Estimated while holding the other predictors in the model constant.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Heteroscedasticity — Non-constant variance of residuals across fitted values.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Multicollinearity — Predictors so correlated that their separate effects cannot be estimated reliably.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Cook's distance — A measure of how much an observation influences the fitted coefficients.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Fit a regression with one continuous and one categorical predictor on your own data or a supplied dataset. Write one sentence interpreting each coefficient in the units of the problem, then run the four diagnostic plots and say which assumption you are least comfortable with.</a:t>
            </a:r>
            <a:endParaRPr lang="en-US" sz="14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9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Logistic Regression and Confounding</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Modelling binary outcomes: odds, odds ratios and what they do and do not mean, plus adjusting for confounding and recognising mediators and interactions.</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why linear regression is unsuitable for a binary outcome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Interpret odds ratios and their confidence intervals correctly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odds ratio from risk ratio and know when they diverge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Fit and interpret multivariable logistic regression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confounders, mediators and colliders, and adjust accordingly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Assess model fit and predictive performance</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not linear regression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binary outcome is 0 or 1, but a linear model can predict below 0 and above 1</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residuals cannot be normal or homoscedastic when the outcome takes two values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Logistic regression models the log odds, which is unbounded and well behaved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fitted probability is then obtained by transforming back through the logistic function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Odds are p / (1 - p): a probability of 0.2 corresponds to odds of 0.25</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not linear regression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model is linear in the log odds, not in the probability — which is why effects are multiplicative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an odds ratio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exp(b) is the odds ratio for a one-unit increase in the predictor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OR = 1 means no association; above 1 higher odds; below 1 lower odds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confidence interval is what matters: an OR of 3.2 with an interval of 0.8 to 12.6 is not evidence of much</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Odds ratios are not risk ratios. When the outcome is rare (under about 10%) they are close; when it is common they diverge sharply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 OR of 3 for an outcome affecting 40% of people does not mean three times the risk</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an odds ratio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the interval always, and consider a risk ratio or risk difference where the outcome is common and the design allows it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 R: fit &lt;- glm(y ~ x, family = binomial, data = dat); exp(cbind(OR = coef(fit), confint(fit)))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The odds ratio is the coefficient logistic regression naturally produces, and it is often reported as though it were a risk ratio. For a common outcome that overstates the effect substantially — a mistake that appears in print constantly.</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Confounders, mediators and colliders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confounder causes both the exposure and the outcome; adjusting for it removes bias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mediator lies on the causal path from exposure to outcome; adjusting for it removes part of the effect you are trying to measure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collider is caused by both exposure and outcome; adjusting for it creates bias where none existed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distinction cannot be made from the data — it comes from subject knowledge and the conceptual framework</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Confounders, mediators and colliders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Draw a directed acyclic graph before choosing what to adjust for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Adjusting for everything available is not conservative; it can actively introduce bias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Example: adjusting smoking for lung function when estimating smoking's effect on mortality removes part of the very pathway of interest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to do with a third variable</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64"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Role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Relationship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Adjust?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Effect of adjusting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Confounder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Causes exposure and 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Removes bias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Mediator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On the path exposure → 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Usually no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Removes part of the effect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Collider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Caused by exposure and 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Creates bias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Competing cause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Causes outcome only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Optional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Improves precision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and checking the model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Rule of thumb: at least 10 events per predictor, counting the rarer outcome category, not the sample size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40 events and 8 predictors is over-fitted regardless of how large the sample looks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Check linearity of continuous predictors on the log-odds scale, not the probability scale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Hosmer-Lemeshow tests calibration, though it is sensitive to sample size and grouping</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and checking the model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C-statistic (area under the ROC curve) measures discrimination: 0.5 is chance, above 0.8 is good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both discrimination and calibration for a prediction model; either alone is incomplete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Check for separation — a predictor that perfectly predicts the outcome produces enormous coefficients and unusable intervals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the number of events and the number of observations, not only 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Present crude and adjusted estimates side by side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which variables were adjusted for and why they were chosen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Give odds ratios with confidence intervals to two decimal places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Say whether continuous predictors were entered linearly, categorised, or modelled with splines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If the outcome is common, note that the odds ratio overstates the risk ratio</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An odds ratio read as a risk ratio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study of a common outcome — 40% of the unexposed group — reports OR = 3.0. The abstract says the exposure "triples the risk".</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Odds in the unexposed: 0.40 / 0.60 = 0.67.</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Odds in the exposed: 0.67 × 3.0 = 2.0, so probability = 2.0 / 3.0 = 0.67.</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risk goes from 40% to 67% — a risk ratio of about 1.7, not 3.0.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odds ratio and risk ratio converge only when the outcome is rare, under roughly 10%.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At a 40% baseline they diverge substantially, and the abstract overstates the effect by nearly double.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Where the design allows, report a risk ratio or risk difference for a common outcome.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Adjusting for a mediator by accident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study of smoking and mortality adjusts for age, sex, income and lung function. The smoking effect shrinks sharply, and the authors conclude smoking matters less than thought.</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Age, sex and income plausibly cause both smoking and mortality — they are confounders, and adjusting is right.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Lung function is different: smoking damages it, and that damage causes mortality.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lung function lies on the causal path from exposure to outcome — it is a mediator.</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Adjusting for it removes the part of smoking's effect that operates through lung damage, which is most of it.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adjusted estimate answers "the effect of smoking not acting through lung function", which is not the question asked.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Drawing a causal diagram before choosing covariates would have separated the confounders from the mediator.</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Odds — The probability of an event divided by the probability of it not occurring.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Odds ratio — The ratio of odds between two groups; the natural output of logistic regression.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Risk ratio — The ratio of probabilities between two groups; diverges from the odds ratio when the outcome is common.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Confounder — A variable causing both exposure and outcome, biasing the crude association.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Mediator — A variable on the causal path between exposure and outcome.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Collider — A variable caused by both exposure and outcome; adjusting for it introduces bias.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C-statistic — Area under the ROC curve, measuring how well a model discriminates between outcomes.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Events per variable — The number of outcome events divided by the number of predictors; a guide to over-fitting.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For your own binary outcome, list every variable you might adjust for. Classify each as confounder, mediator, collider or competing cause, and justify the classification from what causes what — not from what the data show. Then state which you will adjust for.</a:t>
            </a:r>
            <a:endParaRPr lang="en-US" sz="14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10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Reporting, Reproducibility and the Results Section</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Turning output into a results section a reviewer will accept: what to report, how to lay out tables, and how to make the whole analysis reproducible by someone else.</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Write a results section that matches the pre-specified analysis plan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Report estimates, intervals and p-values to the right precision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Lay out tables and figures to journal standards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Apply the relevant reporting checklist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Build a reproducible analysis with a script and a clear folder structure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Produce a dynamic report with R Markdown or Quarto</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belongs in the results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Participant flow: how many were approached, included, excluded and analysed, and why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Table 1 of participant characteristics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primary analysis, answering the primary objective, first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Secondary analyses clearly labelled as secondary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Any analysis not planned in advance labelled exploratory — not doing so is the difference between honest reporting and fishing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belongs in the results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 interpretation in the results section; that belongs in the discussion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Every objective from the proposal produces a result, and every result answers an objective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Precision and notation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to the precision the data support: a mean age of 42.3 years, not 42.3187</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Percentages to at most one decimal, and never for a denominator under about 20</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p-values to two or three decimals; below 0.001 write p &lt; 0.001, never p = 0.000</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Effect estimates with confidence intervals, using "to" rather than a dash when values may be negative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Give the unit of measurement in the row or column label, not repeated in every cell</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Precision and notation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Be consistent about decimal places within a column so figures line up</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Common reporting faults</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8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Written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Problem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Better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 = 0.000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p-value is zero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 &lt; 0.001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Mean 42.3187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False precision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Mean 42.3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OR 2.4 (p &lt; 0.05)</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interval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OR 2.4 (95% CI 1.3 to 4.5)</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33.3% (n = 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Percentage of a tiny denominator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 of 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 trend towards significance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 = 0.08 is not a trend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significant difference (p = 0.08)</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Checklists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STROBE for observational studies — cohort, case-control and cross-sectional</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CONSORT for randomised trials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PRISMA for systematic reviews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TRIPOD for prediction model studies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SAMPL for statistical reporting generally</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Checklists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Find them at the EQUATOR Network, and use one while writing rather than afterwards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Most journals require the completed checklist at submission anyway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Making the analysis reproducible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reproducible analysis means someone else can run your script on your data and get your numbers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Structure: data/raw (read-only), data/clean, scripts, output, and a README explaining the order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Number scripts in running order: 01-clean.R, 02-describe.R, 03-model.R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Never edit data by hand; every change is a line of code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Set a seed before anything random so imputation and bootstrap results repeat exactly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Making the analysis reproducible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Record package versions — sessionInfo() in R, or renv for a full lockfile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Use relative paths so the project runs on another machine</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The practical test: delete every output file, rerun the scripts from raw data, and check the numbers in your manuscript still match. Most analyses fail this the first time, which is exactly why it is worth doing before a reviewer asks.</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Dynamic reports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Markdown and Quarto embed the code that produces each number in the document itself</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manuscript is then generated from the data, so a table can never disagree with the analysis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Inline code writes results into prose: the mean was `r round(mean(dat$age), 1)` years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Re-running after a data correction updates every number, table and figure at once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Output to Word for co-authors, PDF for submission, or HTML for sharing</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Dynamic reports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This removes the single most common source of error in a results section: copying a number by hand and later changing the analysis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 results paragraph rewritten</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draft reads: "The intervention group had significantly lower blood pressure (p &lt; 0.05), showing that the programme works well and should be rolled out nationally."</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 estimate: how much lower? The reader cannot tell if it is 1 mmHg or 20.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 interval: no sense of precision.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 &lt; 0.05 rather than the exact value, which discards information.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"Showing that the programme works well" is interpretation, and belongs in the discussion.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"Should be rolled out nationally" is a recommendation, and belongs in the conclusion — supported by more than one trial.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Rewritten: "Mean systolic BP was 8.4 mmHg lower in the intervention group (95% CI 3.1 to 13.7; t(118) = 3.12, p = 0.002; d = 0.57)."</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table that no longer matched the analysis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Two weeks before submission a data error is found and corrected. The analysis is rerun. The manuscript is submitted, and a co-author notices Table 3 still carries the old numbers.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tables had been typed by hand from earlier output.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Rerunning the analysis updated the output files but not the manuscript.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Three of eleven numbers in Table 3 changed; two did not, so nothing looked obviously wrong.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 Quarto or R Markdown the table is generated from the data at render time, so this cannot happen.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Inline code puts results into prose too: the mean was `r round(mean(dat$age), 1)` years.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Re-rendering after the correction would have updated every number, table and figure at once.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Primary analysis — The pre-specified analysis answering the study's main objective.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Exploratory analysis — An analysis not planned in advance, which must be labelled as such.</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STROBE — The reporting checklist for observational studies.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Reproducibility — The property that another person can obtain your results from your data and code.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Seed — A starting value for the random number generator, making stochastic procedures repeatable.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Dynamic report — A document in which results are generated from the data at render time rather than pasted in.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Take one table from a draft of your own results. Check it against the reporting faults table in this unit, fix every instance, and add a confidence interval to every estimate that lacks one. Then write the accompanying paragraph without a single word of interpretation.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191</Slides>
  <Notes>191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191</vt:i4>
      </vt:variant>
    </vt:vector>
  </HeadingPairs>
  <TitlesOfParts>
    <vt:vector size="1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ICBB-RM201 — Quantitative Data Analysis</dc:title>
  <dc:subject>Quantitative Data Analysis</dc:subject>
  <dc:creator>Jesse Anak</dc:creator>
  <cp:lastModifiedBy>Jesse Anak</cp:lastModifiedBy>
  <cp:revision>1</cp:revision>
  <dcterms:created xsi:type="dcterms:W3CDTF">2026-08-19T19:26:59Z</dcterms:created>
  <dcterms:modified xsi:type="dcterms:W3CDTF">2026-08-19T19:26:59Z</dcterms:modified>
</cp:coreProperties>
</file>