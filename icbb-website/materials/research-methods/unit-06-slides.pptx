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Unit 6: Qualitative Research Designs
Duration: 120 minutes
Objectives:
- Distinguish phenomenology, grounded theory, ethnography, case study and narrative inquiry
- Match a qualitative tradition to a research question
- Design an interview guide and a focus group schedule
- Explain sampling logic in qualitative work and the concept of information power
- Apply the criteria of trustworthiness and explain reflexivity
- Recognise when a qualitative design is the right answer and when it is an evasion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these out at the start and return to them at the end of the unit.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Take-away: Name your tradition and then live by its rules. "Grounded theory" followed by six interviews and a thematic analysis is the mismatch examiners look for first.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Take-away: Open wide, then narrow with probes. Pilot the guide on two people — you will change it, and that is a sign the piloting worked, not that the guide was bad.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Allow 10-15 minutes, then take feedback from two or three pairs.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CBB_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18872" cy="5148072"/>
          </a:xfrm>
          <a:prstGeom prst="rect">
            <a:avLst/>
          </a:prstGeom>
          <a:solidFill>
            <a:srgbClr val="0066CC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alphaModFix amt="18000"/>
          </a:blip>
          <a:stretch>
            <a:fillRect/>
          </a:stretch>
        </p:blipFill>
        <p:spPr>
          <a:xfrm>
            <a:off x="6903720" y="3977640"/>
            <a:ext cx="1920240" cy="128016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0916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CBB_TITLE">
    <p:bg>
      <p:bgPr>
        <a:solidFill>
          <a:srgbClr val="004D9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526280"/>
            <a:ext cx="9144000" cy="621792"/>
          </a:xfrm>
          <a:prstGeom prst="rect">
            <a:avLst/>
          </a:prstGeom>
          <a:solidFill>
            <a:srgbClr val="00A86B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alphaModFix amt="75000"/>
          </a:blip>
          <a:stretch>
            <a:fillRect/>
          </a:stretch>
        </p:blipFill>
        <p:spPr>
          <a:xfrm>
            <a:off x="7452360" y="384048"/>
            <a:ext cx="1371600" cy="91440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0916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005840"/>
            <a:ext cx="6675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A86B"/>
                </a:solidFill>
              </a:rPr>
              <a:t>ICBB-RM101  ·  UNIT 6 OF 10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1371600"/>
            <a:ext cx="676656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Qualitative Research Designs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2788920"/>
            <a:ext cx="676656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DCE7F5"/>
                </a:solidFill>
              </a:rPr>
              <a:t>The major qualitative traditions, the data collection methods attached to each, and how rigour is established when the aim is understanding rather than measurement.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4645152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Jesse Anak  ·  ICBB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046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066CC"/>
                </a:solidFill>
              </a:rPr>
              <a:t>UNIT 6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11827"/>
                </a:solidFill>
              </a:rPr>
              <a:t>What you will be able to do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85800" y="1325880"/>
            <a:ext cx="77724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74151"/>
                </a:solidFill>
              </a:rPr>
              <a:t>Distinguish phenomenology, grounded theory, ethnography, case study and narrative inquiry</a:t>
            </a:r>
            <a:endParaRPr lang="en-US" sz="1700" dirty="0"/>
          </a:p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74151"/>
                </a:solidFill>
              </a:rPr>
              <a:t>Match a qualitative tradition to a research question</a:t>
            </a:r>
            <a:endParaRPr lang="en-US" sz="1700" dirty="0"/>
          </a:p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74151"/>
                </a:solidFill>
              </a:rPr>
              <a:t>Design an interview guide and a focus group schedule</a:t>
            </a:r>
            <a:endParaRPr lang="en-US" sz="1700" dirty="0"/>
          </a:p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74151"/>
                </a:solidFill>
              </a:rPr>
              <a:t>Explain sampling logic in qualitative work and the concept of information power</a:t>
            </a:r>
            <a:endParaRPr lang="en-US" sz="1700" dirty="0"/>
          </a:p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74151"/>
                </a:solidFill>
              </a:rPr>
              <a:t>Apply the criteria of trustworthiness and explain reflexivity</a:t>
            </a:r>
            <a:endParaRPr lang="en-US" sz="1700" dirty="0"/>
          </a:p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74151"/>
                </a:solidFill>
              </a:rPr>
              <a:t>Recognise when a qualitative design is the right answer and when it is an evasion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0916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046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066CC"/>
                </a:solidFill>
              </a:rPr>
              <a:t>UNIT 6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11827"/>
                </a:solidFill>
              </a:rPr>
              <a:t>The major traditions (1/2)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85800" y="1325880"/>
            <a:ext cx="77724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374151"/>
                </a:solidFill>
              </a:rPr>
              <a:t>Phenomenology — describes the lived experience of a phenomenon; asks what it is like to live through this; small purposive samples, in-depth interviews</a:t>
            </a:r>
            <a:endParaRPr lang="en-US" sz="1300" dirty="0"/>
          </a:p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374151"/>
                </a:solidFill>
              </a:rPr>
              <a:t>Grounded theory — builds theory from data through constant comparison and theoretical sampling; data collection and analysis proceed together</a:t>
            </a:r>
            <a:endParaRPr lang="en-US" sz="1300" dirty="0"/>
          </a:p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374151"/>
                </a:solidFill>
              </a:rPr>
              <a:t>Ethnography — describes culture and practice through prolonged immersion and participant observation; fieldnotes are primary data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0916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046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066CC"/>
                </a:solidFill>
              </a:rPr>
              <a:t>UNIT 6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11827"/>
                </a:solidFill>
              </a:rPr>
              <a:t>The major traditions (2/2)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85800" y="1325880"/>
            <a:ext cx="77724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374151"/>
                </a:solidFill>
              </a:rPr>
              <a:t>Case study — examines a bounded system in depth using multiple data sources; may be single or multiple case, and is strong for "how" and "why" questions</a:t>
            </a:r>
            <a:endParaRPr lang="en-US" sz="1300" dirty="0"/>
          </a:p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374151"/>
                </a:solidFill>
              </a:rPr>
              <a:t>Narrative inquiry — treats the story itself as the unit of analysis, attending to how people construct accounts of their lives</a:t>
            </a:r>
            <a:endParaRPr lang="en-US" sz="1300" dirty="0"/>
          </a:p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374151"/>
                </a:solidFill>
              </a:rPr>
              <a:t>Descriptive qualitative — a legitimate, atheoretical option when the aim is a straightforward account of views and experiences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0916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046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0A86B"/>
                </a:solidFill>
              </a:rPr>
              <a:t>UNIT 6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8046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827"/>
                </a:solidFill>
              </a:rPr>
              <a:t>In practice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02920" y="1280160"/>
            <a:ext cx="54864" cy="2377440"/>
          </a:xfrm>
          <a:prstGeom prst="rect">
            <a:avLst/>
          </a:prstGeom>
          <a:solidFill>
            <a:srgbClr val="00A86B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1280160"/>
            <a:ext cx="758952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374151"/>
                </a:solidFill>
              </a:rPr>
              <a:t>Choosing a tradition commits you to its sampling, data collection and analysis. Claiming grounded theory and then running six interviews with thematic analysis is a mismatch examiners look for specifically.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0916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046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066CC"/>
                </a:solidFill>
              </a:rPr>
              <a:t>UNIT 6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11827"/>
                </a:solidFill>
              </a:rPr>
              <a:t>Data collection (1/2)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85800" y="1325880"/>
            <a:ext cx="77724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74151"/>
                </a:solidFill>
              </a:rPr>
              <a:t>In-depth interviews — best for sensitive topics and individual experience; typically 45-90 minutes</a:t>
            </a:r>
            <a:endParaRPr lang="en-US" sz="1500" dirty="0"/>
          </a:p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74151"/>
                </a:solidFill>
              </a:rPr>
              <a:t>Focus groups — 6-10 participants; strong for surfacing shared norms and disagreement; poor for sensitive or stigmatised topics</a:t>
            </a:r>
            <a:endParaRPr lang="en-US" sz="1500" dirty="0"/>
          </a:p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74151"/>
                </a:solidFill>
              </a:rPr>
              <a:t>Participant and non-participant observation — captures what people do rather than what they say they do</a:t>
            </a:r>
            <a:endParaRPr lang="en-US" sz="1500" dirty="0"/>
          </a:p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74151"/>
                </a:solidFill>
              </a:rPr>
              <a:t>Document analysis — policies, records, media; unobtrusive and useful for institutional questions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0916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046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066CC"/>
                </a:solidFill>
              </a:rPr>
              <a:t>UNIT 6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11827"/>
                </a:solidFill>
              </a:rPr>
              <a:t>Data collection (2/2)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85800" y="1325880"/>
            <a:ext cx="77724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74151"/>
                </a:solidFill>
              </a:rPr>
              <a:t>Photovoice and participatory methods — shift some control to participants and suit community-based work</a:t>
            </a:r>
            <a:endParaRPr lang="en-US" sz="1700" dirty="0"/>
          </a:p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74151"/>
                </a:solidFill>
              </a:rPr>
              <a:t>Triangulation combines sources or methods so that a finding does not rest on one type of evidence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0916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046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066CC"/>
                </a:solidFill>
              </a:rPr>
              <a:t>UNIT 6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11827"/>
                </a:solidFill>
              </a:rPr>
              <a:t>Interview guides (1/2)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85800" y="1325880"/>
            <a:ext cx="77724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74151"/>
                </a:solidFill>
              </a:rPr>
              <a:t>Structure the guide in funnels: open broadly, then probe specifics, then close</a:t>
            </a:r>
            <a:endParaRPr lang="en-US" sz="1700" dirty="0"/>
          </a:p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74151"/>
                </a:solidFill>
              </a:rPr>
              <a:t>Ask open questions — "tell me about…", "walk me through…", "what was that like?"</a:t>
            </a:r>
            <a:endParaRPr lang="en-US" sz="1700" dirty="0"/>
          </a:p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74151"/>
                </a:solidFill>
              </a:rPr>
              <a:t>Avoid leading questions, double-barrelled questions and jargon</a:t>
            </a:r>
            <a:endParaRPr lang="en-US" sz="1700" dirty="0"/>
          </a:p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74151"/>
                </a:solidFill>
              </a:rPr>
              <a:t>Plan probes in advance: "can you say more?", "what happened next?", "can you give an example?"</a:t>
            </a:r>
            <a:endParaRPr lang="en-US" sz="1700" dirty="0"/>
          </a:p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74151"/>
                </a:solidFill>
              </a:rPr>
              <a:t>Six to ten main questions is usually enough for a 60-minute interview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0916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046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066CC"/>
                </a:solidFill>
              </a:rPr>
              <a:t>UNIT 6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11827"/>
                </a:solidFill>
              </a:rPr>
              <a:t>Interview guides (2/2)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85800" y="1325880"/>
            <a:ext cx="77724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74151"/>
                </a:solidFill>
              </a:rPr>
              <a:t>Pilot the guide and expect to revise it — this is a strength, not a failure</a:t>
            </a:r>
            <a:endParaRPr lang="en-US" sz="1700" dirty="0"/>
          </a:p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74151"/>
                </a:solidFill>
              </a:rPr>
              <a:t>In focus groups, plan how you will manage a dominant speaker and draw out quiet participants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0916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046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066CC"/>
                </a:solidFill>
              </a:rPr>
              <a:t>UNIT 6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11827"/>
                </a:solidFill>
              </a:rPr>
              <a:t>Sampling and sample size (1/2)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85800" y="1325880"/>
            <a:ext cx="77724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74151"/>
                </a:solidFill>
              </a:rPr>
              <a:t>Sampling is purposive: participants are chosen because they can illuminate the question, not to represent a population statistically</a:t>
            </a:r>
            <a:endParaRPr lang="en-US" sz="1500" dirty="0"/>
          </a:p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74151"/>
                </a:solidFill>
              </a:rPr>
              <a:t>Maximum variation sampling seeks diversity; homogeneous sampling seeks depth within a defined group</a:t>
            </a:r>
            <a:endParaRPr lang="en-US" sz="1500" dirty="0"/>
          </a:p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74151"/>
                </a:solidFill>
              </a:rPr>
              <a:t>Theoretical sampling, specific to grounded theory, selects the next participant based on what the emerging analysis requires</a:t>
            </a:r>
            <a:endParaRPr lang="en-US" sz="1500" dirty="0"/>
          </a:p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74151"/>
                </a:solidFill>
              </a:rPr>
              <a:t>Snowball sampling reaches hidden populations but tends to stay within one network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0916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046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066CC"/>
                </a:solidFill>
              </a:rPr>
              <a:t>UNIT 6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11827"/>
                </a:solidFill>
              </a:rPr>
              <a:t>Sampling and sample size (2/2)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85800" y="1325880"/>
            <a:ext cx="77724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374151"/>
                </a:solidFill>
              </a:rPr>
              <a:t>Saturation is the point where new data generate no new codes or themes</a:t>
            </a:r>
            <a:endParaRPr lang="en-US" sz="1300" dirty="0"/>
          </a:p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374151"/>
                </a:solidFill>
              </a:rPr>
              <a:t>Information power is the more defensible modern concept: narrow aim, dense sample specificity, strong theory and strong dialogue all reduce the number needed</a:t>
            </a:r>
            <a:endParaRPr lang="en-US" sz="1300" dirty="0"/>
          </a:p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374151"/>
                </a:solidFill>
              </a:rPr>
              <a:t>Typical ranges: 6-12 for a homogeneous phenomenological study, 20-30 for grounded theory, but justify rather than cite a number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0916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046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0A86B"/>
                </a:solidFill>
              </a:rPr>
              <a:t>UNIT 6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8046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827"/>
                </a:solidFill>
              </a:rPr>
              <a:t>In practice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02920" y="1280160"/>
            <a:ext cx="54864" cy="2377440"/>
          </a:xfrm>
          <a:prstGeom prst="rect">
            <a:avLst/>
          </a:prstGeom>
          <a:solidFill>
            <a:srgbClr val="00A86B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1280160"/>
            <a:ext cx="758952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374151"/>
                </a:solidFill>
              </a:rPr>
              <a:t>Declaring saturation after a fixed number of interviews planned in advance is not saturation. Saturation is something you observe during analysis and must be able to evidence.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0916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046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066CC"/>
                </a:solidFill>
              </a:rPr>
              <a:t>UNIT 6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11827"/>
                </a:solidFill>
              </a:rPr>
              <a:t>Rigour and reflexivity (1/2)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85800" y="1325880"/>
            <a:ext cx="77724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74151"/>
                </a:solidFill>
              </a:rPr>
              <a:t>Credibility — do the findings represent the participants' reality? Supported by member checking, triangulation and prolonged engagement</a:t>
            </a:r>
            <a:endParaRPr lang="en-US" sz="1500" dirty="0"/>
          </a:p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74151"/>
                </a:solidFill>
              </a:rPr>
              <a:t>Transferability — could findings apply elsewhere? Supported by thick description of context so readers can judge</a:t>
            </a:r>
            <a:endParaRPr lang="en-US" sz="1500" dirty="0"/>
          </a:p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74151"/>
                </a:solidFill>
              </a:rPr>
              <a:t>Dependability — would the process be consistent if repeated? Supported by an audit trail</a:t>
            </a:r>
            <a:endParaRPr lang="en-US" sz="1500" dirty="0"/>
          </a:p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74151"/>
                </a:solidFill>
              </a:rPr>
              <a:t>Confirmability — do findings follow from the data rather than the researcher's preferences? Supported by memos and reflexive notes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0916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046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066CC"/>
                </a:solidFill>
              </a:rPr>
              <a:t>UNIT 6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11827"/>
                </a:solidFill>
              </a:rPr>
              <a:t>Rigour and reflexivity (2/2)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85800" y="1325880"/>
            <a:ext cx="77724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74151"/>
                </a:solidFill>
              </a:rPr>
              <a:t>Reflexivity means recording your own position — profession, assumptions, relationship to participants — and how it shaped the work</a:t>
            </a:r>
            <a:endParaRPr lang="en-US" sz="1500" dirty="0"/>
          </a:p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74151"/>
                </a:solidFill>
              </a:rPr>
              <a:t>Generalisability in the statistical sense is not the aim, and apologising for its absence misunderstands the design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0916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046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0A86B"/>
                </a:solidFill>
              </a:rPr>
              <a:t>UNIT 6  ·  WORKED EXAMPLE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8046720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300" b="1" dirty="0">
                <a:solidFill>
                  <a:srgbClr val="111827"/>
                </a:solidFill>
              </a:rPr>
              <a:t>The same topic in four qualitative traditions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502920" y="1207008"/>
            <a:ext cx="8138160" cy="3200400"/>
          </a:xfrm>
          <a:prstGeom prst="rect">
            <a:avLst/>
          </a:prstGeom>
          <a:solidFill>
            <a:srgbClr val="F3F7FC"/>
          </a:solidFill>
          <a:ln w="9525">
            <a:solidFill>
              <a:srgbClr val="0066C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371600"/>
            <a:ext cx="768096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i="1" dirty="0">
                <a:solidFill>
                  <a:srgbClr val="374151"/>
                </a:solidFill>
              </a:rPr>
              <a:t>The topic is the experience of women living with obstetric fistula. Four traditions would produce four genuinely different studies.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68680" y="2395728"/>
            <a:ext cx="745236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rgbClr val="374151"/>
                </a:solidFill>
              </a:rPr>
              <a:t>Phenomenology: what is it like to live with fistula? 8-12 in-depth interviews, focused on lived experience.</a:t>
            </a:r>
            <a:endParaRPr lang="en-US" sz="1300" dirty="0"/>
          </a:p>
          <a:p>
            <a:pPr marL="342900" indent="-342900">
              <a:lnSpc>
                <a:spcPct val="115000"/>
              </a:lnSpc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rgbClr val="374151"/>
                </a:solidFill>
              </a:rPr>
              <a:t>Grounded theory: how do women come to seek or avoid repair? Theoretical sampling, constant comparison, ending in a theory of care-seeking.</a:t>
            </a:r>
            <a:endParaRPr lang="en-US" sz="1300" dirty="0"/>
          </a:p>
          <a:p>
            <a:pPr marL="342900" indent="-342900">
              <a:lnSpc>
                <a:spcPct val="115000"/>
              </a:lnSpc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rgbClr val="374151"/>
                </a:solidFill>
              </a:rPr>
              <a:t>Ethnography: how does the community treat these women? Months of observation in a village, fieldnotes as primary data.</a:t>
            </a:r>
            <a:endParaRPr lang="en-US" sz="1300" dirty="0"/>
          </a:p>
          <a:p>
            <a:pPr marL="342900" indent="-342900">
              <a:lnSpc>
                <a:spcPct val="115000"/>
              </a:lnSpc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rgbClr val="374151"/>
                </a:solidFill>
              </a:rPr>
              <a:t>Case study: how did one repair programme work? Interviews, records, observation and policy documents on a single bounded programme.</a:t>
            </a:r>
            <a:endParaRPr lang="en-US" sz="1300" dirty="0"/>
          </a:p>
          <a:p>
            <a:pPr marL="342900" indent="-342900">
              <a:lnSpc>
                <a:spcPct val="115000"/>
              </a:lnSpc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rgbClr val="374151"/>
                </a:solidFill>
              </a:rPr>
              <a:t>Each demands its own sampling, data collection and analysis. You cannot claim one and execute another.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0916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046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0A86B"/>
                </a:solidFill>
              </a:rPr>
              <a:t>UNIT 6  ·  WORKED EXAMPLE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8046720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300" b="1" dirty="0">
                <a:solidFill>
                  <a:srgbClr val="111827"/>
                </a:solidFill>
              </a:rPr>
              <a:t>Rewriting an interview guide that will not work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502920" y="1207008"/>
            <a:ext cx="8138160" cy="3200400"/>
          </a:xfrm>
          <a:prstGeom prst="rect">
            <a:avLst/>
          </a:prstGeom>
          <a:solidFill>
            <a:srgbClr val="F3F7FC"/>
          </a:solidFill>
          <a:ln w="9525">
            <a:solidFill>
              <a:srgbClr val="0066C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371600"/>
            <a:ext cx="768096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i="1" dirty="0">
                <a:solidFill>
                  <a:srgbClr val="374151"/>
                </a:solidFill>
              </a:rPr>
              <a:t>A student's first interview guide opens with: "Don't you agree that the long waiting times and rude staff are the main problems at this clinic?"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68680" y="2395728"/>
            <a:ext cx="745236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rgbClr val="374151"/>
                </a:solidFill>
              </a:rPr>
              <a:t>It is leading — it supplies the answer the interviewer expects.</a:t>
            </a:r>
            <a:endParaRPr lang="en-US" sz="1300" dirty="0"/>
          </a:p>
          <a:p>
            <a:pPr marL="342900" indent="-342900">
              <a:lnSpc>
                <a:spcPct val="115000"/>
              </a:lnSpc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rgbClr val="374151"/>
                </a:solidFill>
              </a:rPr>
              <a:t>It is double-barrelled — waiting times and staff attitude are two different things.</a:t>
            </a:r>
            <a:endParaRPr lang="en-US" sz="1300" dirty="0"/>
          </a:p>
          <a:p>
            <a:pPr marL="342900" indent="-342900">
              <a:lnSpc>
                <a:spcPct val="115000"/>
              </a:lnSpc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rgbClr val="374151"/>
                </a:solidFill>
              </a:rPr>
              <a:t>It is closed — it can be answered "yes", ending the topic.</a:t>
            </a:r>
            <a:endParaRPr lang="en-US" sz="1300" dirty="0"/>
          </a:p>
          <a:p>
            <a:pPr marL="342900" indent="-342900">
              <a:lnSpc>
                <a:spcPct val="115000"/>
              </a:lnSpc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rgbClr val="374151"/>
                </a:solidFill>
              </a:rPr>
              <a:t>It opens on a complaint, before any rapport exists, which shapes everything that follows.</a:t>
            </a:r>
            <a:endParaRPr lang="en-US" sz="1300" dirty="0"/>
          </a:p>
          <a:p>
            <a:pPr marL="342900" indent="-342900">
              <a:lnSpc>
                <a:spcPct val="115000"/>
              </a:lnSpc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rgbClr val="374151"/>
                </a:solidFill>
              </a:rPr>
              <a:t>Rewrite: "Tell me about the last time you came to this clinic. Walk me through the day." Then probe: "What was the waiting like?", "How did you find the staff?"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0916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046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066CC"/>
                </a:solidFill>
              </a:rPr>
              <a:t>UNIT 6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11827"/>
                </a:solidFill>
              </a:rPr>
              <a:t>Key terms (1/2)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85800" y="1325880"/>
            <a:ext cx="77724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74151"/>
                </a:solidFill>
              </a:rPr>
              <a:t>Purposive sampling — Selecting participants deliberately for their capacity to inform the research question.</a:t>
            </a:r>
            <a:endParaRPr lang="en-US" sz="1500" dirty="0"/>
          </a:p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74151"/>
                </a:solidFill>
              </a:rPr>
              <a:t>Saturation — The point at which further data collection yields no new codes, categories or themes.</a:t>
            </a:r>
            <a:endParaRPr lang="en-US" sz="1500" dirty="0"/>
          </a:p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74151"/>
                </a:solidFill>
              </a:rPr>
              <a:t>Information power — The principle that the richer and more specific the sample and aim, the fewer participants are needed.</a:t>
            </a:r>
            <a:endParaRPr lang="en-US" sz="1500" dirty="0"/>
          </a:p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74151"/>
                </a:solidFill>
              </a:rPr>
              <a:t>Reflexivity — Systematic attention to how the researcher shapes and is shaped by the research.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0916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046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066CC"/>
                </a:solidFill>
              </a:rPr>
              <a:t>UNIT 6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11827"/>
                </a:solidFill>
              </a:rPr>
              <a:t>Key terms (2/2)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85800" y="1325880"/>
            <a:ext cx="77724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74151"/>
                </a:solidFill>
              </a:rPr>
              <a:t>Thick description — Detailed account of context and meaning sufficient for a reader to judge transferability.</a:t>
            </a:r>
            <a:endParaRPr lang="en-US" sz="1500" dirty="0"/>
          </a:p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74151"/>
                </a:solidFill>
              </a:rPr>
              <a:t>Triangulation — Using multiple sources, methods or investigators to strengthen confidence in a finding.</a:t>
            </a:r>
            <a:endParaRPr lang="en-US" sz="1500" dirty="0"/>
          </a:p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74151"/>
                </a:solidFill>
              </a:rPr>
              <a:t>Audit trail — A documented record of decisions taken through the research, allowing the process to be followed.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0916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046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066CC"/>
                </a:solidFill>
              </a:rPr>
              <a:t>UNIT 6  ·  OVER TO YOU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11827"/>
                </a:solidFill>
              </a:rPr>
              <a:t>Activity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85800" y="1325880"/>
            <a:ext cx="77724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374151"/>
                </a:solidFill>
              </a:rPr>
              <a:t>Draft a six-question interview guide for your own topic. Swap with a partner, who must flag every leading, closed or double-barrelled question and rewrite one of them. Then role-play the first two questions and note where the guide fails in practice.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0916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Institute of Computational Biology and Bioinformatics (ICBB)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ICBB-RM101 — Unit 6: Qualitative Research Designs</dc:title>
  <dc:subject>Research Methods: Quantitative &amp; Qualitative Design</dc:subject>
  <dc:creator>Jesse Anak</dc:creator>
  <cp:lastModifiedBy>Jesse Anak</cp:lastModifiedBy>
  <cp:revision>1</cp:revision>
  <dcterms:created xsi:type="dcterms:W3CDTF">2026-08-18T23:34:15Z</dcterms:created>
  <dcterms:modified xsi:type="dcterms:W3CDTF">2026-08-18T23:34:15Z</dcterms:modified>
</cp:coreProperties>
</file>