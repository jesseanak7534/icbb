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Unit 7: Mixed Methods and Sampling
Duration: 120 minutes
Objectives:
- Describe convergent, explanatory sequential and exploratory sequential designs
- Explain what integration means and why it is the defining feature of mixed methods
- Distinguish probability from non-probability sampling and state when each is appropriate
- Calculate a sample size for a prevalence study and for comparing two proportions
- Explain power, effect size and the consequences of an underpowered study
- Adjust a sample size for non-response and design effect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at the start, and return to them at the end of the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Reviewers check the arithmetic. A sample size stated without its inputs reads as though it was chosen first and justified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point: Integration is the defining feature. Plan the point where the strands meet at proposal stage — it cannot be added convincingly at write-up.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Allow 10-15 minutes, then take feedback from two or three pairs.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90288"/>
            <a:ext cx="8010144" cy="10973"/>
          </a:xfrm>
          <a:prstGeom prst="rect">
            <a:avLst/>
          </a:prstGeom>
          <a:solidFill>
            <a:srgbClr val="D8D3C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38000"/>
          </a:blip>
          <a:stretch>
            <a:fillRect/>
          </a:stretch>
        </p:blipFill>
        <p:spPr>
          <a:xfrm>
            <a:off x="7973568" y="4709160"/>
            <a:ext cx="566928" cy="37490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BB_TITLE">
    <p:bg>
      <p:bgPr>
        <a:solidFill>
          <a:srgbClr val="132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481328"/>
            <a:ext cx="1051560" cy="25603"/>
          </a:xfrm>
          <a:prstGeom prst="rect">
            <a:avLst/>
          </a:prstGeom>
          <a:solidFill>
            <a:srgbClr val="9A6A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45000"/>
          </a:blip>
          <a:stretch>
            <a:fillRect/>
          </a:stretch>
        </p:blipFill>
        <p:spPr>
          <a:xfrm>
            <a:off x="7863840" y="4315968"/>
            <a:ext cx="676656" cy="44805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ICBB-RM101   ·   Unit 7 of 10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3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and Sampling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85800" y="3127248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50" dirty="0">
                <a:solidFill>
                  <a:srgbClr val="B9C2C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How quantitative and qualitative strands are combined deliberately rather than decoratively, and the full range of sampling strategies with the arithmetic of sample size.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85800" y="44074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spc="120" kern="0" dirty="0">
                <a:solidFill>
                  <a:srgbClr val="8894A0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Jesse Anak   ·   ICBB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What you will be able to 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Describe convergent, explanatory sequential and exploratory sequential designs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what integration means and why it is the defining feature of mixed methods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Distinguish probability from non-probability sampling and state when each is appropriate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Calculate a sample size for a prevalence study and for comparing two proportions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Explain power, effect size and the consequences of an underpowered study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Adjust a sample size for non-response and design effect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designs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Convergent parallel — both strands run at the same time and are compared at interpretation; used when each answers a different facet of one question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Explanatory sequential — quantitative first, then qualitative to explain surprising or unexplained results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Exploratory sequential — qualitative first to develop an instrument or identify constructs, then quantitative to test at scale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Mixed methods designs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Embedded — one strand sits inside a larger design, such as a process evaluation within a trial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is the defining feature: strands must be brought together, not merely reported in adjacent chapters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techniques include joint displays, following a thread, and merging in a triangulation matrix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In practice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664208"/>
            <a:ext cx="8010144" cy="2395728"/>
          </a:xfrm>
          <a:prstGeom prst="rect">
            <a:avLst/>
          </a:prstGeom>
          <a:solidFill>
            <a:srgbClr val="F6F4F0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1847088"/>
            <a:ext cx="7278624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600" i="1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study that runs a survey and some interviews and reports them separately is not mixed methods; it is two studies in one document. The examiner's question is always: what did you learn from combining them that neither strand gave you alone?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Probability sampling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Simple random — every unit has an equal chance; requires a complete sampling frame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Systematic — every kth unit from a random start; simple in the field but fails if the list has a periodic pattern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Stratified — the population is divided into strata and sampled within each; improves precision and guarantees representation of small subgroups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— whole groups are sampled; cheaper when the population is geographically dispersed, but less precise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Probability sampling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Multistage — combines the above, and is what national surveys such as the DHS actually use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Only probability sampling supports statistical generalisation to the population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Non-probability sampling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Convenience — whoever is available; cheapest and weakest, with unknown bias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Purposive — chosen for a defined characteristic; the standard for qualitative work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Quota — fills preset category targets non-randomly; resembles stratification without randomisation</a:t>
            </a:r>
            <a:endParaRPr lang="en-US" sz="16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6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Snowball — participants recruit others; necessary for hidden populations, but stays within networks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Non-probability sampling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Consecutive — every eligible patient over a defined period; the strongest non-probability option in clinical settings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These cannot support statistical generalisation, and analyses reporting confidence intervals from them should be read cautiously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Sample size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a single proportion: n = Z²p(1-p)/d², where Z is 1.96 for 95% confidence, p the expected proportion, d the desired margin of error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Worked example: p = 0.30, d = 0.05 gives n = (1.96² x 0.30 x 0.70)/0.05² = 323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Using p = 0.50 when the proportion is unknown gives the largest, safest sample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For comparing two proportions or means, size depends on the effect you wish to detect, the significance level and the power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Sample size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Power is the probability of detecting a real effect; 80% is conventional and 90% is preferable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An underpowered study is not merely inconclusive — it is arguably unethical, since participants were exposed to burden for a result that could not have been informative</a:t>
            </a:r>
            <a:endParaRPr lang="en-US" sz="135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3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Apply a finite population correction when the sample is a large fraction of a small population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Adjusting the calculated sample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27632"/>
          <a:ext cx="8010144" cy="914400"/>
        </p:xfrm>
        <a:graphic>
          <a:graphicData uri="http://schemas.openxmlformats.org/drawingml/2006/table">
            <a:tbl>
              <a:tblPr/>
              <a:tblGrid>
                <a:gridCol w="2670048"/>
                <a:gridCol w="2670048"/>
                <a:gridCol w="26700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Adjustment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When it applies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C3140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Formula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Non-response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Always, in surveys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n_final = n / (1 - expected non-response)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Design effect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Cluster sampling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n_final = n x DEFF (often 1.5-2.0)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Finite population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Sample exceeds ~5% of population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n_adj = n / (1 + (n-1)/N)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Attrition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Longitudinal designs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3282E"/>
                          </a:solidFill>
                          <a:latin typeface="Corbel" pitchFamily="34" charset="0"/>
                          <a:ea typeface="Corbel" pitchFamily="34" charset="-122"/>
                          <a:cs typeface="Corbel" pitchFamily="34" charset="-120"/>
                        </a:rPr>
                        <a:t>Inflate by expected loss to follow-up</a:t>
                      </a:r>
                      <a:endParaRPr lang="en-US" sz="1100" dirty="0">
                        <a:latin typeface="Corbel" charset="0"/>
                        <a:ea typeface="Corbel" charset="0"/>
                        <a:cs typeface="Corbel" charset="0"/>
                      </a:endParaRPr>
                    </a:p>
                  </a:txBody>
                  <a:tcPr marL="76200" marR="76200" marT="76200" marB="76200" anchor="t">
                    <a:lnL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080" cap="flat" cmpd="sng" algn="ctr">
                      <a:solidFill>
                        <a:srgbClr val="D8D3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Putting it together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State the sampling frame explicitly, and say what it excludes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the calculation with every input value, not just the final number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Say who was excluded and why, and how non-response was handled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Mixed methods studies size each strand by its own logic — power calculation for the quantitative strand, information power for the qualitative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 nested qualitative sample is often drawn purposively from the quantitative sample, which strengthens integration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Calculating a sample size, then adjusting it honestly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prevalence survey of anaemia among pregnant women in one district. Previous work suggests roughly 35% prevalence. You want a 5% margin of error at 95% confidence, sampling by health facility.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Base formula: n = Z²p(1-p)/d² = (1.96² x 0.35 x 0.65) / 0.05²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That is (3.8416 x 0.2275) / 0.0025 = 0.8740 / 0.0025 = 350 (rounding up).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Cluster sampling by facility: multiply by a design effect of 1.5 → 350 x 1.5 = 525.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Expect 10% non-response: 525 / 0.90 = 584.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Final target: 584 women. In R: ceiling(1.96^2 * 0.35 * 0.65 / 0.05^2 * 1.5 / 0.9)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Report every input — Z, p, d, design effect and non-response — not just the number 584.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  ·  WORKED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Two studies in one document is not mixed methods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645920"/>
            <a:ext cx="8010144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00" i="1" dirty="0">
                <a:solidFill>
                  <a:srgbClr val="5F6B76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 thesis reports a 600-household survey in Chapter 4 and 20 interviews in Chapter 5. The conclusion summarises both. The student calls it a mixed methods study.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86384" y="2523744"/>
            <a:ext cx="740664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Ask the integration question: what did combining them reveal that neither gave alone?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If the answer is "nothing — they are both about the same topic", it is two studies bound together.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Real integration would be: the survey found low clinic attendance in one sub-district; the interviews were sampled from there specifically to explain why.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Or a joint display: a table with survey findings in one column and the interview themes that explain or contradict them alongside.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500"/>
              </a:spcAft>
              <a:buSzPct val="100000"/>
              <a:buFont typeface="+mj-lt"/>
              <a:buAutoNum type="arabicPeriod" startAt="1"/>
            </a:pPr>
            <a:r>
              <a:rPr lang="en-US" sz="125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The interview sample can be drawn from the survey respondents, which ties the strands together by design rather than by assertion.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(1/2)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Sampling frame — The list or procedure from which the sample is actually drawn.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Design effect (DEFF) — The factor by which variance increases because of cluster sampling rather than simple random sampling.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Power — The probability that a study will detect an effect of a specified size if it truly exists.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Effect size — The magnitude of a difference or association, independent of sample size.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7772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6A3C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UNIT 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58368"/>
            <a:ext cx="777240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dirty="0">
                <a:solidFill>
                  <a:srgbClr val="1C3140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Key terms (2/2)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66928" y="1335024"/>
            <a:ext cx="566928" cy="20117"/>
          </a:xfrm>
          <a:prstGeom prst="rect">
            <a:avLst/>
          </a:prstGeom>
          <a:solidFill>
            <a:srgbClr val="9A6A3C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1664208"/>
            <a:ext cx="7498080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Integration — The deliberate bringing together of quantitative and qualitative strands to produce insight neither gives alone.</a:t>
            </a:r>
            <a:endParaRPr lang="en-US" sz="1500" dirty="0"/>
          </a:p>
          <a:p>
            <a:pPr marL="342900" indent="-342900">
              <a:lnSpc>
                <a:spcPct val="130000"/>
              </a:lnSpc>
              <a:spcAft>
                <a:spcPts val="1100"/>
              </a:spcAft>
              <a:buSzPct val="100000"/>
              <a:buChar char="–"/>
            </a:pPr>
            <a:r>
              <a:rPr lang="en-US" sz="1500" dirty="0">
                <a:solidFill>
                  <a:srgbClr val="23282E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Joint display — A table or figure presenting quantitative and qualitative results side by side to show how they relate.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66928" y="4700016"/>
            <a:ext cx="9144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F6B76"/>
                </a:solidFill>
                <a:latin typeface="Corbel"/>
                <a:ea typeface="Corbel"/>
                <a:cs typeface="Corbe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024128"/>
            <a:ext cx="6766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spc="240" kern="0" dirty="0">
                <a:solidFill>
                  <a:srgbClr val="C8A67B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Over to you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85800" y="1700784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onstantia" pitchFamily="34" charset="0"/>
                <a:ea typeface="Constantia" pitchFamily="34" charset="-122"/>
                <a:cs typeface="Constantia" pitchFamily="34" charset="-120"/>
              </a:rPr>
              <a:t>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487168"/>
            <a:ext cx="69494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450" dirty="0">
                <a:solidFill>
                  <a:srgbClr val="C4CCD4"/>
                </a:solidFill>
                <a:latin typeface="Corbel" pitchFamily="34" charset="0"/>
                <a:ea typeface="Corbel" pitchFamily="34" charset="-122"/>
                <a:cs typeface="Corbel" pitchFamily="34" charset="-120"/>
              </a:rPr>
              <a:t>Calculate the sample size for a prevalence study in your own field: choose p, set d = 0.05, then inflate for 15% non-response and a design effect of 1.5. Show every step. Then state, in one sentence each, the sampling frame and what it excludes.</a:t>
            </a:r>
            <a:endParaRPr lang="en-US" sz="14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onstant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orbe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Institute of Computational Biology and Bioinformatics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ICBB-RM101 — Unit 7: Mixed Methods and Sampling</dc:title>
  <dc:subject>Research Methods: Quantitative &amp; Qualitative Design</dc:subject>
  <dc:creator>Jesse Anak</dc:creator>
  <cp:lastModifiedBy>Jesse Anak</cp:lastModifiedBy>
  <cp:revision>1</cp:revision>
  <dcterms:created xsi:type="dcterms:W3CDTF">2026-08-19T07:37:19Z</dcterms:created>
  <dcterms:modified xsi:type="dcterms:W3CDTF">2026-08-19T07:37:19Z</dcterms:modified>
</cp:coreProperties>
</file>