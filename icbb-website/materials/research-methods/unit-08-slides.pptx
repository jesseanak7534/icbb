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Unit 8: Data Collection, Instruments and Measurement
Duration: 120 minutes
Objectives:
- Operationalise a construct into measurable variables and indicators
- Identify levels of measurement and their analytical consequences
- Design questionnaire items that avoid the common wording faults
- Distinguish the main types of validity and reliability and how each is evidenced
- Plan and report a pilot study
- Choose between paper and electronic data capture and set up basic data quality controls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these at the start, and return to them at the end of the unit.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point: Every faulty item produces data you cannot interpret, and no analysis later can repair it. An hour spent on wording saves the whole variable.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point: A self-translated instrument has unknown validity, which means the study built on it does too. This is one of the most common fatal flaws in multilingual research.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Allow 10-15 minutes, then take feedback from two or three pairs.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CBB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90288"/>
            <a:ext cx="8010144" cy="10973"/>
          </a:xfrm>
          <a:prstGeom prst="rect">
            <a:avLst/>
          </a:prstGeom>
          <a:solidFill>
            <a:srgbClr val="D8D3C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38000"/>
          </a:blip>
          <a:stretch>
            <a:fillRect/>
          </a:stretch>
        </p:blipFill>
        <p:spPr>
          <a:xfrm>
            <a:off x="7973568" y="4709160"/>
            <a:ext cx="566928" cy="37490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CBB_TITLE">
    <p:bg>
      <p:bgPr>
        <a:solidFill>
          <a:srgbClr val="1323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1481328"/>
            <a:ext cx="1051560" cy="25603"/>
          </a:xfrm>
          <a:prstGeom prst="rect">
            <a:avLst/>
          </a:prstGeom>
          <a:solidFill>
            <a:srgbClr val="9A6A3C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45000"/>
          </a:blip>
          <a:stretch>
            <a:fillRect/>
          </a:stretch>
        </p:blipFill>
        <p:spPr>
          <a:xfrm>
            <a:off x="7863840" y="4315968"/>
            <a:ext cx="676656" cy="448056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024128"/>
            <a:ext cx="6766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spc="240" kern="0" dirty="0">
                <a:solidFill>
                  <a:srgbClr val="C8A67B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ICBB-RM101   ·   Unit 8 of 10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85800" y="1700784"/>
            <a:ext cx="685800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300" dirty="0">
                <a:solidFill>
                  <a:srgbClr val="FFFFFF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Data Collection, Instruments and Measurement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85800" y="3127248"/>
            <a:ext cx="63093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B9C2CB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Turning abstract constructs into things you can actually record, and the validity and reliability evidence needed before anyone believes the numbers your instrument produces.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85800" y="440740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spc="120" kern="0" dirty="0">
                <a:solidFill>
                  <a:srgbClr val="8894A0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Jesse Anak   ·   ICBB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What you will be able to do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Operationalise a construct into measurable variables and indicators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Identify levels of measurement and their analytical consequences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Design questionnaire items that avoid the common wording faults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Distinguish the main types of validity and reliability and how each is evidenced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Plan and report a pilot study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Choose between paper and electronic data capture and set up basic data quality controls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From construct to variable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 construct is an abstraction — stigma, food insecurity, quality of care — that cannot be observed directly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Operationalisation defines the observable indicators that will stand for it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 conceptual definition says what you mean; an operational definition says exactly how it will be measured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Prefer an existing validated instrument over inventing your own — validation takes a study of its own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From construct to variable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If you adapt an instrument, report what you changed and re-examine its reliability in your population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Instruments validated elsewhere may behave differently after translation or in a different culture, and should be re-tested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In practice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664208"/>
            <a:ext cx="8010144" cy="2395728"/>
          </a:xfrm>
          <a:prstGeom prst="rect">
            <a:avLst/>
          </a:prstGeom>
          <a:solidFill>
            <a:srgbClr val="F6F4F0"/>
          </a:solidFill>
          <a:ln/>
        </p:spPr>
      </p:sp>
      <p:sp>
        <p:nvSpPr>
          <p:cNvPr id="6" name="Text 4"/>
          <p:cNvSpPr/>
          <p:nvPr/>
        </p:nvSpPr>
        <p:spPr>
          <a:xfrm>
            <a:off x="932688" y="1847088"/>
            <a:ext cx="7278624" cy="20299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600" i="1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Translation requires forward translation, back translation by an independent translator, reconciliation by a panel, and cognitive interviewing with a few target participants. Translating a questionnaire yourself the night before is the single most common source of unusable data.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Levels of measurement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Nominal — unordered categories (blood group, district); only counts and proportions are meaningful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Ordinal — ordered categories with unequal or unknown intervals (Likert responses, disease stage)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Interval — equal intervals but no true zero (temperature in Celsius)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Ratio — equal intervals with a true zero (weight, income, count of visits)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The level determines which summary statistics and which tests are legitimate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Levels of measurement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Record data at the finest level available: exact age can always be collapsed into bands later, but bands can never be recovered into exact ages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Writing good items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One idea per item — "Was the staff friendly and efficient?" is double-barrelled and unanswerable if one was and one was not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Avoid leading wording, loaded terms and negatives, especially double negatives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Match vocabulary to the least literate respondent you expect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Make response options exhaustive and mutually exclusive; check for gaps and overlaps in age bands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Offer "don't know" and "prefer not to answer" where forcing a choice would fabricate data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Writing good items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Decide deliberately whether a Likert scale has a midpoint — removing it forces a direction, which may or may not be what you want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Order matters: put sensitive items late, once rapport exists, and beware of earlier items priming later ones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Validity and reliability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Face validity — does it look appropriate? The weakest form, but worth checking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Content validity — does it cover the whole construct? Established by expert panel, often with a content validity index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Construct validity — does it behave as theory predicts? Evidenced by convergent and discriminant correlations and factor analysis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Criterion validity — does it agree with a gold standard, concurrently or predictively?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Validity and reliability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Internal consistency — do items measure the same thing? Cronbach's alpha, where roughly 0.70-0.95 is acceptable and above 0.95 suggests redundant items</a:t>
            </a:r>
            <a:endParaRPr lang="en-US" sz="13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Test-retest reliability — does it give the same answer on a stable characteristic over a short interval?</a:t>
            </a:r>
            <a:endParaRPr lang="en-US" sz="13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Inter-rater reliability — do different observers agree? Reported as Cohen's kappa or an intraclass correlation</a:t>
            </a:r>
            <a:endParaRPr lang="en-US" sz="13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An instrument can be reliable but not valid — consistently measuring the wrong thing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Which evidence to report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27632"/>
          <a:ext cx="8010144" cy="914400"/>
        </p:xfrm>
        <a:graphic>
          <a:graphicData uri="http://schemas.openxmlformats.org/drawingml/2006/table">
            <a:tbl>
              <a:tblPr/>
              <a:tblGrid>
                <a:gridCol w="2670048"/>
                <a:gridCol w="2670048"/>
                <a:gridCol w="267004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C3140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Property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C3140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Statistic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C3140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Rough benchmark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4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Internal consistency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Cronbach's alpha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0.70 - 0.95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Test-retest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ICC or Pearson r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≥ 0.70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Inter-rater agreement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Cohen's kappa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≥ 0.60 substantial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Content validity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CVI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≥ 0.78 per item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Construct validity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Factor loadings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≥ 0.40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Piloting and data capture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Pilot on 10% of the intended sample, or at least 20-30 respondents, drawn from the same population but excluded from the main study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The pilot tests comprehension, timing, flow, skip logic, coding and the analysis plan — run your intended analysis on pilot data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Electronic capture (KoBoToolbox, REDCap, ODK, CommCare) enforces ranges and skip logic at the point of entry and removes a transcription step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Piloting and data capture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Paper remains appropriate where power, connectivity or literacy make devices impractical; plan double entry if so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Build validation rules: allowed ranges, required fields, logical consistency checks between related items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Train and standardise data collectors, then check inter-rater agreement rather than assuming it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Anonymise at collection where possible, keeping any identifier link in a separate secured file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8  ·  WORKED EXAMPLE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A questionnaire item pulled apart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645920"/>
            <a:ext cx="8010144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i="1" dirty="0">
                <a:solidFill>
                  <a:srgbClr val="5F6B76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A draft patient satisfaction survey includes: "How satisfied were you with the cost and quality of care? (Very satisfied / Satisfied / Dissatisfied)"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86384" y="2523744"/>
            <a:ext cx="74066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Double-barrelled: a patient happy with quality but not cost cannot answer truthfully.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The response options are unbalanced — two positive, one negative — which pushes answers upward.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There is no neutral option and no "not applicable", so someone who paid nothing must still choose.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Split into two items, each with a balanced 5-point scale from Very dissatisfied to Very satisfied.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Add "Not applicable" to the cost item for patients covered by the NHIS.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Pilot on 20 patients and ask them to say aloud what they thought each item meant.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8  ·  WORKED EXAMPLE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What a translated instrument really requires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645920"/>
            <a:ext cx="8010144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i="1" dirty="0">
                <a:solidFill>
                  <a:srgbClr val="5F6B76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A validated English depression scale is to be used with Twi-speaking participants. The student translates it herself the week before fieldwork.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86384" y="2523744"/>
            <a:ext cx="74066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Forward translation by two independent bilingual translators, working separately.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Reconciliation of the two versions by a panel, resolving each difference deliberately.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Back translation into English by a third translator who has never seen the original.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Compare back translation with the original; where meaning has drifted, revise and repeat.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Cognitive interviewing with 5-10 target participants: ask what each item means to them in their own words.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Re-check reliability in the new population — the original Cronbach's alpha does not transfer.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Key terms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Operationalisation — Specifying the observable indicators and procedures by which an abstract construct will be measured.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Construct validity — Evidence that an instrument measures the theoretical concept it claims to measure.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Cronbach's alpha — A coefficient of internal consistency among the items of a scale.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Cohen's kappa — A measure of agreement between raters that corrects for agreement expected by chance.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Key terms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Skip logic — Rules routing a respondent past items that do not apply to them.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Double entry — Entering paper data twice independently and reconciling differences to catch transcription error.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024128"/>
            <a:ext cx="6766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spc="240" kern="0" dirty="0">
                <a:solidFill>
                  <a:srgbClr val="C8A67B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Over to you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85800" y="1700784"/>
            <a:ext cx="68580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Activity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85800" y="2487168"/>
            <a:ext cx="69494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450" dirty="0">
                <a:solidFill>
                  <a:srgbClr val="C4CCD4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Take one construct from your study and write three candidate items for it. Exchange with a partner, who must identify any double-barrelled, leading or ambiguous wording and check the response options are exhaustive and mutually exclusive. Then state which reliability evidence you would report and why.</a:t>
            </a:r>
            <a:endParaRPr lang="en-US" sz="14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onstant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orbe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Institute of Computational Biology and Bioinformatics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ICBB-RM101 — Unit 8: Data Collection, Instruments and Measurement</dc:title>
  <dc:subject>Research Methods: Quantitative &amp; Qualitative Design</dc:subject>
  <dc:creator>Jesse Anak</dc:creator>
  <cp:lastModifiedBy>Jesse Anak</cp:lastModifiedBy>
  <cp:revision>1</cp:revision>
  <dcterms:created xsi:type="dcterms:W3CDTF">2026-08-19T07:53:50Z</dcterms:created>
  <dcterms:modified xsi:type="dcterms:W3CDTF">2026-08-19T07:53:50Z</dcterms:modified>
</cp:coreProperties>
</file>