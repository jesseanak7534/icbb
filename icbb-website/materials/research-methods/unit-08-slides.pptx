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8: Data Collection, Instruments and Measurement
Duration: 120 minutes
Objectives:
- Operationalise a construct into measurable variables and indicators
- Identify levels of measurement and their analytical consequences
- Design questionnaire items that avoid the common wording faults
- Distinguish the main types of validity and reliability and how each is evidenced
- Plan and report a pilot study
- Choose between paper and electronic data capture and set up basic data quality controls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Every faulty item produces data you cannot interpret, and no analysis later can repair it. An hour spent on wording saves the whole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A self-translated instrument has unknown validity, which means the study built on it does too. This is one of the most common fatal flaws in multilingual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8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Collection, Instruments and Measurement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Turning abstract constructs into things you can actually record, and the validity and reliability evidence needed before anyone believes the numbers your instrument produces.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Operationalise a construct into measurable variables and indicators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Identify levels of measurement and their analytical consequences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Design questionnaire items that avoid the common wording faults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Distinguish the main types of validity and reliability and how each is evidenced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Plan and report a pilot study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Choose between paper and electronic data capture and set up basic data quality controls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From construct to variable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 construct is an abstraction — stigma, food insecurity, quality of care — that cannot be observed directly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Operationalisation defines the observable indicators that will stand for it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 conceptual definition says what you mean; an operational definition says exactly how it will be measured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Prefer an existing validated instrument over inventing your own — validation takes a study of its own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From construct to variable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If you adapt an instrument, report what you changed and re-examine its reliability in your population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Instruments validated elsewhere may behave differently after translation or in a different culture, and should be re-tested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Translation requires forward translation, back translation by an independent translator, reconciliation by a panel, and cognitive interviewing with a few target participants. Translating a questionnaire yourself the night before is the single most common source of unusable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Levels of measurement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Nominal — unordered categories (blood group, district); only counts and proportions are meaningful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Ordinal — ordered categories with unequal or unknown intervals (Likert responses, disease stage)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Interval — equal intervals but no true zero (temperature in Celsius)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Ratio — equal intervals with a true zero (weight, income, count of visits)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The level determines which summary statistics and which tests are legitimate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Levels of measurement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Record data at the finest level available: exact age can always be collapsed into bands later, but bands can never be recovered into exact ages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Writing good items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One idea per item — "Was the staff friendly and efficient?" is double-barrelled and unanswerable if one was and one was not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Avoid leading wording, loaded terms and negatives, especially double negatives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Match vocabulary to the least literate respondent you expect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Make response options exhaustive and mutually exclusive; check for gaps and overlaps in age bands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Offer "don't know" and "prefer not to answer" where forcing a choice would fabricate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Writing good items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Decide deliberately whether a Likert scale has a midpoint — removing it forces a direction, which may or may not be what you want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Order matters: put sensitive items late, once rapport exists, and beware of earlier items priming later 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Validity and reliability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Face validity — does it look appropriate? The weakest form, but worth checking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Content validity — does it cover the whole construct? Established by expert panel, often with a content validity index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Construct validity — does it behave as theory predicts? Evidenced by convergent and discriminant correlations and factor analysis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Criterion validity — does it agree with a gold standard, concurrently or predictively?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Validity and reliability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Internal consistency — do items measure the same thing? Cronbach's alpha, where roughly 0.70-0.95 is acceptable and above 0.95 suggests redundant items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Test-retest reliability — does it give the same answer on a stable characteristic over a short interval?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Inter-rater reliability — do different observers agree? Reported as Cohen's kappa or an intraclass correlation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An instrument can be reliable but not valid — consistently measuring the wrong thing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Which evidence to report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Rough benchmark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Internal consistency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Cronbach's alpha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0.70 - 0.95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Test-retest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ICC or Pearson r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0.70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Inter-rater agreement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Cohen's kappa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0.60 substantial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Content validity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CVI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0.78 per item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Construct validity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Factor loadings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0.40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Piloting and data capture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Pilot on 10% of the intended sample, or at least 20-30 respondents, drawn from the same population but excluded from the main study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pilot tests comprehension, timing, flow, skip logic, coding and the analysis plan — run your intended analysis on pilot data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Electronic capture (KoBoToolbox, REDCap, ODK, CommCare) enforces ranges and skip logic at the point of entry and removes a transcription step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Piloting and data capture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Paper remains appropriate where power, connectivity or literacy make devices impractical; plan double entry if so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Build validation rules: allowed ranges, required fields, logical consistency checks between related items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Train and standardise data collectors, then check inter-rater agreement rather than assuming it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Anonymise at collection where possible, keeping any identifier link in a separate secured file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8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A questionnaire item pulled apart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draft patient satisfaction survey includes: "How satisfied were you with the cost and quality of care? (Very satisfied / Satisfied / Dissatisfied)"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Double-barrelled: a patient happy with quality but not cost cannot answer truthfully.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response options are unbalanced — two positive, one negative — which pushes answers upward.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There is no neutral option and no "not applicable", so someone who paid nothing must still choose.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Split into two items, each with a balanced 5-point scale from Very dissatisfied to Very satisfied.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Add "Not applicable" to the cost item for patients covered by the NHIS.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Pilot on 20 patients and ask them to say aloud what they thought each item meant.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8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What a translated instrument really requires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validated English depression scale is to be used with Twi-speaking participants. The student translates it herself the week before fieldwork.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Forward translation by two independent bilingual translators, working separately.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Reconciliation of the two versions by a panel, resolving each difference deliberately.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Back translation into English by a third translator who has never seen the original.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Compare back translation with the original; where meaning has drifted, revise and repeat.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Cognitive interviewing with 5-10 target participants: ask what each item means to them in their own words.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Re-check reliability in the new population — the original Cronbach's alpha does not transfer.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Operationalisation — Specifying the observable indicators and procedures by which an abstract construct will be measured.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Construct validity — Evidence that an instrument measures the theoretical concept it claims to measure.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Cronbach's alpha — A coefficient of internal consistency among the items of a scale.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Cohen's kappa — A measure of agreement between raters that corrects for agreement expected by chance.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Skip logic — Rules routing a respondent past items that do not apply to them.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Double entry — Entering paper data twice independently and reconciling differences to catch transcription error.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Take one construct from your study and write three candidate items for it. Exchange with a partner, who must identify any double-barrelled, leading or ambiguous wording and check the response options are exhaustive and mutually exclusive. Then state which reliability evidence you would report and why.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8: Data Collection, Instruments and Measurement</dc:title>
  <dc:subject>Research Methods: Quantitative &amp; Qualitative Design</dc:subject>
  <dc:creator>Jesse Anak</dc:creator>
  <cp:lastModifiedBy>Jesse Anak</cp:lastModifiedBy>
  <cp:revision>1</cp:revision>
  <dcterms:created xsi:type="dcterms:W3CDTF">2026-08-18T23:58:59Z</dcterms:created>
  <dcterms:modified xsi:type="dcterms:W3CDTF">2026-08-18T23:58:59Z</dcterms:modified>
</cp:coreProperties>
</file>