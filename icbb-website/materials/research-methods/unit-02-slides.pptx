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Unit 2: The Research Problem, Questions and Objectives
Duration: 90 minutes
Objectives:
- Write a problem statement that establishes magnitude, consequence and gap
- Convert a broad topic into a focused, answerable research question
- Apply FINER and PICO to test whether a question is worth asking
- Distinguish aims, objectives, research questions and hypotheses
- Draw a conceptual framework linking your key variables or concepts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these at the start, and return to them at the end of the unit.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point: The test of a finished question is that it dictates the analysis. If two people would analyse your data differently, the question is not specific yet.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point: Map every objective to the specific analysis that will answer it before submitting the proposal. An unanswerable objective costs nothing to fix now and a chapter of trouble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Allow 10-15 minutes, then take feedback from two or three pairs.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CBB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90288"/>
            <a:ext cx="8010144" cy="10973"/>
          </a:xfrm>
          <a:prstGeom prst="rect">
            <a:avLst/>
          </a:prstGeom>
          <a:solidFill>
            <a:srgbClr val="D8D3C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38000"/>
          </a:blip>
          <a:stretch>
            <a:fillRect/>
          </a:stretch>
        </p:blipFill>
        <p:spPr>
          <a:xfrm>
            <a:off x="7973568" y="4709160"/>
            <a:ext cx="566928" cy="37490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" y="4700016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orbel"/>
                <a:ea typeface="Corbel"/>
                <a:cs typeface="Corbel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CBB_TITLE">
    <p:bg>
      <p:bgPr>
        <a:solidFill>
          <a:srgbClr val="1323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481328"/>
            <a:ext cx="1051560" cy="25603"/>
          </a:xfrm>
          <a:prstGeom prst="rect">
            <a:avLst/>
          </a:prstGeom>
          <a:solidFill>
            <a:srgbClr val="9A6A3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45000"/>
          </a:blip>
          <a:stretch>
            <a:fillRect/>
          </a:stretch>
        </p:blipFill>
        <p:spPr>
          <a:xfrm>
            <a:off x="7863840" y="4315968"/>
            <a:ext cx="676656" cy="448056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" y="4700016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orbel"/>
                <a:ea typeface="Corbel"/>
                <a:cs typeface="Corbel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024128"/>
            <a:ext cx="6766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spc="240" kern="0" dirty="0">
                <a:solidFill>
                  <a:srgbClr val="C8A67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ICBB-RM101   ·   Unit 2 of 10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85800" y="1700784"/>
            <a:ext cx="68580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300" dirty="0">
                <a:solidFill>
                  <a:srgbClr val="FFFFFF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The Research Problem, Questions and Objectives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3127248"/>
            <a:ext cx="63093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B9C2C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How to move from a broad interest to a question that is specific enough to answer, and how aims, objectives, hypotheses and conceptual frameworks fit together.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85800" y="440740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120" kern="0" dirty="0">
                <a:solidFill>
                  <a:srgbClr val="8894A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Jesse Anak   ·   ICBB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A6A3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UNIT 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1C3140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What you will be able to do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566928" cy="20117"/>
          </a:xfrm>
          <a:prstGeom prst="rect">
            <a:avLst/>
          </a:prstGeom>
          <a:solidFill>
            <a:srgbClr val="9A6A3C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664208"/>
            <a:ext cx="749808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8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Write a problem statement that establishes magnitude, consequence and gap</a:t>
            </a:r>
            <a:endParaRPr lang="en-US" sz="180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8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Convert a broad topic into a focused, answerable research question</a:t>
            </a:r>
            <a:endParaRPr lang="en-US" sz="180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8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Apply FINER and PICO to test whether a question is worth asking</a:t>
            </a:r>
            <a:endParaRPr lang="en-US" sz="180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8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Distinguish aims, objectives, research questions and hypotheses</a:t>
            </a:r>
            <a:endParaRPr lang="en-US" sz="180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8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Draw a conceptual framework linking your key variables or concepts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" y="4700016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orbel"/>
                <a:ea typeface="Corbel"/>
                <a:cs typeface="Corbel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A6A3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UNIT 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1C3140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The problem statement (1/2)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566928" cy="20117"/>
          </a:xfrm>
          <a:prstGeom prst="rect">
            <a:avLst/>
          </a:prstGeom>
          <a:solidFill>
            <a:srgbClr val="9A6A3C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664208"/>
            <a:ext cx="749808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 problem statement answers four things in order: what is the problem, how big is it, what follows if it is not addressed, and what is not yet known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Magnitude needs evidence — prevalence, incidence, cost, or documented reports, each cited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The gap is the pivot of the whole proposal: it must be a gap in knowledge, not merely a gap in your own reading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" y="4700016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orbel"/>
                <a:ea typeface="Corbel"/>
                <a:cs typeface="Corbel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A6A3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UNIT 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1C3140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The problem statement (2/2)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566928" cy="20117"/>
          </a:xfrm>
          <a:prstGeom prst="rect">
            <a:avLst/>
          </a:prstGeom>
          <a:solidFill>
            <a:srgbClr val="9A6A3C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664208"/>
            <a:ext cx="749808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3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 gap can be empirical (nobody has measured this), methodological (measured badly), theoretical (no adequate explanation) or contextual (established elsewhere but never tested here)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3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Contextual gaps are legitimate and are often the strongest basis for research in Ghana and across Africa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" y="4700016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orbel"/>
                <a:ea typeface="Corbel"/>
                <a:cs typeface="Corbel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A6A3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UNIT 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1C3140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In practice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566928" cy="20117"/>
          </a:xfrm>
          <a:prstGeom prst="rect">
            <a:avLst/>
          </a:prstGeom>
          <a:solidFill>
            <a:srgbClr val="9A6A3C"/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1664208"/>
            <a:ext cx="8010144" cy="2395728"/>
          </a:xfrm>
          <a:prstGeom prst="rect">
            <a:avLst/>
          </a:prstGeom>
          <a:solidFill>
            <a:srgbClr val="F6F4F0"/>
          </a:solidFill>
          <a:ln/>
        </p:spPr>
      </p:sp>
      <p:sp>
        <p:nvSpPr>
          <p:cNvPr id="6" name="Text 4"/>
          <p:cNvSpPr/>
          <p:nvPr/>
        </p:nvSpPr>
        <p:spPr>
          <a:xfrm>
            <a:off x="932688" y="1847088"/>
            <a:ext cx="7278624" cy="2029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600" i="1" dirty="0">
                <a:solidFill>
                  <a:srgbClr val="1C3140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"No study has been done in my district" is only a gap if there is reason to expect the local answer might differ. Say why it might — different health system, different exposure, different population structure.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" y="4700016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orbel"/>
                <a:ea typeface="Corbel"/>
                <a:cs typeface="Corbel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A6A3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UNIT 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1C3140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From topic to question (1/2)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566928" cy="20117"/>
          </a:xfrm>
          <a:prstGeom prst="rect">
            <a:avLst/>
          </a:prstGeom>
          <a:solidFill>
            <a:srgbClr val="9A6A3C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664208"/>
            <a:ext cx="749808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3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Narrow along four axes: population, concept or exposure, outcome, and setting or time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3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"Malaria in children" is a topic; "Does distance to a health facility predict delayed treatment for malaria in under-fives in the Upper East Region?" is a question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3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 good question is answerable with the data and time you actually have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3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If you cannot name the analysis that would answer it, the question is not yet specific enough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" y="4700016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orbel"/>
                <a:ea typeface="Corbel"/>
                <a:cs typeface="Corbel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A6A3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UNIT 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1C3140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From topic to question (2/2)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566928" cy="20117"/>
          </a:xfrm>
          <a:prstGeom prst="rect">
            <a:avLst/>
          </a:prstGeom>
          <a:solidFill>
            <a:srgbClr val="9A6A3C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664208"/>
            <a:ext cx="749808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Quantitative questions specify variables and their relationship; qualitative questions specify experience, process or meaning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" y="4700016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orbel"/>
                <a:ea typeface="Corbel"/>
                <a:cs typeface="Corbel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A6A3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UNIT 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1C3140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Testing the question: FINER and PICO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566928" cy="20117"/>
          </a:xfrm>
          <a:prstGeom prst="rect">
            <a:avLst/>
          </a:prstGeom>
          <a:solidFill>
            <a:srgbClr val="9A6A3C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664208"/>
            <a:ext cx="749808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FINER — Feasible, Interesting, Novel, Ethical, Relevant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Feasibility is the most commonly overlooked: participants, time, funding, skills and access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PICO structures comparative quantitative questions: Population, Intervention or exposure, Comparison, Outcome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Add T for timeframe (PICOT) when duration matters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For qualitative work, SPIDER is a better fit: Sample, Phenomenon of Interest, Design, Evaluation, Research type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" y="4700016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orbel"/>
                <a:ea typeface="Corbel"/>
                <a:cs typeface="Corbel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A6A3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UNIT 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1C3140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Framing the same topic three ways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566928" cy="20117"/>
          </a:xfrm>
          <a:prstGeom prst="rect">
            <a:avLst/>
          </a:prstGeom>
          <a:solidFill>
            <a:srgbClr val="9A6A3C"/>
          </a:solidFill>
          <a:ln/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27632"/>
          <a:ext cx="8010144" cy="914400"/>
        </p:xfrm>
        <a:graphic>
          <a:graphicData uri="http://schemas.openxmlformats.org/drawingml/2006/table">
            <a:tbl>
              <a:tblPr/>
              <a:tblGrid>
                <a:gridCol w="2670048"/>
                <a:gridCol w="2670048"/>
                <a:gridCol w="267004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3140"/>
                          </a:solidFill>
                          <a:latin typeface="Corbel" pitchFamily="34" charset="0"/>
                          <a:ea typeface="Corbel" pitchFamily="34" charset="-122"/>
                          <a:cs typeface="Corbel" pitchFamily="34" charset="-120"/>
                        </a:rPr>
                        <a:t>Element</a:t>
                      </a:r>
                      <a:endParaRPr lang="en-US" sz="1100" dirty="0">
                        <a:latin typeface="Corbel" charset="0"/>
                        <a:ea typeface="Corbel" charset="0"/>
                        <a:cs typeface="Corbel" charset="0"/>
                      </a:endParaRPr>
                    </a:p>
                  </a:txBody>
                  <a:tcPr marL="76200" marR="76200" marT="76200" marB="76200" anchor="t">
                    <a:lnL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3140"/>
                          </a:solidFill>
                          <a:latin typeface="Corbel" pitchFamily="34" charset="0"/>
                          <a:ea typeface="Corbel" pitchFamily="34" charset="-122"/>
                          <a:cs typeface="Corbel" pitchFamily="34" charset="-120"/>
                        </a:rPr>
                        <a:t>Quantitative (PICO)</a:t>
                      </a:r>
                      <a:endParaRPr lang="en-US" sz="1100" dirty="0">
                        <a:latin typeface="Corbel" charset="0"/>
                        <a:ea typeface="Corbel" charset="0"/>
                        <a:cs typeface="Corbel" charset="0"/>
                      </a:endParaRPr>
                    </a:p>
                  </a:txBody>
                  <a:tcPr marL="76200" marR="76200" marT="76200" marB="76200" anchor="t">
                    <a:lnL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3140"/>
                          </a:solidFill>
                          <a:latin typeface="Corbel" pitchFamily="34" charset="0"/>
                          <a:ea typeface="Corbel" pitchFamily="34" charset="-122"/>
                          <a:cs typeface="Corbel" pitchFamily="34" charset="-120"/>
                        </a:rPr>
                        <a:t>Qualitative (SPIDER)</a:t>
                      </a:r>
                      <a:endParaRPr lang="en-US" sz="1100" dirty="0">
                        <a:latin typeface="Corbel" charset="0"/>
                        <a:ea typeface="Corbel" charset="0"/>
                        <a:cs typeface="Corbel" charset="0"/>
                      </a:endParaRPr>
                    </a:p>
                  </a:txBody>
                  <a:tcPr marL="76200" marR="76200" marT="76200" marB="76200" anchor="t">
                    <a:lnL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82E"/>
                          </a:solidFill>
                          <a:latin typeface="Corbel" pitchFamily="34" charset="0"/>
                          <a:ea typeface="Corbel" pitchFamily="34" charset="-122"/>
                          <a:cs typeface="Corbel" pitchFamily="34" charset="-120"/>
                        </a:rPr>
                        <a:t>Who</a:t>
                      </a:r>
                      <a:endParaRPr lang="en-US" sz="1100" dirty="0">
                        <a:latin typeface="Corbel" charset="0"/>
                        <a:ea typeface="Corbel" charset="0"/>
                        <a:cs typeface="Corbel" charset="0"/>
                      </a:endParaRPr>
                    </a:p>
                  </a:txBody>
                  <a:tcPr marL="76200" marR="76200" marT="76200" marB="76200" anchor="t">
                    <a:lnL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82E"/>
                          </a:solidFill>
                          <a:latin typeface="Corbel" pitchFamily="34" charset="0"/>
                          <a:ea typeface="Corbel" pitchFamily="34" charset="-122"/>
                          <a:cs typeface="Corbel" pitchFamily="34" charset="-120"/>
                        </a:rPr>
                        <a:t>Under-fives with confirmed malaria</a:t>
                      </a:r>
                      <a:endParaRPr lang="en-US" sz="1100" dirty="0">
                        <a:latin typeface="Corbel" charset="0"/>
                        <a:ea typeface="Corbel" charset="0"/>
                        <a:cs typeface="Corbel" charset="0"/>
                      </a:endParaRPr>
                    </a:p>
                  </a:txBody>
                  <a:tcPr marL="76200" marR="76200" marT="76200" marB="76200" anchor="t">
                    <a:lnL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82E"/>
                          </a:solidFill>
                          <a:latin typeface="Corbel" pitchFamily="34" charset="0"/>
                          <a:ea typeface="Corbel" pitchFamily="34" charset="-122"/>
                          <a:cs typeface="Corbel" pitchFamily="34" charset="-120"/>
                        </a:rPr>
                        <a:t>Caregivers of under-fives treated for malaria</a:t>
                      </a:r>
                      <a:endParaRPr lang="en-US" sz="1100" dirty="0">
                        <a:latin typeface="Corbel" charset="0"/>
                        <a:ea typeface="Corbel" charset="0"/>
                        <a:cs typeface="Corbel" charset="0"/>
                      </a:endParaRPr>
                    </a:p>
                  </a:txBody>
                  <a:tcPr marL="76200" marR="76200" marT="76200" marB="76200" anchor="t">
                    <a:lnL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82E"/>
                          </a:solidFill>
                          <a:latin typeface="Corbel" pitchFamily="34" charset="0"/>
                          <a:ea typeface="Corbel" pitchFamily="34" charset="-122"/>
                          <a:cs typeface="Corbel" pitchFamily="34" charset="-120"/>
                        </a:rPr>
                        <a:t>What</a:t>
                      </a:r>
                      <a:endParaRPr lang="en-US" sz="1100" dirty="0">
                        <a:latin typeface="Corbel" charset="0"/>
                        <a:ea typeface="Corbel" charset="0"/>
                        <a:cs typeface="Corbel" charset="0"/>
                      </a:endParaRPr>
                    </a:p>
                  </a:txBody>
                  <a:tcPr marL="76200" marR="76200" marT="76200" marB="76200" anchor="t">
                    <a:lnL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82E"/>
                          </a:solidFill>
                          <a:latin typeface="Corbel" pitchFamily="34" charset="0"/>
                          <a:ea typeface="Corbel" pitchFamily="34" charset="-122"/>
                          <a:cs typeface="Corbel" pitchFamily="34" charset="-120"/>
                        </a:rPr>
                        <a:t>Distance greater than 5 km to facility</a:t>
                      </a:r>
                      <a:endParaRPr lang="en-US" sz="1100" dirty="0">
                        <a:latin typeface="Corbel" charset="0"/>
                        <a:ea typeface="Corbel" charset="0"/>
                        <a:cs typeface="Corbel" charset="0"/>
                      </a:endParaRPr>
                    </a:p>
                  </a:txBody>
                  <a:tcPr marL="76200" marR="76200" marT="76200" marB="76200" anchor="t">
                    <a:lnL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82E"/>
                          </a:solidFill>
                          <a:latin typeface="Corbel" pitchFamily="34" charset="0"/>
                          <a:ea typeface="Corbel" pitchFamily="34" charset="-122"/>
                          <a:cs typeface="Corbel" pitchFamily="34" charset="-120"/>
                        </a:rPr>
                        <a:t>Experience of seeking and delaying care</a:t>
                      </a:r>
                      <a:endParaRPr lang="en-US" sz="1100" dirty="0">
                        <a:latin typeface="Corbel" charset="0"/>
                        <a:ea typeface="Corbel" charset="0"/>
                        <a:cs typeface="Corbel" charset="0"/>
                      </a:endParaRPr>
                    </a:p>
                  </a:txBody>
                  <a:tcPr marL="76200" marR="76200" marT="76200" marB="76200" anchor="t">
                    <a:lnL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82E"/>
                          </a:solidFill>
                          <a:latin typeface="Corbel" pitchFamily="34" charset="0"/>
                          <a:ea typeface="Corbel" pitchFamily="34" charset="-122"/>
                          <a:cs typeface="Corbel" pitchFamily="34" charset="-120"/>
                        </a:rPr>
                        <a:t>Compared with</a:t>
                      </a:r>
                      <a:endParaRPr lang="en-US" sz="1100" dirty="0">
                        <a:latin typeface="Corbel" charset="0"/>
                        <a:ea typeface="Corbel" charset="0"/>
                        <a:cs typeface="Corbel" charset="0"/>
                      </a:endParaRPr>
                    </a:p>
                  </a:txBody>
                  <a:tcPr marL="76200" marR="76200" marT="76200" marB="76200" anchor="t">
                    <a:lnL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82E"/>
                          </a:solidFill>
                          <a:latin typeface="Corbel" pitchFamily="34" charset="0"/>
                          <a:ea typeface="Corbel" pitchFamily="34" charset="-122"/>
                          <a:cs typeface="Corbel" pitchFamily="34" charset="-120"/>
                        </a:rPr>
                        <a:t>Distance of 5 km or less</a:t>
                      </a:r>
                      <a:endParaRPr lang="en-US" sz="1100" dirty="0">
                        <a:latin typeface="Corbel" charset="0"/>
                        <a:ea typeface="Corbel" charset="0"/>
                        <a:cs typeface="Corbel" charset="0"/>
                      </a:endParaRPr>
                    </a:p>
                  </a:txBody>
                  <a:tcPr marL="76200" marR="76200" marT="76200" marB="76200" anchor="t">
                    <a:lnL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82E"/>
                          </a:solidFill>
                          <a:latin typeface="Corbel" pitchFamily="34" charset="0"/>
                          <a:ea typeface="Corbel" pitchFamily="34" charset="-122"/>
                          <a:cs typeface="Corbel" pitchFamily="34" charset="-120"/>
                        </a:rPr>
                        <a:t>Not applicable</a:t>
                      </a:r>
                      <a:endParaRPr lang="en-US" sz="1100" dirty="0">
                        <a:latin typeface="Corbel" charset="0"/>
                        <a:ea typeface="Corbel" charset="0"/>
                        <a:cs typeface="Corbel" charset="0"/>
                      </a:endParaRPr>
                    </a:p>
                  </a:txBody>
                  <a:tcPr marL="76200" marR="76200" marT="76200" marB="76200" anchor="t">
                    <a:lnL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82E"/>
                          </a:solidFill>
                          <a:latin typeface="Corbel" pitchFamily="34" charset="0"/>
                          <a:ea typeface="Corbel" pitchFamily="34" charset="-122"/>
                          <a:cs typeface="Corbel" pitchFamily="34" charset="-120"/>
                        </a:rPr>
                        <a:t>Outcome</a:t>
                      </a:r>
                      <a:endParaRPr lang="en-US" sz="1100" dirty="0">
                        <a:latin typeface="Corbel" charset="0"/>
                        <a:ea typeface="Corbel" charset="0"/>
                        <a:cs typeface="Corbel" charset="0"/>
                      </a:endParaRPr>
                    </a:p>
                  </a:txBody>
                  <a:tcPr marL="76200" marR="76200" marT="76200" marB="76200" anchor="t">
                    <a:lnL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82E"/>
                          </a:solidFill>
                          <a:latin typeface="Corbel" pitchFamily="34" charset="0"/>
                          <a:ea typeface="Corbel" pitchFamily="34" charset="-122"/>
                          <a:cs typeface="Corbel" pitchFamily="34" charset="-120"/>
                        </a:rPr>
                        <a:t>Treatment delayed beyond 24 hours</a:t>
                      </a:r>
                      <a:endParaRPr lang="en-US" sz="1100" dirty="0">
                        <a:latin typeface="Corbel" charset="0"/>
                        <a:ea typeface="Corbel" charset="0"/>
                        <a:cs typeface="Corbel" charset="0"/>
                      </a:endParaRPr>
                    </a:p>
                  </a:txBody>
                  <a:tcPr marL="76200" marR="76200" marT="76200" marB="76200" anchor="t">
                    <a:lnL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82E"/>
                          </a:solidFill>
                          <a:latin typeface="Corbel" pitchFamily="34" charset="0"/>
                          <a:ea typeface="Corbel" pitchFamily="34" charset="-122"/>
                          <a:cs typeface="Corbel" pitchFamily="34" charset="-120"/>
                        </a:rPr>
                        <a:t>How caregivers account for delay</a:t>
                      </a:r>
                      <a:endParaRPr lang="en-US" sz="1100" dirty="0">
                        <a:latin typeface="Corbel" charset="0"/>
                        <a:ea typeface="Corbel" charset="0"/>
                        <a:cs typeface="Corbel" charset="0"/>
                      </a:endParaRPr>
                    </a:p>
                  </a:txBody>
                  <a:tcPr marL="76200" marR="76200" marT="76200" marB="76200" anchor="t">
                    <a:lnL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82E"/>
                          </a:solidFill>
                          <a:latin typeface="Corbel" pitchFamily="34" charset="0"/>
                          <a:ea typeface="Corbel" pitchFamily="34" charset="-122"/>
                          <a:cs typeface="Corbel" pitchFamily="34" charset="-120"/>
                        </a:rPr>
                        <a:t>Analysis implied</a:t>
                      </a:r>
                      <a:endParaRPr lang="en-US" sz="1100" dirty="0">
                        <a:latin typeface="Corbel" charset="0"/>
                        <a:ea typeface="Corbel" charset="0"/>
                        <a:cs typeface="Corbel" charset="0"/>
                      </a:endParaRPr>
                    </a:p>
                  </a:txBody>
                  <a:tcPr marL="76200" marR="76200" marT="76200" marB="76200" anchor="t">
                    <a:lnL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82E"/>
                          </a:solidFill>
                          <a:latin typeface="Corbel" pitchFamily="34" charset="0"/>
                          <a:ea typeface="Corbel" pitchFamily="34" charset="-122"/>
                          <a:cs typeface="Corbel" pitchFamily="34" charset="-120"/>
                        </a:rPr>
                        <a:t>Logistic regression, odds ratio</a:t>
                      </a:r>
                      <a:endParaRPr lang="en-US" sz="1100" dirty="0">
                        <a:latin typeface="Corbel" charset="0"/>
                        <a:ea typeface="Corbel" charset="0"/>
                        <a:cs typeface="Corbel" charset="0"/>
                      </a:endParaRPr>
                    </a:p>
                  </a:txBody>
                  <a:tcPr marL="76200" marR="76200" marT="76200" marB="76200" anchor="t">
                    <a:lnL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82E"/>
                          </a:solidFill>
                          <a:latin typeface="Corbel" pitchFamily="34" charset="0"/>
                          <a:ea typeface="Corbel" pitchFamily="34" charset="-122"/>
                          <a:cs typeface="Corbel" pitchFamily="34" charset="-120"/>
                        </a:rPr>
                        <a:t>Thematic analysis of interviews</a:t>
                      </a:r>
                      <a:endParaRPr lang="en-US" sz="1100" dirty="0">
                        <a:latin typeface="Corbel" charset="0"/>
                        <a:ea typeface="Corbel" charset="0"/>
                        <a:cs typeface="Corbel" charset="0"/>
                      </a:endParaRPr>
                    </a:p>
                  </a:txBody>
                  <a:tcPr marL="76200" marR="76200" marT="76200" marB="76200" anchor="t">
                    <a:lnL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" y="4700016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orbel"/>
                <a:ea typeface="Corbel"/>
                <a:cs typeface="Corbel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A6A3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UNIT 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1C3140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Aims, objectives and hypotheses (1/2)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566928" cy="20117"/>
          </a:xfrm>
          <a:prstGeom prst="rect">
            <a:avLst/>
          </a:prstGeom>
          <a:solidFill>
            <a:srgbClr val="9A6A3C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664208"/>
            <a:ext cx="749808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The aim is one sentence stating the overall purpose — usually beginning "To determine…", "To explore…", "To evaluate…"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Objectives break the aim into specific, ordered, measurable steps, each starting with an action verb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Three to five objectives is usual; more than six normally signals an unfocused study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 hypothesis is a testable statement of an expected relationship, stated for quantitative work only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" y="4700016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orbel"/>
                <a:ea typeface="Corbel"/>
                <a:cs typeface="Corbel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A6A3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UNIT 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1C3140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Aims, objectives and hypotheses (2/2)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566928" cy="20117"/>
          </a:xfrm>
          <a:prstGeom prst="rect">
            <a:avLst/>
          </a:prstGeom>
          <a:solidFill>
            <a:srgbClr val="9A6A3C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664208"/>
            <a:ext cx="749808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The null hypothesis states no difference or no association; the alternative states the expected effect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Qualitative studies state research questions rather than hypotheses, because they do not set out to test a prediction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" y="4700016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orbel"/>
                <a:ea typeface="Corbel"/>
                <a:cs typeface="Corbel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A6A3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UNIT 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1C3140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In practice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566928" cy="20117"/>
          </a:xfrm>
          <a:prstGeom prst="rect">
            <a:avLst/>
          </a:prstGeom>
          <a:solidFill>
            <a:srgbClr val="9A6A3C"/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1664208"/>
            <a:ext cx="8010144" cy="2395728"/>
          </a:xfrm>
          <a:prstGeom prst="rect">
            <a:avLst/>
          </a:prstGeom>
          <a:solidFill>
            <a:srgbClr val="F6F4F0"/>
          </a:solidFill>
          <a:ln/>
        </p:spPr>
      </p:sp>
      <p:sp>
        <p:nvSpPr>
          <p:cNvPr id="6" name="Text 4"/>
          <p:cNvSpPr/>
          <p:nvPr/>
        </p:nvSpPr>
        <p:spPr>
          <a:xfrm>
            <a:off x="932688" y="1847088"/>
            <a:ext cx="7278624" cy="2029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600" i="1" dirty="0">
                <a:solidFill>
                  <a:srgbClr val="1C3140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Objectives must map one-to-one onto your analysis plan and, later, onto your results section. If an objective produces no result, or a result answers no objective, something has gone wrong.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" y="4700016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orbel"/>
                <a:ea typeface="Corbel"/>
                <a:cs typeface="Corbel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A6A3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UNIT 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1C3140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Conceptual and theoretical frameworks (1/2)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566928" cy="20117"/>
          </a:xfrm>
          <a:prstGeom prst="rect">
            <a:avLst/>
          </a:prstGeom>
          <a:solidFill>
            <a:srgbClr val="9A6A3C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664208"/>
            <a:ext cx="749808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3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 theoretical framework borrows an existing theory (Health Belief Model, Theory of Planned Behaviour, Social Cognitive Theory) to explain your phenomenon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3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 conceptual framework is your own diagram of how the variables in your study relate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3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It should distinguish independent, dependent, mediating, moderating and confounding variables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3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Drawing it early exposes variables you would otherwise forget to measure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" y="4700016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orbel"/>
                <a:ea typeface="Corbel"/>
                <a:cs typeface="Corbel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A6A3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UNIT 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1C3140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Conceptual and theoretical frameworks (2/2)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566928" cy="20117"/>
          </a:xfrm>
          <a:prstGeom prst="rect">
            <a:avLst/>
          </a:prstGeom>
          <a:solidFill>
            <a:srgbClr val="9A6A3C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664208"/>
            <a:ext cx="749808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6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The framework is also what tells you which variables must be adjusted for in analysis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" y="4700016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orbel"/>
                <a:ea typeface="Corbel"/>
                <a:cs typeface="Corbel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A6A3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UNIT 2  ·  WORKED EXAMPLE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1C3140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Narrowing a topic until it can actually be answered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566928" cy="20117"/>
          </a:xfrm>
          <a:prstGeom prst="rect">
            <a:avLst/>
          </a:prstGeom>
          <a:solidFill>
            <a:srgbClr val="9A6A3C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645920"/>
            <a:ext cx="801014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300" i="1" dirty="0">
                <a:solidFill>
                  <a:srgbClr val="5F6B76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A student arrives with the topic "mental health of students in Ghana". It is a real problem, but as written it cannot be studied.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86384" y="2523744"/>
            <a:ext cx="74066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Population: which students? Settle on final-year nursing students at one university.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Exposure or concept: what about them? Choose academic workload, measured in timetabled contact hours.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Outcome: what will you measure? Depressive symptoms on the PHQ-9.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Setting and time: one campus, one semester.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The question becomes: "Is timetabled workload associated with PHQ-9 score among final-year nursing students at [University] in the 2026 second semester?"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Now name the analysis: linear regression of PHQ-9 score on contact hours, adjusted for age, sex and financial stress. If you cannot name it, the question is still too vague.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" y="4700016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orbel"/>
                <a:ea typeface="Corbel"/>
                <a:cs typeface="Corbel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A6A3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UNIT 2  ·  WORKED EXAMPLE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1C3140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An objective that produces no result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566928" cy="20117"/>
          </a:xfrm>
          <a:prstGeom prst="rect">
            <a:avLst/>
          </a:prstGeom>
          <a:solidFill>
            <a:srgbClr val="9A6A3C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645920"/>
            <a:ext cx="801014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300" i="1" dirty="0">
                <a:solidFill>
                  <a:srgbClr val="5F6B76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A proposal lists four objectives. The third is "to explore the perceptions of health workers". The study is a cross-sectional survey with a closed-response questionnaire.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86384" y="2523744"/>
            <a:ext cx="74066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"Explore perceptions" implies qualitative work — interviews or focus groups.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The instrument collects no free text, so nothing in the data can answer this objective.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At write-up the student will either drop the objective, or pad the results with a frequency table that does not address it.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Either outcome invites the examiner question: why did you state an objective you never met?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The fix at proposal stage is cheap: rewrite it as "to describe health workers' reported barriers", or add a qualitative strand and design for it.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" y="4700016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orbel"/>
                <a:ea typeface="Corbel"/>
                <a:cs typeface="Corbel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A6A3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UNIT 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1C3140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Key terms (1/2)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566928" cy="20117"/>
          </a:xfrm>
          <a:prstGeom prst="rect">
            <a:avLst/>
          </a:prstGeom>
          <a:solidFill>
            <a:srgbClr val="9A6A3C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664208"/>
            <a:ext cx="749808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6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Research gap — A specific limitation in existing knowledge that the proposed study will address.</a:t>
            </a:r>
            <a:endParaRPr lang="en-US" sz="165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6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Aim — A single statement of the overall purpose of the study.</a:t>
            </a:r>
            <a:endParaRPr lang="en-US" sz="165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6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Objective — A specific, measurable step that contributes to achieving the aim.</a:t>
            </a:r>
            <a:endParaRPr lang="en-US" sz="165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6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Null hypothesis — The testable statement that no difference or association exists in the population.</a:t>
            </a:r>
            <a:endParaRPr lang="en-US" sz="165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6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Conceptual framework — A diagram or model of the presumed relationships among the study variables.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" y="4700016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orbel"/>
                <a:ea typeface="Corbel"/>
                <a:cs typeface="Corbel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A6A3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UNIT 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1C3140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Key terms (2/2)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566928" cy="20117"/>
          </a:xfrm>
          <a:prstGeom prst="rect">
            <a:avLst/>
          </a:prstGeom>
          <a:solidFill>
            <a:srgbClr val="9A6A3C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664208"/>
            <a:ext cx="749808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6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Confounder — A variable associated with both exposure and outcome that can produce a spurious association.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" y="4700016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orbel"/>
                <a:ea typeface="Corbel"/>
                <a:cs typeface="Corbel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024128"/>
            <a:ext cx="6766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spc="240" kern="0" dirty="0">
                <a:solidFill>
                  <a:srgbClr val="C8A67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Over to you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85800" y="1700784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Activity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2487168"/>
            <a:ext cx="69494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1450" dirty="0">
                <a:solidFill>
                  <a:srgbClr val="C4CCD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Write a one-paragraph problem statement and one research question for your own study. Exchange with a partner, who must identify the gap type and name the analysis your question implies. If they cannot, revise it.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onstant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orbe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Institute of Computational Biology and Bioinformatics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ICBB-RM101 — Unit 2: The Research Problem, Questions and Objectives</dc:title>
  <dc:subject>Research Methods: Quantitative &amp; Qualitative Design</dc:subject>
  <dc:creator>Jesse Anak</dc:creator>
  <cp:lastModifiedBy>Jesse Anak</cp:lastModifiedBy>
  <cp:revision>1</cp:revision>
  <dcterms:created xsi:type="dcterms:W3CDTF">2026-08-19T19:25:09Z</dcterms:created>
  <dcterms:modified xsi:type="dcterms:W3CDTF">2026-08-19T19:25:09Z</dcterms:modified>
</cp:coreProperties>
</file>