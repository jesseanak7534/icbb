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9: Research Ethics and Integrity
Duration: 120 minutes
Objectives:
- State the four principles of research ethics and apply them to a scenario
- Explain what makes consent genuinely informed, voluntary and documented
- Assemble an ethics application and anticipate what a committee will query
- Distinguish anonymity from confidentiality and implement both
- Identify vulnerable groups and the additional safeguards they require
- Apply authorship criteria and recognise research misconduct
- State a defensible position on the use of AI tools in research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out at the start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Take-away: Whenever the researcher can affect the participant's grades, treatment or employment, address it in the design. Saying "participation was voluntary" does not make it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Take-away: Anonymisation means removing what identifies, not just removing names. Read every quotation as someone in that workplace would read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8072"/>
          </a:xfrm>
          <a:prstGeom prst="rect">
            <a:avLst/>
          </a:prstGeom>
          <a:solidFill>
            <a:srgbClr val="0066C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6903720" y="3977640"/>
            <a:ext cx="1920240" cy="1280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004D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26280"/>
            <a:ext cx="9144000" cy="621792"/>
          </a:xfrm>
          <a:prstGeom prst="rect">
            <a:avLst/>
          </a:prstGeom>
          <a:solidFill>
            <a:srgbClr val="00A86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7452360" y="384048"/>
            <a:ext cx="1371600" cy="9144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05840"/>
            <a:ext cx="6675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6B"/>
                </a:solidFill>
              </a:rPr>
              <a:t>ICBB-RM101  ·  UNIT 9 OF 10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67665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Research Ethics and Integrity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788920"/>
            <a:ext cx="67665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7F5"/>
                </a:solidFill>
              </a:rPr>
              <a:t>The principles governing research with human participants, how ethical review actually works, and the integrity questions — authorship, plagiarism, data fabrication and the use of AI — that decide whether your work stands.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4645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Jesse Anak  ·  ICBB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What you will be able to 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State the four principles of research ethics and apply them to a scenario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Explain what makes consent genuinely informed, voluntary and documented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Assemble an ethics application and anticipate what a committee will query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Distinguish anonymity from confidentiality and implement both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Identify vulnerable groups and the additional safeguards they require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Apply authorship criteria and recognise research misconduct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State a defensible position on the use of AI tools in research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Principles and their origins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The Nuremberg Code followed the Nazi medical experiments; the Declaration of Helsinki and the Belmont Report followed later abuses, including Tuskegee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Autonomy — people decide for themselves whether to take part, having understood what is involved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Beneficence — maximise benefit; Non-maleficence — minimise harm; the two are weighed together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Principles and their origins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Justice — burdens and benefits are distributed fairly, and no group is used as a convenient subject pool for research that will benefit others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Justice has particular weight in African research settings, where communities have historically borne research burden without sharing in benefit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Ethical conduct is not a form to be completed; it is a continuing obligation through the study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Informed consent (1/3)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Information — purpose, procedures, duration, risks, benefits, alternatives, confidentiality limits, and who to contact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Comprehension — in the participant's language, at an appropriate reading level, with opportunity to ask questions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Voluntariness — free from coercion or undue inducement; compensation should cover cost and time, not act as an incentive that overrides judgement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Informed consent (2/3)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Documentation — signature, thumbprint or witnessed verbal consent, as appropriate to context and literacy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The right to withdraw at any time, without giving a reason and without penalty, must be stated and honoured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Children give assent while a parent or guardian gives consent; the age of assent varies by jurisdiction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Consent is a process, not a signature: it should be revisited in longitudinal and ethnographic work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Informed consent (3/3)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Waiver of consent may be granted for anonymised secondary data or minimal-risk record review, but only by the committee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 practice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54864" cy="2377440"/>
          </a:xfrm>
          <a:prstGeom prst="rect">
            <a:avLst/>
          </a:prstGeom>
          <a:solidFill>
            <a:srgbClr val="00A86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280160"/>
            <a:ext cx="7589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74151"/>
                </a:solidFill>
              </a:rPr>
              <a:t>Where a clinician recruits their own patients, or a lecturer their own students, the power relationship can make refusal feel impossible. Address this explicitly in the application — usually by having someone independent take consent.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Review and approval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Institutional Review Boards and Research Ethics Committees review before any data are collected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In Ghana, approvals commonly involve institutional RECs and, depending on the work, the Ghana Health Service Ethics Review Committee or the FDA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A typical application requires the protocol, instruments, information sheet, consent form, translations, CVs and a data management plan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Review and approval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Committees most often query: unclear risk-benefit, weak consent for vulnerable groups, inadequate data protection, undisclosed conflicts, and underpowered designs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Approval is time-limited; amendments and extensions must be submitted, and adverse events reported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Publishing without approval is a serious breach — many journals require the approval number, and retraction follows if it was never obtained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Confidentiality and data protection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Anonymity means even the researcher cannot link data to a person; confidentiality means the researcher can but will not disclose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Most studies offer confidentiality, not anonymity — say which, accurately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De-identify at the earliest point; keep any linking key in a separate, encrypted, access-controlled file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Ghana's Data Protection Act 2012 (Act 843) governs personal data, requiring lawful basis, purpose limitation and security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Confidentiality and data protection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State retention periods and how data will be destroyed or archived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Qualitative data are especially re-identifiable — a role plus a district can identify someone even without a name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Confidentiality has limits: disclosure of imminent harm or of certain crimes may compel action, and participants must be told this in advance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Integrity, authorship and AI (1/3)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Fabrication (inventing data), falsification (altering data) and plagiarism are the three classical forms of misconduct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Self-plagiarism and duplicate publication are also breaches, even though the text is your own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ICMJE authorship requires all four: substantial contribution, drafting or critical revision, final approval, and accountability for the work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Integrity, authorship and AI (2/3)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Supervisors are not automatically authors; funders and heads of department are not authors by virtue of position — gift authorship is a breach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Agree the authorship order in writing at the start, not after the results arrive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Declare funding and conflicts of interest; register trials prospectively and consider preregistering observational protocols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Report negative and null results — suppressing them distorts the literature and wastes participants' contribution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Integrity, authorship and AI (3/3)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AI tools may assist with language, structure and code, but the researcher remains accountable for every claim; AI cannot be an author, must not be used to generate data or references, and its use should be disclosed as journals and institutions increasingly require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Never paste identifiable participant data into a public AI service — that is a data protection breach regardless of the research value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9  ·  WORKED EXAMPLE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</a:rPr>
              <a:t>Consent when the researcher holds power over the participant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8138160" cy="3200400"/>
          </a:xfrm>
          <a:prstGeom prst="rect">
            <a:avLst/>
          </a:prstGeom>
          <a:solidFill>
            <a:srgbClr val="F3F7FC"/>
          </a:solidFill>
          <a:ln w="9525">
            <a:solidFill>
              <a:srgbClr val="0066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374151"/>
                </a:solidFill>
              </a:rPr>
              <a:t>A lecturer wants to survey her own final-year students about their experience of the programme. She will administer it herself, at the end of a lecture she teaches.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395728"/>
            <a:ext cx="74523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Students may reasonably fear that declining, or answering critically, could affect their marks.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That fear compromises voluntariness even if the lecturer would never act on it — the perception is enough.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Fix one: an independent colleague, with no assessment role, administers and holds the data.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Fix two: collect responses anonymously, and only after final marks are released.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The information sheet must state plainly that participation has no bearing on assessment.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Name the power relationship explicitly in the ethics application. Committees notice when it is left out.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9  ·  WORKED EXAMPLE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</a:rPr>
              <a:t>How a quotation identifies someone with no name attached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8138160" cy="3200400"/>
          </a:xfrm>
          <a:prstGeom prst="rect">
            <a:avLst/>
          </a:prstGeom>
          <a:solidFill>
            <a:srgbClr val="F3F7FC"/>
          </a:solidFill>
          <a:ln w="9525">
            <a:solidFill>
              <a:srgbClr val="0066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374151"/>
                </a:solidFill>
              </a:rPr>
              <a:t>A report on medical errors quotes: "As the only male theatre nurse at the district hospital, I felt I could not challenge the surgeon."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395728"/>
            <a:ext cx="74523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No name appears, yet anyone in that district can identify the speaker immediately.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Role, gender, setting and seniority combine into an identifier even when each alone would not.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The consequences here are real — this nurse could face professional retaliation.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Options: remove the role detail, aggregate the setting to "a district hospital in the region", or paraphrase rather than quote.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Where the detail is essential to the point, go back to the participant and ask before publishing.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Say in the information sheet how quotations will be handled, so consent covers what you actually do.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Key terms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Autonomy — The principle that competent people decide for themselves whether to participate.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Beneficence — The obligation to maximise benefit and minimise harm to participants.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Justice — Fair distribution of the burdens and benefits of research across groups.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Assent — A child's own agreement to take part, alongside a guardian's consent.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Anonymity — Data cannot be linked to an individual by anyone, including the researcher.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Key terms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Confidentiality — Identifiable data exist but access is restricted and disclosure prevented.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Gift authorship — Naming as author someone who has not met the criteria for authorship.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Equipoise — Genuine uncertainty about which trial arm is superior, the ethical basis for randomising.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  ·  OVER TO YOU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Activity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You plan to interview nurses about errors they have witnessed. Draft the confidentiality paragraph of your information sheet, including its limits. Then list every way a reader might identify a participant from a quotation, and state how you would prevent each.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Institute of Computational Biology and Bioinformatics (ICBB)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9: Research Ethics and Integrity</dc:title>
  <dc:subject>Research Methods: Quantitative &amp; Qualitative Design</dc:subject>
  <dc:creator>Jesse Anak</dc:creator>
  <cp:lastModifiedBy>Jesse Anak</cp:lastModifiedBy>
  <cp:revision>1</cp:revision>
  <dcterms:created xsi:type="dcterms:W3CDTF">2026-08-18T23:58:59Z</dcterms:created>
  <dcterms:modified xsi:type="dcterms:W3CDTF">2026-08-18T23:58:59Z</dcterms:modified>
</cp:coreProperties>
</file>