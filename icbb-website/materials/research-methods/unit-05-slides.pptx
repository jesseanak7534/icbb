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5: Quantitative Research Designs
Duration: 120 minutes
Objectives:
- Describe cross-sectional, case-control, cohort and experimental designs
- Match a design to a research question and justify the choice
- Explain why association does not establish causation and what would
- Identify the principal biases threatening each design
- Explain randomisation, blinding and allocation concealment
- Recognise quasi-experimental designs and when they are the honest 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Choose the weakest design that still answers your question honestly, then state plainly what it cannot establish. Overclaiming from a cross-sectional study is the most common criticism in peer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Intention to treat is the primary analysis. Report per-protocol as a secondary sensitivity analysis if at all, and never as the headline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5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Quantitative Research Designs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main observational and experimental designs, what each can and cannot establish, and how to choose the weakest design that still answers your question honestly.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Describe cross-sectional, case-control, cohort and experimental designs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Match a design to a research question and justify the choice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Explain why association does not establish causation and what would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Identify the principal biases threatening each design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Explain randomisation, blinding and allocation concealment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Recognise quasi-experimental designs and when they are the honest option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Observational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Cross-sectional — exposure and outcome measured at the same moment; fast and cheap; gives prevalence but cannot establish which came first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Case-control — starts from the outcome and looks backward at exposure; efficient for rare outcomes; vulnerable to recall and selection bias; yields an odds ratio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Cohort — starts from exposure and follows forward to outcome; establishes temporal sequence; expensive and vulnerable to loss to follow-up; yields relative risk and incidence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Observational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Ecological — units of analysis are groups rather than individuals; cheap but subject to the ecological fallacy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Case series and case reports — descriptive only, no comparison group, hypothesis-generating at best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Choosing an observational design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Design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Starts from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Main weakness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Cross-sectional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A population at one time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Prevalence, associations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No temporal sequence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Case-control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The outcome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Rare outcomes, long latency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Recall and selection bias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Cohort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The exposure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Incidence, temporal sequence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Cost, attrition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Ecological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Groups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Population-level hypotheses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Ecological fallacy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Experimental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investigator assigns the exposure, which is what permits causal inference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Randomisation distributes both known and unknown confounders across arms — its unique strength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Allocation concealment stops the recruiter from knowing the next assignment, preventing selection bias at entry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Blinding stops participants, providers or assessors from knowing the assignment, preventing performance and detection bias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Experimental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Randomised controlled trials may be parallel, crossover, factorial or cluster-randomised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Cluster randomisation assigns groups (schools, clinics, villages) and requires a larger sample because responses within a cluster are correlated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Analyse by intention to treat: participants are analysed in the arm to which they were assigned, whatever they actually received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Per-protocol analysis, which counts only those who complied, quietly destroys randomisation and reintroduces confounding. Report it as a secondary analysis if at 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Quasi-experimental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Used when randomisation is impossible, unethical or politically unacceptable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Non-equivalent control group — an untreated comparison group not formed by randomisation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Interrupted time series — repeated measures before and after an intervention, strong when many time points exist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Difference-in-differences — compares change over time between exposed and unexposed groups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Quasi-experimental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Stepped wedge — all clusters eventually receive the intervention, in a randomised order; ethically attractive for programme rollout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These designs support weaker causal claims and must state the residual threats explicitly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Causation and bias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Association is necessary but not sufficient for causation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The Bradford Hill considerations — strength, consistency, temporality, biological gradient, plausibility and others — aid judgement but prove nothing individually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Temporality is the only genuinely necessary condition: the cause must precede the effect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Selection bias arises when those included differ systematically from those not included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Causation and bias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Information bias arises from measurement error — including recall bias and interviewer bias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Confounding arises when a third variable explains the apparent relationship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Confounding can be handled by design (randomisation, restriction, matching) or by analysis (stratification, regression adjustment)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5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One question, four designs, four different answers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Does using an insecticide-treated net reduce malaria in under-fives? The design chosen changes what can honestly be claimed.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Cross-sectional: survey households, record net use and current infection. Shows association only — sick children may have been given nets because they were sick.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Case-control: take children with malaria and matched controls, ask about past net use. Efficient, but caregivers of sick children recall exposure differently (recall bias).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Cohort: enrol net users and non-users, follow for a season. Establishes sequence, but families choosing nets differ from those who do not.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Cluster-randomised trial: randomise villages to receive nets. Balances known and unknown confounders — and answers the causal question.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trial is strongest and also the slowest and most expensive; the cross-sectional study is fastest and answers least.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5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Why per-protocol analysis quietly breaks a trial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In a trial of a six-month TB treatment regimen, 15% of the intervention arm stopped taking the drug. The analyst proposes excluding them "so we measure the drug's true effect".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Ask who stopped. Typically those with worse side effects, more advanced disease, or less social support.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Those same characteristics predict worse outcomes independently of the drug.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Removing them leaves a healthier intervention arm compared against an intact control arm.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Randomisation guaranteed comparable groups at baseline; this exclusion destroys that guarantee.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Intention to treat keeps everyone in the arm they were assigned, and answers the question a clinician actually faces: what happens if I prescribe this?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Incidence — The rate of new cases arising in a population over a defined period.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Prevalence — The proportion of a population having the condition at a point in time.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Odds ratio — The ratio of the odds of exposure in cases to the odds in controls; the standard measure from case-control studies.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Allocation concealment — Preventing those enrolling participants from knowing the upcoming assignment.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Intention to treat — Analysing participants in the arm to which they were randomised, regardless of adherence.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Ecological fallacy — Wrongly inferring something about individuals from a relationship observed between groups.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Confounding — Distortion of an exposure-outcome association by a third variable related to both.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You are asked whether a new community health worker programme reduced under-five mortality. Randomisation is refused by the district. Propose two quasi-experimental designs, state what each can and cannot establish, and name the biases you would have to acknowledge.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5: Quantitative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2026-08-18T23:34:15Z</dcterms:created>
  <dcterms:modified xsi:type="dcterms:W3CDTF">2026-08-18T23:34:15Z</dcterms:modified>
</cp:coreProperties>
</file>