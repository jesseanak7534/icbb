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The Research Problem, Questions and Objectives
Duration: 90 minutes
Objectives:
- Write a problem statement that establishes magnitude, consequence and gap
- Convert a broad topic into a focused, answerable research question
- Apply FINER and PICO to test whether a question is worth asking
- Distinguish aims, objectives, research questions and hypotheses
- Draw a conceptual framework linking your key variables 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test of a finished question is that it dictates the analysis. If two people would analyse your data differently, the question is not specific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Map every objective to the specific analysis that will answer it before submitting the proposal. An unanswerable objective costs nothing to fix now and a chapter of trouble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Literature Databases, Searching and Reference Management
Duration: 150 minutes
Objectives:
- Select appropriate databases for a given topic and justify the choice
- Construct a Boolean search using controlled vocabulary and field tags
- Use MeSH terms, truncation, phrase searching and proximity operators
- Balance sensitivity against precision and explain the trade-off
- Document a search so that another researcher can reproduce it exactly
- Set up Zotero or Mendeley and generate a formatted bibliography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Search concepts, never sentences. And a search you cannot reproduce next month, because you did not record it, is not a method — it is a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Truncate at the point where the stem is still unambiguous, then look at what you actually retrieved. Wildcards are not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Quantitative Research Designs
Duration: 120 minutes
Objectives:
- Describe cross-sectional, case-control, cohort and experimental designs
- Match a design to a research question and justify the choice
- Explain why association does not establish causation and what would
- Identify the principal biases threatening each design
- Explain randomisation, blinding and allocation concealment
- Recognise quasi-experimental designs and when they are the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Choose the weakest design that still answers your question honestly, then state plainly what it cannot establish. Overclaiming from a cross-sectional study is the most common criticism in peer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Intention to treat is the primary analysis. Report per-protocol as a secondary sensitivity analysis if at all, and never as the headline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Qualitative Research Designs
Duration: 120 minutes
Objectives:
- Distinguish phenomenology, grounded theory, ethnography, case study and narrative inquiry
- Match a qualitative tradition to a research question
- Design an interview guide and a focus group schedule
- Explain sampling logic in qualitative work and the concept of information power
- Apply the criteria of trustworthiness and explain reflexivity
- Recognise when a qualitative design is the right answer and when it is an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Name your tradition and then live by its rules. "Grounded theory" followed by six interviews and a thematic analysis is the mismatch examiners look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Open wide, then narrow with probes. Pilot the guide on two people — you will change it, and that is a sign the piloting worked, not that the guide was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Mixed Methods and Sampling
Duration: 120 minutes
Objectives:
- Describe convergent, explanatory sequential and exploratory sequential designs
- Explain what integration means and why it is the defining feature of mixed methods
- Distinguish probability from non-probability sampling and state when each is appropriate
- Calculate a sample size for a prevalence study and for comparing two proportions
- Explain power, effect size and the consequences of an underpowered study
- Adjust a sample size for non-response and design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Reviewers check the arithmetic. A sample size stated without its inputs reads as though it was chosen first and justified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Integration is the defining feature. Plan the point where the strands meet at proposal stage — it cannot be added convincingly at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Data Collection, Instruments and Measurement
Duration: 120 minutes
Objectives:
- Operationalise a construct into measurable variables and indicators
- Identify levels of measurement and their analytical consequences
- Design questionnaire items that avoid the common wording faults
- Distinguish the main types of validity and reliability and how each is evidenced
- Plan and report a pilot study
- Choose between paper and electronic data capture and set up basic data quality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Every faulty item produces data you cannot interpret, and no analysis later can repair it. An hour spent on wording saves the whole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 self-translated instrument has unknown validity, which means the study built on it does too. This is one of the most common fatal flaws in multilingual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Research Ethics and Integrity
Duration: 120 minutes
Objectives:
- State the four principles of research ethics and apply them to a scenario
- Explain what makes consent genuinely informed, voluntary and documented
- Assemble an ethics application and anticipate what a committee will query
- Distinguish anonymity from confidentiality and implement both
- Identify vulnerable groups and the additional safeguards they require
- Apply authorship criteria and recognise research misconduct
- State a defensible position on the use of AI tools in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Whenever the researcher can affect the participant's grades, treatment or employment, address it in the design. Saying "participation was voluntary" does not make it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Anonymisation means removing what identifies, not just removing names. Read every quotation as someone in that workplace would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Writing the Proposal, Rigour and Dissemination
Duration: 120 minutes
Objectives:
- Structure a research proposal to the standard expected by committees and funders
- Write a methods section detailed enough to be reproduced
- Build a realistic timeline and budget
- State limitations honestly without undermining the study
- Plan a data management strategy
- Design a dissemination plan that reaches participants and decision makers, not only journals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 good limitation names the threat, its direction, and what you did about it. Examiners reward the researcher who saw the problem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Build the schedule backwards from the deadline and put the dependencies in a Gantt chart. Most overruns are visible at proposal stage to anyone who does the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18872" cy="5148072"/>
          </a:xfrm>
          <a:prstGeom prst="rect">
            <a:avLst/>
          </a:prstGeom>
          <a:solidFill>
            <a:srgbClr val="0066CC"/>
          </a:solidFill>
          <a:ln/>
        </p:spPr>
      </p:sp>
      <p:pic>
        <p:nvPicPr>
          <p:cNvPr id="3" name="Image 0" descr="preencoded.png">    </p:cNvPr>
          <p:cNvPicPr>
            <a:picLocks noChangeAspect="1"/>
          </p:cNvPicPr>
          <p:nvPr/>
        </p:nvPicPr>
        <p:blipFill>
          <a:blip r:embed="rId1">
            <a:alphaModFix amt="18000"/>
          </a:blip>
          <a:stretch>
            <a:fillRect/>
          </a:stretch>
        </p:blipFill>
        <p:spPr>
          <a:xfrm>
            <a:off x="6903720" y="3977640"/>
            <a:ext cx="1920240" cy="1280160"/>
          </a:xfrm>
          <a:prstGeom prst="rect">
            <a:avLst/>
          </a:prstGeom>
        </p:spPr>
      </p:pic>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004D99"/>
        </a:solidFill>
      </p:bgPr>
    </p:bg>
    <p:spTree>
      <p:nvGrpSpPr>
        <p:cNvPr id="1" name=""/>
        <p:cNvGrpSpPr/>
        <p:nvPr/>
      </p:nvGrpSpPr>
      <p:grpSpPr>
        <a:xfrm>
          <a:off x="0" y="0"/>
          <a:ext cx="0" cy="0"/>
          <a:chOff x="0" y="0"/>
          <a:chExt cx="0" cy="0"/>
        </a:xfrm>
      </p:grpSpPr>
      <p:sp>
        <p:nvSpPr>
          <p:cNvPr id="2" name="Shape 0"/>
          <p:cNvSpPr/>
          <p:nvPr/>
        </p:nvSpPr>
        <p:spPr>
          <a:xfrm>
            <a:off x="0" y="4526280"/>
            <a:ext cx="9144000" cy="621792"/>
          </a:xfrm>
          <a:prstGeom prst="rect">
            <a:avLst/>
          </a:prstGeom>
          <a:solidFill>
            <a:srgbClr val="00A86B"/>
          </a:solidFill>
          <a:ln/>
        </p:spPr>
      </p:sp>
      <p:pic>
        <p:nvPicPr>
          <p:cNvPr id="3" name="Image 0" descr="preencoded.png">    </p:cNvPr>
          <p:cNvPicPr>
            <a:picLocks noChangeAspect="1"/>
          </p:cNvPicPr>
          <p:nvPr/>
        </p:nvPicPr>
        <p:blipFill>
          <a:blip r:embed="rId1">
            <a:alphaModFix amt="75000"/>
          </a:blip>
          <a:stretch>
            <a:fillRect/>
          </a:stretch>
        </p:blipFill>
        <p:spPr>
          <a:xfrm>
            <a:off x="7452360" y="384048"/>
            <a:ext cx="1371600" cy="9144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051560"/>
            <a:ext cx="6675120" cy="320040"/>
          </a:xfrm>
          <a:prstGeom prst="rect">
            <a:avLst/>
          </a:prstGeom>
          <a:noFill/>
          <a:ln/>
        </p:spPr>
        <p:txBody>
          <a:bodyPr wrap="square" rtlCol="0" anchor="ctr"/>
          <a:lstStyle/>
          <a:p>
            <a:pPr indent="0" marL="0">
              <a:buNone/>
            </a:pPr>
            <a:r>
              <a:rPr lang="en-US" sz="1300" b="1" spc="200" kern="0" dirty="0">
                <a:solidFill>
                  <a:srgbClr val="00A86B"/>
                </a:solidFill>
              </a:rPr>
              <a:t>ICBB-RM101</a:t>
            </a:r>
            <a:endParaRPr lang="en-US" sz="1300" dirty="0"/>
          </a:p>
        </p:txBody>
      </p:sp>
      <p:sp>
        <p:nvSpPr>
          <p:cNvPr id="3" name="Text 1"/>
          <p:cNvSpPr/>
          <p:nvPr/>
        </p:nvSpPr>
        <p:spPr>
          <a:xfrm>
            <a:off x="548640" y="1417320"/>
            <a:ext cx="6766560" cy="1463040"/>
          </a:xfrm>
          <a:prstGeom prst="rect">
            <a:avLst/>
          </a:prstGeom>
          <a:noFill/>
          <a:ln/>
        </p:spPr>
        <p:txBody>
          <a:bodyPr wrap="square" rtlCol="0" anchor="t"/>
          <a:lstStyle/>
          <a:p>
            <a:pPr indent="0" marL="0">
              <a:buNone/>
            </a:pPr>
            <a:r>
              <a:rPr lang="en-US" sz="3200" b="1" dirty="0">
                <a:solidFill>
                  <a:srgbClr val="FFFFFF"/>
                </a:solidFill>
              </a:rPr>
              <a:t>Research Methods: Quantitative &amp; Qualitative Design</a:t>
            </a:r>
            <a:endParaRPr lang="en-US" sz="3200" dirty="0"/>
          </a:p>
        </p:txBody>
      </p:sp>
      <p:sp>
        <p:nvSpPr>
          <p:cNvPr id="4" name="Text 2"/>
          <p:cNvSpPr/>
          <p:nvPr/>
        </p:nvSpPr>
        <p:spPr>
          <a:xfrm>
            <a:off x="548640" y="2926080"/>
            <a:ext cx="6766560" cy="914400"/>
          </a:xfrm>
          <a:prstGeom prst="rect">
            <a:avLst/>
          </a:prstGeom>
          <a:noFill/>
          <a:ln/>
        </p:spPr>
        <p:txBody>
          <a:bodyPr wrap="square" rtlCol="0" anchor="ctr"/>
          <a:lstStyle/>
          <a:p>
            <a:pPr indent="0" marL="0">
              <a:lnSpc>
                <a:spcPct val="130000"/>
              </a:lnSpc>
              <a:buNone/>
            </a:pPr>
            <a:r>
              <a:rPr lang="en-US" sz="1400" dirty="0">
                <a:solidFill>
                  <a:srgbClr val="DCE7F5"/>
                </a:solidFill>
              </a:rPr>
              <a:t>Part 1 of the Research Methods Professional Certificate</a:t>
            </a:r>
            <a:endParaRPr lang="en-US" sz="1400" dirty="0"/>
          </a:p>
          <a:p>
            <a:pPr indent="0" marL="0">
              <a:lnSpc>
                <a:spcPct val="130000"/>
              </a:lnSpc>
              <a:buNone/>
            </a:pPr>
            <a:r>
              <a:rPr lang="en-US" sz="1400" dirty="0">
                <a:solidFill>
                  <a:srgbClr val="DCE7F5"/>
                </a:solidFill>
              </a:rPr>
              <a:t>10 units · 20 contact hours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1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Foundations of Research</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separates research from other ways of knowing, the main types of research, and the philosophical positions that quietly shape every methodological choice you will make later.</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Define research and distinguish it from opinion, audit and routine reporting</a:t>
            </a:r>
            <a:endParaRPr lang="en-US" sz="1700" dirty="0"/>
          </a:p>
          <a:p>
            <a:pPr marL="342900" indent="-342900">
              <a:lnSpc>
                <a:spcPct val="125000"/>
              </a:lnSpc>
              <a:spcAft>
                <a:spcPts val="800"/>
              </a:spcAft>
              <a:buSzPct val="100000"/>
              <a:buChar char="•"/>
            </a:pPr>
            <a:r>
              <a:rPr lang="en-US" sz="1700" dirty="0">
                <a:solidFill>
                  <a:srgbClr val="374151"/>
                </a:solidFill>
              </a:rPr>
              <a:t>Classify research by purpose, approach and time dimension</a:t>
            </a:r>
            <a:endParaRPr lang="en-US" sz="1700" dirty="0"/>
          </a:p>
          <a:p>
            <a:pPr marL="342900" indent="-342900">
              <a:lnSpc>
                <a:spcPct val="125000"/>
              </a:lnSpc>
              <a:spcAft>
                <a:spcPts val="800"/>
              </a:spcAft>
              <a:buSzPct val="100000"/>
              <a:buChar char="•"/>
            </a:pPr>
            <a:r>
              <a:rPr lang="en-US" sz="1700" dirty="0">
                <a:solidFill>
                  <a:srgbClr val="374151"/>
                </a:solidFill>
              </a:rPr>
              <a:t>Explain the difference between positivist, interpretivist and pragmatic paradigms</a:t>
            </a:r>
            <a:endParaRPr lang="en-US" sz="1700" dirty="0"/>
          </a:p>
          <a:p>
            <a:pPr marL="342900" indent="-342900">
              <a:lnSpc>
                <a:spcPct val="125000"/>
              </a:lnSpc>
              <a:spcAft>
                <a:spcPts val="800"/>
              </a:spcAft>
              <a:buSzPct val="100000"/>
              <a:buChar char="•"/>
            </a:pPr>
            <a:r>
              <a:rPr lang="en-US" sz="1700" dirty="0">
                <a:solidFill>
                  <a:srgbClr val="374151"/>
                </a:solidFill>
              </a:rPr>
              <a:t>Trace how a paradigm constrains the designs available to you</a:t>
            </a:r>
            <a:endParaRPr lang="en-US" sz="1700" dirty="0"/>
          </a:p>
          <a:p>
            <a:pPr marL="342900" indent="-342900">
              <a:lnSpc>
                <a:spcPct val="125000"/>
              </a:lnSpc>
              <a:spcAft>
                <a:spcPts val="800"/>
              </a:spcAft>
              <a:buSzPct val="100000"/>
              <a:buChar char="•"/>
            </a:pPr>
            <a:r>
              <a:rPr lang="en-US" sz="1700" dirty="0">
                <a:solidFill>
                  <a:srgbClr val="374151"/>
                </a:solidFill>
              </a:rPr>
              <a:t>Describe the stages of the research process end to end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Research is systematic, planned enquiry that produces evidence capable of being checked by someone else</a:t>
            </a:r>
            <a:endParaRPr lang="en-US" sz="1500" dirty="0"/>
          </a:p>
          <a:p>
            <a:pPr marL="342900" indent="-342900">
              <a:lnSpc>
                <a:spcPct val="125000"/>
              </a:lnSpc>
              <a:spcAft>
                <a:spcPts val="800"/>
              </a:spcAft>
              <a:buSzPct val="100000"/>
              <a:buChar char="•"/>
            </a:pPr>
            <a:r>
              <a:rPr lang="en-US" sz="1500" dirty="0">
                <a:solidFill>
                  <a:srgbClr val="374151"/>
                </a:solidFill>
              </a:rPr>
              <a:t>Three features distinguish it: a clear question, a documented method, and conclusions that follow from the data</a:t>
            </a:r>
            <a:endParaRPr lang="en-US" sz="1500" dirty="0"/>
          </a:p>
          <a:p>
            <a:pPr marL="342900" indent="-342900">
              <a:lnSpc>
                <a:spcPct val="125000"/>
              </a:lnSpc>
              <a:spcAft>
                <a:spcPts val="800"/>
              </a:spcAft>
              <a:buSzPct val="100000"/>
              <a:buChar char="•"/>
            </a:pPr>
            <a:r>
              <a:rPr lang="en-US" sz="1500" dirty="0">
                <a:solidFill>
                  <a:srgbClr val="374151"/>
                </a:solidFill>
              </a:rPr>
              <a:t>It is not: summarising what others said, confirming an opinion you already hold, or collecting data because it is available</a:t>
            </a:r>
            <a:endParaRPr lang="en-US" sz="1500" dirty="0"/>
          </a:p>
          <a:p>
            <a:pPr marL="342900" indent="-342900">
              <a:lnSpc>
                <a:spcPct val="125000"/>
              </a:lnSpc>
              <a:spcAft>
                <a:spcPts val="800"/>
              </a:spcAft>
              <a:buSzPct val="100000"/>
              <a:buChar char="•"/>
            </a:pPr>
            <a:r>
              <a:rPr lang="en-US" sz="1500" dirty="0">
                <a:solidFill>
                  <a:srgbClr val="374151"/>
                </a:solidFill>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By purpose: exploratory (what is going on here?), descriptive (what is the pattern?), explanatory (why does it happen?), evaluative (did it work?)</a:t>
            </a:r>
            <a:endParaRPr lang="en-US" sz="1300" dirty="0"/>
          </a:p>
          <a:p>
            <a:pPr marL="342900" indent="-342900">
              <a:lnSpc>
                <a:spcPct val="125000"/>
              </a:lnSpc>
              <a:spcAft>
                <a:spcPts val="800"/>
              </a:spcAft>
              <a:buSzPct val="100000"/>
              <a:buChar char="•"/>
            </a:pPr>
            <a:r>
              <a:rPr lang="en-US" sz="1300" dirty="0">
                <a:solidFill>
                  <a:srgbClr val="374151"/>
                </a:solidFill>
              </a:rPr>
              <a:t>By approach: quantitative (numbers, measurement, statistical inference), qualitative (meaning, context, interpretation), mixed methods (both, deliberately integrated)</a:t>
            </a:r>
            <a:endParaRPr lang="en-US" sz="1300" dirty="0"/>
          </a:p>
          <a:p>
            <a:pPr marL="342900" indent="-342900">
              <a:lnSpc>
                <a:spcPct val="125000"/>
              </a:lnSpc>
              <a:spcAft>
                <a:spcPts val="800"/>
              </a:spcAft>
              <a:buSzPct val="100000"/>
              <a:buChar char="•"/>
            </a:pPr>
            <a:r>
              <a:rPr lang="en-US" sz="1300" dirty="0">
                <a:solidFill>
                  <a:srgbClr val="374151"/>
                </a:solidFill>
              </a:rPr>
              <a:t>By time: cross-sectional (a snapshot), longitudinal (repeated over time), retrospective (looking back), prospective (following forward)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By setting: laboratory, field, clinical, desk-based or secondary analysis</a:t>
            </a:r>
            <a:endParaRPr lang="en-US" sz="1700" dirty="0"/>
          </a:p>
          <a:p>
            <a:pPr marL="342900" indent="-342900">
              <a:lnSpc>
                <a:spcPct val="125000"/>
              </a:lnSpc>
              <a:spcAft>
                <a:spcPts val="800"/>
              </a:spcAft>
              <a:buSzPct val="100000"/>
              <a:buChar char="•"/>
            </a:pPr>
            <a:r>
              <a:rPr lang="en-US" sz="1700" dirty="0">
                <a:solidFill>
                  <a:srgbClr val="374151"/>
                </a:solidFill>
              </a:rPr>
              <a:t>By application: basic (extends knowledge) versus applied (solves a defined problem)</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Ontology asks what reality is: a single objective reality, or multiple realities constructed by participants?</a:t>
            </a:r>
            <a:endParaRPr lang="en-US" sz="1500" dirty="0"/>
          </a:p>
          <a:p>
            <a:pPr marL="342900" indent="-342900">
              <a:lnSpc>
                <a:spcPct val="125000"/>
              </a:lnSpc>
              <a:spcAft>
                <a:spcPts val="800"/>
              </a:spcAft>
              <a:buSzPct val="100000"/>
              <a:buChar char="•"/>
            </a:pPr>
            <a:r>
              <a:rPr lang="en-US" sz="1500" dirty="0">
                <a:solidFill>
                  <a:srgbClr val="374151"/>
                </a:solidFill>
              </a:rPr>
              <a:t>Epistemology asks how we can know it: by measuring from the outside, or by interpreting from within?</a:t>
            </a:r>
            <a:endParaRPr lang="en-US" sz="1500" dirty="0"/>
          </a:p>
          <a:p>
            <a:pPr marL="342900" indent="-342900">
              <a:lnSpc>
                <a:spcPct val="125000"/>
              </a:lnSpc>
              <a:spcAft>
                <a:spcPts val="800"/>
              </a:spcAft>
              <a:buSzPct val="100000"/>
              <a:buChar char="•"/>
            </a:pPr>
            <a:r>
              <a:rPr lang="en-US" sz="1500" dirty="0">
                <a:solidFill>
                  <a:srgbClr val="374151"/>
                </a:solidFill>
              </a:rPr>
              <a:t>Positivism assumes an objective reality that can be measured — it leads naturally to experiments, surveys and statistical inference</a:t>
            </a:r>
            <a:endParaRPr lang="en-US" sz="1500" dirty="0"/>
          </a:p>
          <a:p>
            <a:pPr marL="342900" indent="-342900">
              <a:lnSpc>
                <a:spcPct val="125000"/>
              </a:lnSpc>
              <a:spcAft>
                <a:spcPts val="800"/>
              </a:spcAft>
              <a:buSzPct val="100000"/>
              <a:buChar char="•"/>
            </a:pPr>
            <a:r>
              <a:rPr lang="en-US" sz="1500" dirty="0">
                <a:solidFill>
                  <a:srgbClr val="374151"/>
                </a:solidFill>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Pragmatism asks what works for the question at hand, and is the usual justification for mixed methods</a:t>
            </a:r>
            <a:endParaRPr lang="en-US" sz="1500" dirty="0"/>
          </a:p>
          <a:p>
            <a:pPr marL="342900" indent="-342900">
              <a:lnSpc>
                <a:spcPct val="125000"/>
              </a:lnSpc>
              <a:spcAft>
                <a:spcPts val="800"/>
              </a:spcAft>
              <a:buSzPct val="100000"/>
              <a:buChar char="•"/>
            </a:pPr>
            <a:r>
              <a:rPr lang="en-US" sz="1500" dirty="0">
                <a:solidFill>
                  <a:srgbClr val="374151"/>
                </a:solidFill>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Identify a problem worth solving and confirm it is not already solved</a:t>
            </a:r>
            <a:endParaRPr lang="en-US" sz="1800" dirty="0"/>
          </a:p>
          <a:p>
            <a:pPr marL="342900" indent="-342900">
              <a:lnSpc>
                <a:spcPct val="125000"/>
              </a:lnSpc>
              <a:spcAft>
                <a:spcPts val="800"/>
              </a:spcAft>
              <a:buSzPct val="100000"/>
              <a:buChar char="•"/>
            </a:pPr>
            <a:r>
              <a:rPr lang="en-US" sz="1800" dirty="0">
                <a:solidFill>
                  <a:srgbClr val="374151"/>
                </a:solidFill>
              </a:rPr>
              <a:t>Review the literature and locate the gap precisely</a:t>
            </a:r>
            <a:endParaRPr lang="en-US" sz="1800" dirty="0"/>
          </a:p>
          <a:p>
            <a:pPr marL="342900" indent="-342900">
              <a:lnSpc>
                <a:spcPct val="125000"/>
              </a:lnSpc>
              <a:spcAft>
                <a:spcPts val="800"/>
              </a:spcAft>
              <a:buSzPct val="100000"/>
              <a:buChar char="•"/>
            </a:pPr>
            <a:r>
              <a:rPr lang="en-US" sz="1800" dirty="0">
                <a:solidFill>
                  <a:srgbClr val="374151"/>
                </a:solidFill>
              </a:rPr>
              <a:t>State the question, aims, objectives and (if quantitative) hypotheses</a:t>
            </a:r>
            <a:endParaRPr lang="en-US" sz="1800" dirty="0"/>
          </a:p>
          <a:p>
            <a:pPr marL="342900" indent="-342900">
              <a:lnSpc>
                <a:spcPct val="125000"/>
              </a:lnSpc>
              <a:spcAft>
                <a:spcPts val="800"/>
              </a:spcAft>
              <a:buSzPct val="100000"/>
              <a:buChar char="•"/>
            </a:pPr>
            <a:r>
              <a:rPr lang="en-US" sz="1800" dirty="0">
                <a:solidFill>
                  <a:srgbClr val="374151"/>
                </a:solidFill>
              </a:rPr>
              <a:t>Choose a design, population, sample and instruments</a:t>
            </a:r>
            <a:endParaRPr lang="en-US" sz="1800" dirty="0"/>
          </a:p>
          <a:p>
            <a:pPr marL="342900" indent="-342900">
              <a:lnSpc>
                <a:spcPct val="125000"/>
              </a:lnSpc>
              <a:spcAft>
                <a:spcPts val="800"/>
              </a:spcAft>
              <a:buSzPct val="100000"/>
              <a:buChar char="•"/>
            </a:pPr>
            <a:r>
              <a:rPr lang="en-US" sz="1800" dirty="0">
                <a:solidFill>
                  <a:srgbClr val="374151"/>
                </a:solidFill>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Collect, manage and analyse data</a:t>
            </a:r>
            <a:endParaRPr lang="en-US" sz="1700" dirty="0"/>
          </a:p>
          <a:p>
            <a:pPr marL="342900" indent="-342900">
              <a:lnSpc>
                <a:spcPct val="125000"/>
              </a:lnSpc>
              <a:spcAft>
                <a:spcPts val="800"/>
              </a:spcAft>
              <a:buSzPct val="100000"/>
              <a:buChar char="•"/>
            </a:pPr>
            <a:r>
              <a:rPr lang="en-US" sz="1700" dirty="0">
                <a:solidFill>
                  <a:srgbClr val="374151"/>
                </a:solidFill>
              </a:rPr>
              <a:t>Interpret against the literature, then report and disseminate</a:t>
            </a:r>
            <a:endParaRPr lang="en-US" sz="1700" dirty="0"/>
          </a:p>
          <a:p>
            <a:pPr marL="342900" indent="-342900">
              <a:lnSpc>
                <a:spcPct val="125000"/>
              </a:lnSpc>
              <a:spcAft>
                <a:spcPts val="800"/>
              </a:spcAft>
              <a:buSzPct val="100000"/>
              <a:buChar char="•"/>
            </a:pPr>
            <a:r>
              <a:rPr lang="en-US" sz="1700" dirty="0">
                <a:solidFill>
                  <a:srgbClr val="374151"/>
                </a:solidFill>
              </a:rPr>
              <a:t>The process is iterative in practice — the literature review continues until you submit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Audit or research? The same data, two different studies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district hospital notices that 1 in 5 women who book antenatal care never return for a second visit. The medical director asks a midwife to "look into it".</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If she compares the return rate against the national target of 4+ visits, that is audit — the standard already exists and she is measuring compliance.</a:t>
            </a:r>
            <a:endParaRPr lang="en-US" sz="1300" dirty="0"/>
          </a:p>
          <a:p>
            <a:pPr marL="342900" indent="-342900">
              <a:lnSpc>
                <a:spcPct val="115000"/>
              </a:lnSpc>
              <a:buSzPct val="100000"/>
              <a:buFont typeface="+mj-lt"/>
              <a:buAutoNum type="arabicPeriod" startAt="1"/>
            </a:pPr>
            <a:r>
              <a:rPr lang="en-US" sz="1300" dirty="0">
                <a:solidFill>
                  <a:srgbClr val="374151"/>
                </a:solidFill>
              </a:rPr>
              <a:t>If she asks why women do not return, and the answer is not already known, that is research.</a:t>
            </a:r>
            <a:endParaRPr lang="en-US" sz="1300" dirty="0"/>
          </a:p>
          <a:p>
            <a:pPr marL="342900" indent="-342900">
              <a:lnSpc>
                <a:spcPct val="115000"/>
              </a:lnSpc>
              <a:buSzPct val="100000"/>
              <a:buFont typeface="+mj-lt"/>
              <a:buAutoNum type="arabicPeriod" startAt="1"/>
            </a:pPr>
            <a:r>
              <a:rPr lang="en-US" sz="1300" dirty="0">
                <a:solidFill>
                  <a:srgbClr val="374151"/>
                </a:solidFill>
              </a:rPr>
              <a:t>The same appointment records serve both. What separates them is the question, not the data.</a:t>
            </a:r>
            <a:endParaRPr lang="en-US" sz="1300" dirty="0"/>
          </a:p>
          <a:p>
            <a:pPr marL="342900" indent="-342900">
              <a:lnSpc>
                <a:spcPct val="115000"/>
              </a:lnSpc>
              <a:buSzPct val="100000"/>
              <a:buFont typeface="+mj-lt"/>
              <a:buAutoNum type="arabicPeriod" startAt="1"/>
            </a:pPr>
            <a:r>
              <a:rPr lang="en-US" sz="1300" dirty="0">
                <a:solidFill>
                  <a:srgbClr val="374151"/>
                </a:solidFill>
              </a:rPr>
              <a:t>The research version needs ethical approval, a sampling strategy and a defined method; the audit does not.</a:t>
            </a:r>
            <a:endParaRPr lang="en-US" sz="1300" dirty="0"/>
          </a:p>
          <a:p>
            <a:pPr marL="342900" indent="-342900">
              <a:lnSpc>
                <a:spcPct val="115000"/>
              </a:lnSpc>
              <a:buSzPct val="100000"/>
              <a:buFont typeface="+mj-lt"/>
              <a:buAutoNum type="arabicPeriod" startAt="1"/>
            </a:pPr>
            <a:r>
              <a:rPr lang="en-US" sz="1300" dirty="0">
                <a:solidFill>
                  <a:srgbClr val="374151"/>
                </a:solidFill>
              </a:rPr>
              <a:t>She could do both: audit to establish the size of the problem, then research to explain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When the paradigm and the method do not match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master's student writes that she takes an interpretivist position because "reality is socially constructed". Her method section then describes a 40-item Likert questionnaire administered to 300 nurses, analysed with chi-square tests.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Interpretivism treats meaning as constructed and context-specific, so it points towards interviews or observation.</a:t>
            </a:r>
            <a:endParaRPr lang="en-US" sz="1300" dirty="0"/>
          </a:p>
          <a:p>
            <a:pPr marL="342900" indent="-342900">
              <a:lnSpc>
                <a:spcPct val="115000"/>
              </a:lnSpc>
              <a:buSzPct val="100000"/>
              <a:buFont typeface="+mj-lt"/>
              <a:buAutoNum type="arabicPeriod" startAt="1"/>
            </a:pPr>
            <a:r>
              <a:rPr lang="en-US" sz="1300" dirty="0">
                <a:solidFill>
                  <a:srgbClr val="374151"/>
                </a:solidFill>
              </a:rPr>
              <a:t>A fixed-response questionnaire assumes the researcher already knows the categories that matter — a positivist assumption.</a:t>
            </a:r>
            <a:endParaRPr lang="en-US" sz="1300" dirty="0"/>
          </a:p>
          <a:p>
            <a:pPr marL="342900" indent="-342900">
              <a:lnSpc>
                <a:spcPct val="115000"/>
              </a:lnSpc>
              <a:buSzPct val="100000"/>
              <a:buFont typeface="+mj-lt"/>
              <a:buAutoNum type="arabicPeriod" startAt="1"/>
            </a:pPr>
            <a:r>
              <a:rPr lang="en-US" sz="1300" dirty="0">
                <a:solidFill>
                  <a:srgbClr val="374151"/>
                </a:solidFill>
              </a:rPr>
              <a:t>Neither choice is wrong on its own. The problem is that they contradict each other in one study.</a:t>
            </a:r>
            <a:endParaRPr lang="en-US" sz="1300" dirty="0"/>
          </a:p>
          <a:p>
            <a:pPr marL="342900" indent="-342900">
              <a:lnSpc>
                <a:spcPct val="115000"/>
              </a:lnSpc>
              <a:buSzPct val="100000"/>
              <a:buFont typeface="+mj-lt"/>
              <a:buAutoNum type="arabicPeriod" startAt="1"/>
            </a:pPr>
            <a:r>
              <a:rPr lang="en-US" sz="1300" dirty="0">
                <a:solidFill>
                  <a:srgbClr val="374151"/>
                </a:solidFill>
              </a:rPr>
              <a:t>Two honest fixes: keep the survey and state a post-positivist position, or keep interpretivism and switch to interviews.</a:t>
            </a:r>
            <a:endParaRPr lang="en-US" sz="1300" dirty="0"/>
          </a:p>
          <a:p>
            <a:pPr marL="342900" indent="-342900">
              <a:lnSpc>
                <a:spcPct val="115000"/>
              </a:lnSpc>
              <a:buSzPct val="100000"/>
              <a:buFont typeface="+mj-lt"/>
              <a:buAutoNum type="arabicPeriod" startAt="1"/>
            </a:pPr>
            <a:r>
              <a:rPr lang="en-US" sz="1300" dirty="0">
                <a:solidFill>
                  <a:srgbClr val="374151"/>
                </a:solidFill>
              </a:rPr>
              <a:t>A third option is a genuine mixed methods design, but then the integration has to be planned, not implied.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Paradigm — A set of shared assumptions about the nature of reality and how it can be known, which shapes what counts as legitimate evidence.</a:t>
            </a:r>
            <a:endParaRPr lang="en-US" sz="1500" dirty="0"/>
          </a:p>
          <a:p>
            <a:pPr marL="342900" indent="-342900">
              <a:lnSpc>
                <a:spcPct val="125000"/>
              </a:lnSpc>
              <a:spcAft>
                <a:spcPts val="800"/>
              </a:spcAft>
              <a:buSzPct val="100000"/>
              <a:buChar char="•"/>
            </a:pPr>
            <a:r>
              <a:rPr lang="en-US" sz="1500" dirty="0">
                <a:solidFill>
                  <a:srgbClr val="374151"/>
                </a:solidFill>
              </a:rPr>
              <a:t>Ontology — Assumptions about the nature of reality — whether it is single and objective, or multiple and constructed.</a:t>
            </a:r>
            <a:endParaRPr lang="en-US" sz="1500" dirty="0"/>
          </a:p>
          <a:p>
            <a:pPr marL="342900" indent="-342900">
              <a:lnSpc>
                <a:spcPct val="125000"/>
              </a:lnSpc>
              <a:spcAft>
                <a:spcPts val="800"/>
              </a:spcAft>
              <a:buSzPct val="100000"/>
              <a:buChar char="•"/>
            </a:pPr>
            <a:r>
              <a:rPr lang="en-US" sz="1500" dirty="0">
                <a:solidFill>
                  <a:srgbClr val="374151"/>
                </a:solidFill>
              </a:rPr>
              <a:t>Epistemology — Assumptions about what knowledge is and how it can legitimately be acquired.</a:t>
            </a:r>
            <a:endParaRPr lang="en-US" sz="1500" dirty="0"/>
          </a:p>
          <a:p>
            <a:pPr marL="342900" indent="-342900">
              <a:lnSpc>
                <a:spcPct val="125000"/>
              </a:lnSpc>
              <a:spcAft>
                <a:spcPts val="800"/>
              </a:spcAft>
              <a:buSzPct val="100000"/>
              <a:buChar char="•"/>
            </a:pPr>
            <a:r>
              <a:rPr lang="en-US" sz="1500" dirty="0">
                <a:solidFill>
                  <a:srgbClr val="374151"/>
                </a:solidFill>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Applied research — Research directed at solving an identified practical problem.</a:t>
            </a:r>
            <a:endParaRPr lang="en-US" sz="1500" dirty="0"/>
          </a:p>
          <a:p>
            <a:pPr marL="342900" indent="-342900">
              <a:lnSpc>
                <a:spcPct val="125000"/>
              </a:lnSpc>
              <a:spcAft>
                <a:spcPts val="800"/>
              </a:spcAft>
              <a:buSzPct val="100000"/>
              <a:buChar char="•"/>
            </a:pPr>
            <a:r>
              <a:rPr lang="en-US" sz="1500" dirty="0">
                <a:solidFill>
                  <a:srgbClr val="374151"/>
                </a:solidFill>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In pairs, take a recent paper from your own field. Identify its purpose, approach, time dimension and implied paradigm. Then argue whether the design actually matches the paradigm the authors claim.</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2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The Research Problem, Questions and Objectives</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How to move from a broad interest to a question that is specific enough to answer, and how aims, objectives, hypotheses and conceptual frameworks fit together.</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Write a problem statement that establishes magnitude, consequence and gap</a:t>
            </a:r>
            <a:endParaRPr lang="en-US" sz="1800" dirty="0"/>
          </a:p>
          <a:p>
            <a:pPr marL="342900" indent="-342900">
              <a:lnSpc>
                <a:spcPct val="125000"/>
              </a:lnSpc>
              <a:spcAft>
                <a:spcPts val="800"/>
              </a:spcAft>
              <a:buSzPct val="100000"/>
              <a:buChar char="•"/>
            </a:pPr>
            <a:r>
              <a:rPr lang="en-US" sz="1800" dirty="0">
                <a:solidFill>
                  <a:srgbClr val="374151"/>
                </a:solidFill>
              </a:rPr>
              <a:t>Convert a broad topic into a focused, answerable research question</a:t>
            </a:r>
            <a:endParaRPr lang="en-US" sz="1800" dirty="0"/>
          </a:p>
          <a:p>
            <a:pPr marL="342900" indent="-342900">
              <a:lnSpc>
                <a:spcPct val="125000"/>
              </a:lnSpc>
              <a:spcAft>
                <a:spcPts val="800"/>
              </a:spcAft>
              <a:buSzPct val="100000"/>
              <a:buChar char="•"/>
            </a:pPr>
            <a:r>
              <a:rPr lang="en-US" sz="1800" dirty="0">
                <a:solidFill>
                  <a:srgbClr val="374151"/>
                </a:solidFill>
              </a:rPr>
              <a:t>Apply FINER and PICO to test whether a question is worth asking</a:t>
            </a:r>
            <a:endParaRPr lang="en-US" sz="1800" dirty="0"/>
          </a:p>
          <a:p>
            <a:pPr marL="342900" indent="-342900">
              <a:lnSpc>
                <a:spcPct val="125000"/>
              </a:lnSpc>
              <a:spcAft>
                <a:spcPts val="800"/>
              </a:spcAft>
              <a:buSzPct val="100000"/>
              <a:buChar char="•"/>
            </a:pPr>
            <a:r>
              <a:rPr lang="en-US" sz="1800" dirty="0">
                <a:solidFill>
                  <a:srgbClr val="374151"/>
                </a:solidFill>
              </a:rPr>
              <a:t>Distinguish aims, objectives, research questions and hypotheses</a:t>
            </a:r>
            <a:endParaRPr lang="en-US" sz="1800" dirty="0"/>
          </a:p>
          <a:p>
            <a:pPr marL="342900" indent="-342900">
              <a:lnSpc>
                <a:spcPct val="125000"/>
              </a:lnSpc>
              <a:spcAft>
                <a:spcPts val="800"/>
              </a:spcAft>
              <a:buSzPct val="100000"/>
              <a:buChar char="•"/>
            </a:pPr>
            <a:r>
              <a:rPr lang="en-US" sz="1800" dirty="0">
                <a:solidFill>
                  <a:srgbClr val="374151"/>
                </a:solidFill>
              </a:rPr>
              <a:t>Draw a conceptual framework linking your key variables or concepts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problem statement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 problem statement answers four things in order: what is the problem, how big is it, what follows if it is not addressed, and what is not yet known</a:t>
            </a:r>
            <a:endParaRPr lang="en-US" sz="1500" dirty="0"/>
          </a:p>
          <a:p>
            <a:pPr marL="342900" indent="-342900">
              <a:lnSpc>
                <a:spcPct val="125000"/>
              </a:lnSpc>
              <a:spcAft>
                <a:spcPts val="800"/>
              </a:spcAft>
              <a:buSzPct val="100000"/>
              <a:buChar char="•"/>
            </a:pPr>
            <a:r>
              <a:rPr lang="en-US" sz="1500" dirty="0">
                <a:solidFill>
                  <a:srgbClr val="374151"/>
                </a:solidFill>
              </a:rPr>
              <a:t>Magnitude needs evidence — prevalence, incidence, cost, or documented reports, each cited</a:t>
            </a:r>
            <a:endParaRPr lang="en-US" sz="1500" dirty="0"/>
          </a:p>
          <a:p>
            <a:pPr marL="342900" indent="-342900">
              <a:lnSpc>
                <a:spcPct val="125000"/>
              </a:lnSpc>
              <a:spcAft>
                <a:spcPts val="800"/>
              </a:spcAft>
              <a:buSzPct val="100000"/>
              <a:buChar char="•"/>
            </a:pPr>
            <a:r>
              <a:rPr lang="en-US" sz="1500" dirty="0">
                <a:solidFill>
                  <a:srgbClr val="374151"/>
                </a:solidFill>
              </a:rPr>
              <a:t>The gap is the pivot of the whole proposal: it must be a gap in knowledge, not merely a gap in your own reading</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problem statement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 gap can be empirical (nobody has measured this), methodological (measured badly), theoretical (no adequate explanation) or contextual (established elsewhere but never tested here)</a:t>
            </a:r>
            <a:endParaRPr lang="en-US" sz="1300" dirty="0"/>
          </a:p>
          <a:p>
            <a:pPr marL="342900" indent="-342900">
              <a:lnSpc>
                <a:spcPct val="125000"/>
              </a:lnSpc>
              <a:spcAft>
                <a:spcPts val="800"/>
              </a:spcAft>
              <a:buSzPct val="100000"/>
              <a:buChar char="•"/>
            </a:pPr>
            <a:r>
              <a:rPr lang="en-US" sz="1300" dirty="0">
                <a:solidFill>
                  <a:srgbClr val="374151"/>
                </a:solidFill>
              </a:rPr>
              <a:t>Contextual gaps are legitimate and are often the strongest basis for research in Ghana and across Africa</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"No study has been done in my district" is only a gap if there is reason to expect the local answer might differ. Say why it might — different health system, different exposure, different population structure.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topic to question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Narrow along four axes: population, concept or exposure, outcome, and setting or time</a:t>
            </a:r>
            <a:endParaRPr lang="en-US" sz="1300" dirty="0"/>
          </a:p>
          <a:p>
            <a:pPr marL="342900" indent="-342900">
              <a:lnSpc>
                <a:spcPct val="125000"/>
              </a:lnSpc>
              <a:spcAft>
                <a:spcPts val="800"/>
              </a:spcAft>
              <a:buSzPct val="100000"/>
              <a:buChar char="•"/>
            </a:pPr>
            <a:r>
              <a:rPr lang="en-US" sz="1300" dirty="0">
                <a:solidFill>
                  <a:srgbClr val="374151"/>
                </a:solidFill>
              </a:rPr>
              <a:t>"Malaria in children" is a topic; "Does distance to a health facility predict delayed treatment for malaria in under-fives in the Upper East Region?" is a question</a:t>
            </a:r>
            <a:endParaRPr lang="en-US" sz="1300" dirty="0"/>
          </a:p>
          <a:p>
            <a:pPr marL="342900" indent="-342900">
              <a:lnSpc>
                <a:spcPct val="125000"/>
              </a:lnSpc>
              <a:spcAft>
                <a:spcPts val="800"/>
              </a:spcAft>
              <a:buSzPct val="100000"/>
              <a:buChar char="•"/>
            </a:pPr>
            <a:r>
              <a:rPr lang="en-US" sz="1300" dirty="0">
                <a:solidFill>
                  <a:srgbClr val="374151"/>
                </a:solidFill>
              </a:rPr>
              <a:t>A good question is answerable with the data and time you actually have</a:t>
            </a:r>
            <a:endParaRPr lang="en-US" sz="1300" dirty="0"/>
          </a:p>
          <a:p>
            <a:pPr marL="342900" indent="-342900">
              <a:lnSpc>
                <a:spcPct val="125000"/>
              </a:lnSpc>
              <a:spcAft>
                <a:spcPts val="800"/>
              </a:spcAft>
              <a:buSzPct val="100000"/>
              <a:buChar char="•"/>
            </a:pPr>
            <a:r>
              <a:rPr lang="en-US" sz="1300" dirty="0">
                <a:solidFill>
                  <a:srgbClr val="374151"/>
                </a:solidFill>
              </a:rPr>
              <a:t>If you cannot name the analysis that would answer it, the question is not yet specific enough</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topic to question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Quantitative questions specify variables and their relationship; qualitative questions specify experience, process or meaning</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Testing the question: FINER and PICO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FINER — Feasible, Interesting, Novel, Ethical, Relevant</a:t>
            </a:r>
            <a:endParaRPr lang="en-US" sz="1500" dirty="0"/>
          </a:p>
          <a:p>
            <a:pPr marL="342900" indent="-342900">
              <a:lnSpc>
                <a:spcPct val="125000"/>
              </a:lnSpc>
              <a:spcAft>
                <a:spcPts val="800"/>
              </a:spcAft>
              <a:buSzPct val="100000"/>
              <a:buChar char="•"/>
            </a:pPr>
            <a:r>
              <a:rPr lang="en-US" sz="1500" dirty="0">
                <a:solidFill>
                  <a:srgbClr val="374151"/>
                </a:solidFill>
              </a:rPr>
              <a:t>Feasibility is the most commonly overlooked: participants, time, funding, skills and access</a:t>
            </a:r>
            <a:endParaRPr lang="en-US" sz="1500" dirty="0"/>
          </a:p>
          <a:p>
            <a:pPr marL="342900" indent="-342900">
              <a:lnSpc>
                <a:spcPct val="125000"/>
              </a:lnSpc>
              <a:spcAft>
                <a:spcPts val="800"/>
              </a:spcAft>
              <a:buSzPct val="100000"/>
              <a:buChar char="•"/>
            </a:pPr>
            <a:r>
              <a:rPr lang="en-US" sz="1500" dirty="0">
                <a:solidFill>
                  <a:srgbClr val="374151"/>
                </a:solidFill>
              </a:rPr>
              <a:t>PICO structures comparative quantitative questions: Population, Intervention or exposure, Comparison, Outcome</a:t>
            </a:r>
            <a:endParaRPr lang="en-US" sz="1500" dirty="0"/>
          </a:p>
          <a:p>
            <a:pPr marL="342900" indent="-342900">
              <a:lnSpc>
                <a:spcPct val="125000"/>
              </a:lnSpc>
              <a:spcAft>
                <a:spcPts val="800"/>
              </a:spcAft>
              <a:buSzPct val="100000"/>
              <a:buChar char="•"/>
            </a:pPr>
            <a:r>
              <a:rPr lang="en-US" sz="1500" dirty="0">
                <a:solidFill>
                  <a:srgbClr val="374151"/>
                </a:solidFill>
              </a:rPr>
              <a:t>Add T for timeframe (PICOT) when duration matters</a:t>
            </a:r>
            <a:endParaRPr lang="en-US" sz="1500" dirty="0"/>
          </a:p>
          <a:p>
            <a:pPr marL="342900" indent="-342900">
              <a:lnSpc>
                <a:spcPct val="125000"/>
              </a:lnSpc>
              <a:spcAft>
                <a:spcPts val="800"/>
              </a:spcAft>
              <a:buSzPct val="100000"/>
              <a:buChar char="•"/>
            </a:pPr>
            <a:r>
              <a:rPr lang="en-US" sz="1500" dirty="0">
                <a:solidFill>
                  <a:srgbClr val="374151"/>
                </a:solidFill>
              </a:rPr>
              <a:t>For qualitative work, SPIDER is a better fit: Sample, Phenomenon of Interest, Design, Evaluation, Research type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Framing the same topic three ways</a:t>
            </a:r>
            <a:endParaRPr lang="en-US" sz="2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Element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Quantitative (PICO)</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Qualitative (SPIDER)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Who</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Under-fives with confirmed malaria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Caregivers of under-fives treated for malaria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What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Distance greater than 5 km to facility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Experience of seeking and delaying care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Compared with</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Distance of 5 km or less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Not applicable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Outcome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Treatment delayed beyond 24 hours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How caregivers account for delay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Analysis implied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Logistic regression, odds ratio</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Thematic analysis of interviews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Aims, objectives and hypotheses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aim is one sentence stating the overall purpose — usually beginning "To determine…", "To explore…", "To evaluate…"</a:t>
            </a:r>
            <a:endParaRPr lang="en-US" sz="1500" dirty="0"/>
          </a:p>
          <a:p>
            <a:pPr marL="342900" indent="-342900">
              <a:lnSpc>
                <a:spcPct val="125000"/>
              </a:lnSpc>
              <a:spcAft>
                <a:spcPts val="800"/>
              </a:spcAft>
              <a:buSzPct val="100000"/>
              <a:buChar char="•"/>
            </a:pPr>
            <a:r>
              <a:rPr lang="en-US" sz="1500" dirty="0">
                <a:solidFill>
                  <a:srgbClr val="374151"/>
                </a:solidFill>
              </a:rPr>
              <a:t>Objectives break the aim into specific, ordered, measurable steps, each starting with an action verb</a:t>
            </a:r>
            <a:endParaRPr lang="en-US" sz="1500" dirty="0"/>
          </a:p>
          <a:p>
            <a:pPr marL="342900" indent="-342900">
              <a:lnSpc>
                <a:spcPct val="125000"/>
              </a:lnSpc>
              <a:spcAft>
                <a:spcPts val="800"/>
              </a:spcAft>
              <a:buSzPct val="100000"/>
              <a:buChar char="•"/>
            </a:pPr>
            <a:r>
              <a:rPr lang="en-US" sz="1500" dirty="0">
                <a:solidFill>
                  <a:srgbClr val="374151"/>
                </a:solidFill>
              </a:rPr>
              <a:t>Three to five objectives is usual; more than six normally signals an unfocused study</a:t>
            </a:r>
            <a:endParaRPr lang="en-US" sz="1500" dirty="0"/>
          </a:p>
          <a:p>
            <a:pPr marL="342900" indent="-342900">
              <a:lnSpc>
                <a:spcPct val="125000"/>
              </a:lnSpc>
              <a:spcAft>
                <a:spcPts val="800"/>
              </a:spcAft>
              <a:buSzPct val="100000"/>
              <a:buChar char="•"/>
            </a:pPr>
            <a:r>
              <a:rPr lang="en-US" sz="1500" dirty="0">
                <a:solidFill>
                  <a:srgbClr val="374151"/>
                </a:solidFill>
              </a:rPr>
              <a:t>A hypothesis is a testable statement of an expected relationship, stated for quantitative work only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Aims, objectives and hypotheses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null hypothesis states no difference or no association; the alternative states the expected effect</a:t>
            </a:r>
            <a:endParaRPr lang="en-US" sz="1500" dirty="0"/>
          </a:p>
          <a:p>
            <a:pPr marL="342900" indent="-342900">
              <a:lnSpc>
                <a:spcPct val="125000"/>
              </a:lnSpc>
              <a:spcAft>
                <a:spcPts val="800"/>
              </a:spcAft>
              <a:buSzPct val="100000"/>
              <a:buChar char="•"/>
            </a:pPr>
            <a:r>
              <a:rPr lang="en-US" sz="1500" dirty="0">
                <a:solidFill>
                  <a:srgbClr val="374151"/>
                </a:solidFill>
              </a:rPr>
              <a:t>Qualitative studies state research questions rather than hypotheses, because they do not set out to test a prediction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Objectives must map one-to-one onto your analysis plan and, later, onto your results section. If an objective produces no result, or a result answers no objective, something has gone wrong.</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Conceptual and theoretical frameworks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 theoretical framework borrows an existing theory (Health Belief Model, Theory of Planned Behaviour, Social Cognitive Theory) to explain your phenomenon</a:t>
            </a:r>
            <a:endParaRPr lang="en-US" sz="1300" dirty="0"/>
          </a:p>
          <a:p>
            <a:pPr marL="342900" indent="-342900">
              <a:lnSpc>
                <a:spcPct val="125000"/>
              </a:lnSpc>
              <a:spcAft>
                <a:spcPts val="800"/>
              </a:spcAft>
              <a:buSzPct val="100000"/>
              <a:buChar char="•"/>
            </a:pPr>
            <a:r>
              <a:rPr lang="en-US" sz="1300" dirty="0">
                <a:solidFill>
                  <a:srgbClr val="374151"/>
                </a:solidFill>
              </a:rPr>
              <a:t>A conceptual framework is your own diagram of how the variables in your study relate</a:t>
            </a:r>
            <a:endParaRPr lang="en-US" sz="1300" dirty="0"/>
          </a:p>
          <a:p>
            <a:pPr marL="342900" indent="-342900">
              <a:lnSpc>
                <a:spcPct val="125000"/>
              </a:lnSpc>
              <a:spcAft>
                <a:spcPts val="800"/>
              </a:spcAft>
              <a:buSzPct val="100000"/>
              <a:buChar char="•"/>
            </a:pPr>
            <a:r>
              <a:rPr lang="en-US" sz="1300" dirty="0">
                <a:solidFill>
                  <a:srgbClr val="374151"/>
                </a:solidFill>
              </a:rPr>
              <a:t>It should distinguish independent, dependent, mediating, moderating and confounding variables</a:t>
            </a:r>
            <a:endParaRPr lang="en-US" sz="1300" dirty="0"/>
          </a:p>
          <a:p>
            <a:pPr marL="342900" indent="-342900">
              <a:lnSpc>
                <a:spcPct val="125000"/>
              </a:lnSpc>
              <a:spcAft>
                <a:spcPts val="800"/>
              </a:spcAft>
              <a:buSzPct val="100000"/>
              <a:buChar char="•"/>
            </a:pPr>
            <a:r>
              <a:rPr lang="en-US" sz="1300" dirty="0">
                <a:solidFill>
                  <a:srgbClr val="374151"/>
                </a:solidFill>
              </a:rPr>
              <a:t>Drawing it early exposes variables you would otherwise forget to measure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Conceptual and theoretical frameworks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The framework is also what tells you which variables must be adjusted for in analysis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Narrowing a topic until it can actually be answered</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arrives with the topic "mental health of students in Ghana". It is a real problem, but as written it cannot be studied.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Population: which students? Settle on final-year nursing students at one university.</a:t>
            </a:r>
            <a:endParaRPr lang="en-US" sz="1300" dirty="0"/>
          </a:p>
          <a:p>
            <a:pPr marL="342900" indent="-342900">
              <a:lnSpc>
                <a:spcPct val="115000"/>
              </a:lnSpc>
              <a:buSzPct val="100000"/>
              <a:buFont typeface="+mj-lt"/>
              <a:buAutoNum type="arabicPeriod" startAt="1"/>
            </a:pPr>
            <a:r>
              <a:rPr lang="en-US" sz="1300" dirty="0">
                <a:solidFill>
                  <a:srgbClr val="374151"/>
                </a:solidFill>
              </a:rPr>
              <a:t>Exposure or concept: what about them? Choose academic workload, measured in timetabled contact hours.</a:t>
            </a:r>
            <a:endParaRPr lang="en-US" sz="1300" dirty="0"/>
          </a:p>
          <a:p>
            <a:pPr marL="342900" indent="-342900">
              <a:lnSpc>
                <a:spcPct val="115000"/>
              </a:lnSpc>
              <a:buSzPct val="100000"/>
              <a:buFont typeface="+mj-lt"/>
              <a:buAutoNum type="arabicPeriod" startAt="1"/>
            </a:pPr>
            <a:r>
              <a:rPr lang="en-US" sz="1300" dirty="0">
                <a:solidFill>
                  <a:srgbClr val="374151"/>
                </a:solidFill>
              </a:rPr>
              <a:t>Outcome: what will you measure? Depressive symptoms on the PHQ-9.</a:t>
            </a:r>
            <a:endParaRPr lang="en-US" sz="1300" dirty="0"/>
          </a:p>
          <a:p>
            <a:pPr marL="342900" indent="-342900">
              <a:lnSpc>
                <a:spcPct val="115000"/>
              </a:lnSpc>
              <a:buSzPct val="100000"/>
              <a:buFont typeface="+mj-lt"/>
              <a:buAutoNum type="arabicPeriod" startAt="1"/>
            </a:pPr>
            <a:r>
              <a:rPr lang="en-US" sz="1300" dirty="0">
                <a:solidFill>
                  <a:srgbClr val="374151"/>
                </a:solidFill>
              </a:rPr>
              <a:t>Setting and time: one campus, one semester.</a:t>
            </a:r>
            <a:endParaRPr lang="en-US" sz="1300" dirty="0"/>
          </a:p>
          <a:p>
            <a:pPr marL="342900" indent="-342900">
              <a:lnSpc>
                <a:spcPct val="115000"/>
              </a:lnSpc>
              <a:buSzPct val="100000"/>
              <a:buFont typeface="+mj-lt"/>
              <a:buAutoNum type="arabicPeriod" startAt="1"/>
            </a:pPr>
            <a:r>
              <a:rPr lang="en-US" sz="1300" dirty="0">
                <a:solidFill>
                  <a:srgbClr val="374151"/>
                </a:solidFill>
              </a:rPr>
              <a:t>The question becomes: "Is timetabled workload associated with PHQ-9 score among final-year nursing students at [University] in the 2026 second semester?"</a:t>
            </a:r>
            <a:endParaRPr lang="en-US" sz="1300" dirty="0"/>
          </a:p>
          <a:p>
            <a:pPr marL="342900" indent="-342900">
              <a:lnSpc>
                <a:spcPct val="115000"/>
              </a:lnSpc>
              <a:buSzPct val="100000"/>
              <a:buFont typeface="+mj-lt"/>
              <a:buAutoNum type="arabicPeriod" startAt="1"/>
            </a:pPr>
            <a:r>
              <a:rPr lang="en-US" sz="1300" dirty="0">
                <a:solidFill>
                  <a:srgbClr val="374151"/>
                </a:solidFill>
              </a:rPr>
              <a:t>Now name the analysis: linear regression of PHQ-9 score on contact hours, adjusted for age, sex and financial stress. If you cannot name it, the question is still too vague.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An objective that produces no result</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proposal lists four objectives. The third is "to explore the perceptions of health workers". The study is a cross-sectional survey with a closed-response questionnaire.</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"Explore perceptions" implies qualitative work — interviews or focus groups.</a:t>
            </a:r>
            <a:endParaRPr lang="en-US" sz="1300" dirty="0"/>
          </a:p>
          <a:p>
            <a:pPr marL="342900" indent="-342900">
              <a:lnSpc>
                <a:spcPct val="115000"/>
              </a:lnSpc>
              <a:buSzPct val="100000"/>
              <a:buFont typeface="+mj-lt"/>
              <a:buAutoNum type="arabicPeriod" startAt="1"/>
            </a:pPr>
            <a:r>
              <a:rPr lang="en-US" sz="1300" dirty="0">
                <a:solidFill>
                  <a:srgbClr val="374151"/>
                </a:solidFill>
              </a:rPr>
              <a:t>The instrument collects no free text, so nothing in the data can answer this objective.</a:t>
            </a:r>
            <a:endParaRPr lang="en-US" sz="1300" dirty="0"/>
          </a:p>
          <a:p>
            <a:pPr marL="342900" indent="-342900">
              <a:lnSpc>
                <a:spcPct val="115000"/>
              </a:lnSpc>
              <a:buSzPct val="100000"/>
              <a:buFont typeface="+mj-lt"/>
              <a:buAutoNum type="arabicPeriod" startAt="1"/>
            </a:pPr>
            <a:r>
              <a:rPr lang="en-US" sz="1300" dirty="0">
                <a:solidFill>
                  <a:srgbClr val="374151"/>
                </a:solidFill>
              </a:rPr>
              <a:t>At write-up the student will either drop the objective, or pad the results with a frequency table that does not address it.</a:t>
            </a:r>
            <a:endParaRPr lang="en-US" sz="1300" dirty="0"/>
          </a:p>
          <a:p>
            <a:pPr marL="342900" indent="-342900">
              <a:lnSpc>
                <a:spcPct val="115000"/>
              </a:lnSpc>
              <a:buSzPct val="100000"/>
              <a:buFont typeface="+mj-lt"/>
              <a:buAutoNum type="arabicPeriod" startAt="1"/>
            </a:pPr>
            <a:r>
              <a:rPr lang="en-US" sz="1300" dirty="0">
                <a:solidFill>
                  <a:srgbClr val="374151"/>
                </a:solidFill>
              </a:rPr>
              <a:t>Either outcome invites the examiner question: why did you state an objective you never met?</a:t>
            </a:r>
            <a:endParaRPr lang="en-US" sz="1300" dirty="0"/>
          </a:p>
          <a:p>
            <a:pPr marL="342900" indent="-342900">
              <a:lnSpc>
                <a:spcPct val="115000"/>
              </a:lnSpc>
              <a:buSzPct val="100000"/>
              <a:buFont typeface="+mj-lt"/>
              <a:buAutoNum type="arabicPeriod" startAt="1"/>
            </a:pPr>
            <a:r>
              <a:rPr lang="en-US" sz="1300" dirty="0">
                <a:solidFill>
                  <a:srgbClr val="374151"/>
                </a:solidFill>
              </a:rPr>
              <a:t>The fix at proposal stage is cheap: rewrite it as "to describe health workers' reported barriers", or add a qualitative strand and design for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Research gap — A specific limitation in existing knowledge that the proposed study will address.</a:t>
            </a:r>
            <a:endParaRPr lang="en-US" sz="1700" dirty="0"/>
          </a:p>
          <a:p>
            <a:pPr marL="342900" indent="-342900">
              <a:lnSpc>
                <a:spcPct val="125000"/>
              </a:lnSpc>
              <a:spcAft>
                <a:spcPts val="800"/>
              </a:spcAft>
              <a:buSzPct val="100000"/>
              <a:buChar char="•"/>
            </a:pPr>
            <a:r>
              <a:rPr lang="en-US" sz="1700" dirty="0">
                <a:solidFill>
                  <a:srgbClr val="374151"/>
                </a:solidFill>
              </a:rPr>
              <a:t>Aim — A single statement of the overall purpose of the study.</a:t>
            </a:r>
            <a:endParaRPr lang="en-US" sz="1700" dirty="0"/>
          </a:p>
          <a:p>
            <a:pPr marL="342900" indent="-342900">
              <a:lnSpc>
                <a:spcPct val="125000"/>
              </a:lnSpc>
              <a:spcAft>
                <a:spcPts val="800"/>
              </a:spcAft>
              <a:buSzPct val="100000"/>
              <a:buChar char="•"/>
            </a:pPr>
            <a:r>
              <a:rPr lang="en-US" sz="1700" dirty="0">
                <a:solidFill>
                  <a:srgbClr val="374151"/>
                </a:solidFill>
              </a:rPr>
              <a:t>Objective — A specific, measurable step that contributes to achieving the aim.</a:t>
            </a:r>
            <a:endParaRPr lang="en-US" sz="1700" dirty="0"/>
          </a:p>
          <a:p>
            <a:pPr marL="342900" indent="-342900">
              <a:lnSpc>
                <a:spcPct val="125000"/>
              </a:lnSpc>
              <a:spcAft>
                <a:spcPts val="800"/>
              </a:spcAft>
              <a:buSzPct val="100000"/>
              <a:buChar char="•"/>
            </a:pPr>
            <a:r>
              <a:rPr lang="en-US" sz="1700" dirty="0">
                <a:solidFill>
                  <a:srgbClr val="374151"/>
                </a:solidFill>
              </a:rPr>
              <a:t>Null hypothesis — The testable statement that no difference or association exists in the population.</a:t>
            </a:r>
            <a:endParaRPr lang="en-US" sz="1700" dirty="0"/>
          </a:p>
          <a:p>
            <a:pPr marL="342900" indent="-342900">
              <a:lnSpc>
                <a:spcPct val="125000"/>
              </a:lnSpc>
              <a:spcAft>
                <a:spcPts val="800"/>
              </a:spcAft>
              <a:buSzPct val="100000"/>
              <a:buChar char="•"/>
            </a:pPr>
            <a:r>
              <a:rPr lang="en-US" sz="1700" dirty="0">
                <a:solidFill>
                  <a:srgbClr val="374151"/>
                </a:solidFill>
              </a:rPr>
              <a:t>Conceptual framework — A diagram or model of the presumed relationships among the study variables.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Confounder — A variable associated with both exposure and outcome that can produce a spurious association.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Write a one-paragraph problem statement and one research question for your own study. Exchange with a partner, who must identify the gap type and name the analysis your question implies. If they cannot, revise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3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The Literature Review</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a literature review is for, the main types and when each is appropriate, and how to build one that argues rather than merely lists.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Explain the four functions a literature review performs in a research project</a:t>
            </a:r>
            <a:endParaRPr lang="en-US" sz="1800" dirty="0"/>
          </a:p>
          <a:p>
            <a:pPr marL="342900" indent="-342900">
              <a:lnSpc>
                <a:spcPct val="125000"/>
              </a:lnSpc>
              <a:spcAft>
                <a:spcPts val="800"/>
              </a:spcAft>
              <a:buSzPct val="100000"/>
              <a:buChar char="•"/>
            </a:pPr>
            <a:r>
              <a:rPr lang="en-US" sz="1800" dirty="0">
                <a:solidFill>
                  <a:srgbClr val="374151"/>
                </a:solidFill>
              </a:rPr>
              <a:t>Distinguish narrative, scoping, systematic, rapid and integrative reviews</a:t>
            </a:r>
            <a:endParaRPr lang="en-US" sz="1800" dirty="0"/>
          </a:p>
          <a:p>
            <a:pPr marL="342900" indent="-342900">
              <a:lnSpc>
                <a:spcPct val="125000"/>
              </a:lnSpc>
              <a:spcAft>
                <a:spcPts val="800"/>
              </a:spcAft>
              <a:buSzPct val="100000"/>
              <a:buChar char="•"/>
            </a:pPr>
            <a:r>
              <a:rPr lang="en-US" sz="1800" dirty="0">
                <a:solidFill>
                  <a:srgbClr val="374151"/>
                </a:solidFill>
              </a:rPr>
              <a:t>Select the review type appropriate to your purpose and resources</a:t>
            </a:r>
            <a:endParaRPr lang="en-US" sz="1800" dirty="0"/>
          </a:p>
          <a:p>
            <a:pPr marL="342900" indent="-342900">
              <a:lnSpc>
                <a:spcPct val="125000"/>
              </a:lnSpc>
              <a:spcAft>
                <a:spcPts val="800"/>
              </a:spcAft>
              <a:buSzPct val="100000"/>
              <a:buChar char="•"/>
            </a:pPr>
            <a:r>
              <a:rPr lang="en-US" sz="1800" dirty="0">
                <a:solidFill>
                  <a:srgbClr val="374151"/>
                </a:solidFill>
              </a:rPr>
              <a:t>Organise a review thematically rather than source by source</a:t>
            </a:r>
            <a:endParaRPr lang="en-US" sz="1800" dirty="0"/>
          </a:p>
          <a:p>
            <a:pPr marL="342900" indent="-342900">
              <a:lnSpc>
                <a:spcPct val="125000"/>
              </a:lnSpc>
              <a:spcAft>
                <a:spcPts val="800"/>
              </a:spcAft>
              <a:buSzPct val="100000"/>
              <a:buChar char="•"/>
            </a:pPr>
            <a:r>
              <a:rPr lang="en-US" sz="1800" dirty="0">
                <a:solidFill>
                  <a:srgbClr val="374151"/>
                </a:solidFill>
              </a:rPr>
              <a:t>Use a synthesis matrix to move from reading to argument</a:t>
            </a:r>
            <a:endParaRPr lang="en-US" sz="1800" dirty="0"/>
          </a:p>
          <a:p>
            <a:pPr marL="342900" indent="-342900">
              <a:lnSpc>
                <a:spcPct val="125000"/>
              </a:lnSpc>
              <a:spcAft>
                <a:spcPts val="800"/>
              </a:spcAft>
              <a:buSzPct val="100000"/>
              <a:buChar char="•"/>
            </a:pPr>
            <a:r>
              <a:rPr lang="en-US" sz="1800" dirty="0">
                <a:solidFill>
                  <a:srgbClr val="374151"/>
                </a:solidFill>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the review is for</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To establish what is already known, so you do not repeat settled work</a:t>
            </a:r>
            <a:endParaRPr lang="en-US" sz="1700" dirty="0"/>
          </a:p>
          <a:p>
            <a:pPr marL="342900" indent="-342900">
              <a:lnSpc>
                <a:spcPct val="125000"/>
              </a:lnSpc>
              <a:spcAft>
                <a:spcPts val="800"/>
              </a:spcAft>
              <a:buSzPct val="100000"/>
              <a:buChar char="•"/>
            </a:pPr>
            <a:r>
              <a:rPr lang="en-US" sz="1700" dirty="0">
                <a:solidFill>
                  <a:srgbClr val="374151"/>
                </a:solidFill>
              </a:rPr>
              <a:t>To locate and justify the gap your study will fill</a:t>
            </a:r>
            <a:endParaRPr lang="en-US" sz="1700" dirty="0"/>
          </a:p>
          <a:p>
            <a:pPr marL="342900" indent="-342900">
              <a:lnSpc>
                <a:spcPct val="125000"/>
              </a:lnSpc>
              <a:spcAft>
                <a:spcPts val="800"/>
              </a:spcAft>
              <a:buSzPct val="100000"/>
              <a:buChar char="•"/>
            </a:pPr>
            <a:r>
              <a:rPr lang="en-US" sz="1700" dirty="0">
                <a:solidFill>
                  <a:srgbClr val="374151"/>
                </a:solidFill>
              </a:rPr>
              <a:t>To inform your method — which designs, instruments and measures others found workable</a:t>
            </a:r>
            <a:endParaRPr lang="en-US" sz="1700" dirty="0"/>
          </a:p>
          <a:p>
            <a:pPr marL="342900" indent="-342900">
              <a:lnSpc>
                <a:spcPct val="125000"/>
              </a:lnSpc>
              <a:spcAft>
                <a:spcPts val="800"/>
              </a:spcAft>
              <a:buSzPct val="100000"/>
              <a:buChar char="•"/>
            </a:pPr>
            <a:r>
              <a:rPr lang="en-US" sz="1700" dirty="0">
                <a:solidFill>
                  <a:srgbClr val="374151"/>
                </a:solidFill>
              </a:rPr>
              <a:t>To supply the framework against which you will later interpret your own findings</a:t>
            </a:r>
            <a:endParaRPr lang="en-US" sz="1700" dirty="0"/>
          </a:p>
          <a:p>
            <a:pPr marL="342900" indent="-342900">
              <a:lnSpc>
                <a:spcPct val="125000"/>
              </a:lnSpc>
              <a:spcAft>
                <a:spcPts val="800"/>
              </a:spcAft>
              <a:buSzPct val="100000"/>
              <a:buChar char="•"/>
            </a:pPr>
            <a:r>
              <a:rPr lang="en-US" sz="1700" dirty="0">
                <a:solidFill>
                  <a:srgbClr val="374151"/>
                </a:solidFill>
              </a:rPr>
              <a:t>A review is an argument leading to your question, not a catalogue of everything published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Types of review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Narrative review — broad, expert overview; flexible but vulnerable to selection bias</a:t>
            </a:r>
            <a:endParaRPr lang="en-US" sz="1500" dirty="0"/>
          </a:p>
          <a:p>
            <a:pPr marL="342900" indent="-342900">
              <a:lnSpc>
                <a:spcPct val="125000"/>
              </a:lnSpc>
              <a:spcAft>
                <a:spcPts val="800"/>
              </a:spcAft>
              <a:buSzPct val="100000"/>
              <a:buChar char="•"/>
            </a:pPr>
            <a:r>
              <a:rPr lang="en-US" sz="1500" dirty="0">
                <a:solidFill>
                  <a:srgbClr val="374151"/>
                </a:solidFill>
              </a:rPr>
              <a:t>Scoping review — maps the extent and nature of evidence and identifies gaps; ideal when a field is new or heterogeneous</a:t>
            </a:r>
            <a:endParaRPr lang="en-US" sz="1500" dirty="0"/>
          </a:p>
          <a:p>
            <a:pPr marL="342900" indent="-342900">
              <a:lnSpc>
                <a:spcPct val="125000"/>
              </a:lnSpc>
              <a:spcAft>
                <a:spcPts val="800"/>
              </a:spcAft>
              <a:buSzPct val="100000"/>
              <a:buChar char="•"/>
            </a:pPr>
            <a:r>
              <a:rPr lang="en-US" sz="1500" dirty="0">
                <a:solidFill>
                  <a:srgbClr val="374151"/>
                </a:solidFill>
              </a:rPr>
              <a:t>Systematic review — answers a focused question using a pre-registered protocol and exhaustive search; the highest standard, and the most work</a:t>
            </a:r>
            <a:endParaRPr lang="en-US" sz="1500" dirty="0"/>
          </a:p>
          <a:p>
            <a:pPr marL="342900" indent="-342900">
              <a:lnSpc>
                <a:spcPct val="125000"/>
              </a:lnSpc>
              <a:spcAft>
                <a:spcPts val="800"/>
              </a:spcAft>
              <a:buSzPct val="100000"/>
              <a:buChar char="•"/>
            </a:pPr>
            <a:r>
              <a:rPr lang="en-US" sz="1500" dirty="0">
                <a:solidFill>
                  <a:srgbClr val="374151"/>
                </a:solidFill>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Types of review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Rapid review — systematic methods with deliberate, documented shortcuts, used under time pressure</a:t>
            </a:r>
            <a:endParaRPr lang="en-US" sz="1500" dirty="0"/>
          </a:p>
          <a:p>
            <a:pPr marL="342900" indent="-342900">
              <a:lnSpc>
                <a:spcPct val="125000"/>
              </a:lnSpc>
              <a:spcAft>
                <a:spcPts val="800"/>
              </a:spcAft>
              <a:buSzPct val="100000"/>
              <a:buChar char="•"/>
            </a:pPr>
            <a:r>
              <a:rPr lang="en-US" sz="1500" dirty="0">
                <a:solidFill>
                  <a:srgbClr val="374151"/>
                </a:solidFill>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Choosing a review type</a:t>
            </a:r>
            <a:endParaRPr lang="en-US" sz="2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If your purpose is…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Use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Typical effort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Introduce a thesis chapter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Narrative or integrative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4-8 weeks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Map an emerging or scattered field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Scoping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3-6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Answer a focused effectiveness question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Systematic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6-12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Pool effect estimates numerically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Systematic review with meta-analysis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9-18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Inform an urgent policy decision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Rapid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4-12 weeks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review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Define the scope first: concepts, populations, date range, languages and study types, with a reason for each limit</a:t>
            </a:r>
            <a:endParaRPr lang="en-US" sz="1500" dirty="0"/>
          </a:p>
          <a:p>
            <a:pPr marL="342900" indent="-342900">
              <a:lnSpc>
                <a:spcPct val="125000"/>
              </a:lnSpc>
              <a:spcAft>
                <a:spcPts val="800"/>
              </a:spcAft>
              <a:buSzPct val="100000"/>
              <a:buChar char="•"/>
            </a:pPr>
            <a:r>
              <a:rPr lang="en-US" sz="1500" dirty="0">
                <a:solidFill>
                  <a:srgbClr val="374151"/>
                </a:solidFill>
              </a:rPr>
              <a:t>Search systematically even for a narrative review — record databases, terms and dates so the search can be repeated</a:t>
            </a:r>
            <a:endParaRPr lang="en-US" sz="1500" dirty="0"/>
          </a:p>
          <a:p>
            <a:pPr marL="342900" indent="-342900">
              <a:lnSpc>
                <a:spcPct val="125000"/>
              </a:lnSpc>
              <a:spcAft>
                <a:spcPts val="800"/>
              </a:spcAft>
              <a:buSzPct val="100000"/>
              <a:buChar char="•"/>
            </a:pPr>
            <a:r>
              <a:rPr lang="en-US" sz="1500" dirty="0">
                <a:solidFill>
                  <a:srgbClr val="374151"/>
                </a:solidFill>
              </a:rPr>
              <a:t>Screen in two passes: title and abstract, then full text against explicit criteria</a:t>
            </a:r>
            <a:endParaRPr lang="en-US" sz="1500" dirty="0"/>
          </a:p>
          <a:p>
            <a:pPr marL="342900" indent="-342900">
              <a:lnSpc>
                <a:spcPct val="125000"/>
              </a:lnSpc>
              <a:spcAft>
                <a:spcPts val="800"/>
              </a:spcAft>
              <a:buSzPct val="100000"/>
              <a:buChar char="•"/>
            </a:pPr>
            <a:r>
              <a:rPr lang="en-US" sz="1500" dirty="0">
                <a:solidFill>
                  <a:srgbClr val="374151"/>
                </a:solidFill>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review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Reading the matrix down the columns rather than across the rows is what turns reading into synthesis</a:t>
            </a:r>
            <a:endParaRPr lang="en-US" sz="1700" dirty="0"/>
          </a:p>
          <a:p>
            <a:pPr marL="342900" indent="-342900">
              <a:lnSpc>
                <a:spcPct val="125000"/>
              </a:lnSpc>
              <a:spcAft>
                <a:spcPts val="800"/>
              </a:spcAft>
              <a:buSzPct val="100000"/>
              <a:buChar char="•"/>
            </a:pPr>
            <a:r>
              <a:rPr lang="en-US" sz="1700" dirty="0">
                <a:solidFill>
                  <a:srgbClr val="374151"/>
                </a:solidFill>
              </a:rPr>
              <a:t>Organise the written review by theme, debate or chronology of ideas — never by author</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Appraising what you find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Not all evidence carries equal weight; state how you judged quality</a:t>
            </a:r>
            <a:endParaRPr lang="en-US" sz="1300" dirty="0"/>
          </a:p>
          <a:p>
            <a:pPr marL="342900" indent="-342900">
              <a:lnSpc>
                <a:spcPct val="125000"/>
              </a:lnSpc>
              <a:spcAft>
                <a:spcPts val="800"/>
              </a:spcAft>
              <a:buSzPct val="100000"/>
              <a:buChar char="•"/>
            </a:pPr>
            <a:r>
              <a:rPr lang="en-US" sz="1300" dirty="0">
                <a:solidFill>
                  <a:srgbClr val="374151"/>
                </a:solidFill>
              </a:rPr>
              <a:t>Evidence hierarchies place systematic reviews and randomised trials above cohort, case-control and cross-sectional designs for effectiveness questions</a:t>
            </a:r>
            <a:endParaRPr lang="en-US" sz="1300" dirty="0"/>
          </a:p>
          <a:p>
            <a:pPr marL="342900" indent="-342900">
              <a:lnSpc>
                <a:spcPct val="125000"/>
              </a:lnSpc>
              <a:spcAft>
                <a:spcPts val="800"/>
              </a:spcAft>
              <a:buSzPct val="100000"/>
              <a:buChar char="•"/>
            </a:pPr>
            <a:r>
              <a:rPr lang="en-US" sz="1300" dirty="0">
                <a:solidFill>
                  <a:srgbClr val="374151"/>
                </a:solidFill>
              </a:rPr>
              <a:t>Hierarchies apply to questions of effectiveness, not to questions of meaning or experience — a qualitative study is not "low quality" evidence for how patients understand illness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Appraising what you find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Use a structured tool: CASP checklists, the Newcastle-Ottawa Scale, or Cochrane Risk of Bias 2</a:t>
            </a:r>
            <a:endParaRPr lang="en-US" sz="1500" dirty="0"/>
          </a:p>
          <a:p>
            <a:pPr marL="342900" indent="-342900">
              <a:lnSpc>
                <a:spcPct val="125000"/>
              </a:lnSpc>
              <a:spcAft>
                <a:spcPts val="800"/>
              </a:spcAft>
              <a:buSzPct val="100000"/>
              <a:buChar char="•"/>
            </a:pPr>
            <a:r>
              <a:rPr lang="en-US" sz="1500" dirty="0">
                <a:solidFill>
                  <a:srgbClr val="374151"/>
                </a:solidFill>
              </a:rPr>
              <a:t>Watch for predatory journals — check indexing, editorial board, and whether the publisher appears in DOAJ or on Cabells lists</a:t>
            </a:r>
            <a:endParaRPr lang="en-US" sz="1500" dirty="0"/>
          </a:p>
          <a:p>
            <a:pPr marL="342900" indent="-342900">
              <a:lnSpc>
                <a:spcPct val="125000"/>
              </a:lnSpc>
              <a:spcAft>
                <a:spcPts val="800"/>
              </a:spcAft>
              <a:buSzPct val="100000"/>
              <a:buChar char="•"/>
            </a:pPr>
            <a:r>
              <a:rPr lang="en-US" sz="1500" dirty="0">
                <a:solidFill>
                  <a:srgbClr val="374151"/>
                </a:solidFill>
              </a:rPr>
              <a:t>Note conflicts of interest and funding sources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Common failures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Listing rather than synthesising — the "annotated bibliography" review</a:t>
            </a:r>
            <a:endParaRPr lang="en-US" sz="1700" dirty="0"/>
          </a:p>
          <a:p>
            <a:pPr marL="342900" indent="-342900">
              <a:lnSpc>
                <a:spcPct val="125000"/>
              </a:lnSpc>
              <a:spcAft>
                <a:spcPts val="800"/>
              </a:spcAft>
              <a:buSzPct val="100000"/>
              <a:buChar char="•"/>
            </a:pPr>
            <a:r>
              <a:rPr lang="en-US" sz="1700" dirty="0">
                <a:solidFill>
                  <a:srgbClr val="374151"/>
                </a:solidFill>
              </a:rPr>
              <a:t>Relying only on what is freely available, producing a review biased towards open-access journals</a:t>
            </a:r>
            <a:endParaRPr lang="en-US" sz="1700" dirty="0"/>
          </a:p>
          <a:p>
            <a:pPr marL="342900" indent="-342900">
              <a:lnSpc>
                <a:spcPct val="125000"/>
              </a:lnSpc>
              <a:spcAft>
                <a:spcPts val="800"/>
              </a:spcAft>
              <a:buSzPct val="100000"/>
              <a:buChar char="•"/>
            </a:pPr>
            <a:r>
              <a:rPr lang="en-US" sz="1700" dirty="0">
                <a:solidFill>
                  <a:srgbClr val="374151"/>
                </a:solidFill>
              </a:rPr>
              <a:t>Citing abstracts without reading the full paper, and repeating a misreading from a secondary source</a:t>
            </a:r>
            <a:endParaRPr lang="en-US" sz="1700" dirty="0"/>
          </a:p>
          <a:p>
            <a:pPr marL="342900" indent="-342900">
              <a:lnSpc>
                <a:spcPct val="125000"/>
              </a:lnSpc>
              <a:spcAft>
                <a:spcPts val="800"/>
              </a:spcAft>
              <a:buSzPct val="100000"/>
              <a:buChar char="•"/>
            </a:pPr>
            <a:r>
              <a:rPr lang="en-US" sz="1700" dirty="0">
                <a:solidFill>
                  <a:srgbClr val="374151"/>
                </a:solidFill>
              </a:rPr>
              <a:t>Ignoring evidence that contradicts your position, which reviewers will notice</a:t>
            </a:r>
            <a:endParaRPr lang="en-US" sz="1700" dirty="0"/>
          </a:p>
          <a:p>
            <a:pPr marL="342900" indent="-342900">
              <a:lnSpc>
                <a:spcPct val="125000"/>
              </a:lnSpc>
              <a:spcAft>
                <a:spcPts val="800"/>
              </a:spcAft>
              <a:buSzPct val="100000"/>
              <a:buChar char="•"/>
            </a:pPr>
            <a:r>
              <a:rPr lang="en-US" sz="1700" dirty="0">
                <a:solidFill>
                  <a:srgbClr val="374151"/>
                </a:solidFill>
              </a:rPr>
              <a:t>Reviewing only recent work and losing the origin of a debate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Common failures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Letting the review stop when data collection begins — it must be updated before submission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Turning five papers into one paragraph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has read five studies on adherence to hypertension medication and has written five paragraphs, one per study, each beginning with an author name.</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Build a matrix: rows are the five studies, columns are design, setting, sample, adherence measure and main finding.</a:t>
            </a:r>
            <a:endParaRPr lang="en-US" sz="1300" dirty="0"/>
          </a:p>
          <a:p>
            <a:pPr marL="342900" indent="-342900">
              <a:lnSpc>
                <a:spcPct val="115000"/>
              </a:lnSpc>
              <a:buSzPct val="100000"/>
              <a:buFont typeface="+mj-lt"/>
              <a:buAutoNum type="arabicPeriod" startAt="1"/>
            </a:pPr>
            <a:r>
              <a:rPr lang="en-US" sz="1300" dirty="0">
                <a:solidFill>
                  <a:srgbClr val="374151"/>
                </a:solidFill>
              </a:rPr>
              <a:t>Reading down the "adherence measure" column shows three used self-report and two used pill counts.</a:t>
            </a:r>
            <a:endParaRPr lang="en-US" sz="1300" dirty="0"/>
          </a:p>
          <a:p>
            <a:pPr marL="342900" indent="-342900">
              <a:lnSpc>
                <a:spcPct val="115000"/>
              </a:lnSpc>
              <a:buSzPct val="100000"/>
              <a:buFont typeface="+mj-lt"/>
              <a:buAutoNum type="arabicPeriod" startAt="1"/>
            </a:pPr>
            <a:r>
              <a:rPr lang="en-US" sz="1300" dirty="0">
                <a:solidFill>
                  <a:srgbClr val="374151"/>
                </a:solidFill>
              </a:rPr>
              <a:t>Reading down "main finding" shows the self-report studies all report higher adherence than the pill-count studies.</a:t>
            </a:r>
            <a:endParaRPr lang="en-US" sz="1300" dirty="0"/>
          </a:p>
          <a:p>
            <a:pPr marL="342900" indent="-342900">
              <a:lnSpc>
                <a:spcPct val="115000"/>
              </a:lnSpc>
              <a:buSzPct val="100000"/>
              <a:buFont typeface="+mj-lt"/>
              <a:buAutoNum type="arabicPeriod" startAt="1"/>
            </a:pPr>
            <a:r>
              <a:rPr lang="en-US" sz="1300" dirty="0">
                <a:solidFill>
                  <a:srgbClr val="374151"/>
                </a:solidFill>
              </a:rPr>
              <a:t>That comparison is the paragraph: "Reported adherence varies with how it was measured, with self-report consistently higher than objective measures (refs) — a pattern that complicates comparison across settings."</a:t>
            </a:r>
            <a:endParaRPr lang="en-US" sz="1300" dirty="0"/>
          </a:p>
          <a:p>
            <a:pPr marL="342900" indent="-342900">
              <a:lnSpc>
                <a:spcPct val="115000"/>
              </a:lnSpc>
              <a:buSzPct val="100000"/>
              <a:buFont typeface="+mj-lt"/>
              <a:buAutoNum type="arabicPeriod" startAt="1"/>
            </a:pPr>
            <a:r>
              <a:rPr lang="en-US" sz="1300" dirty="0">
                <a:solidFill>
                  <a:srgbClr val="374151"/>
                </a:solidFill>
              </a:rPr>
              <a:t>No sentence in that paragraph has an author as its subject. The studies are evidence for a claim, not the topic of the writing.</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Choosing the review your timeline can survive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with nine months until submission proposes "a systematic review and meta-analysis of interventions to reduce malaria in under-fives across sub-Saharan Africa".</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 proper systematic review needs a protocol, two independent screeners, dual data extraction and risk-of-bias assessment.</a:t>
            </a:r>
            <a:endParaRPr lang="en-US" sz="1300" dirty="0"/>
          </a:p>
          <a:p>
            <a:pPr marL="342900" indent="-342900">
              <a:lnSpc>
                <a:spcPct val="115000"/>
              </a:lnSpc>
              <a:buSzPct val="100000"/>
              <a:buFont typeface="+mj-lt"/>
              <a:buAutoNum type="arabicPeriod" startAt="1"/>
            </a:pPr>
            <a:r>
              <a:rPr lang="en-US" sz="1300" dirty="0">
                <a:solidFill>
                  <a:srgbClr val="374151"/>
                </a:solidFill>
              </a:rPr>
              <a:t>That question would return several thousand records to screen at title and abstract.</a:t>
            </a:r>
            <a:endParaRPr lang="en-US" sz="1300" dirty="0"/>
          </a:p>
          <a:p>
            <a:pPr marL="342900" indent="-342900">
              <a:lnSpc>
                <a:spcPct val="115000"/>
              </a:lnSpc>
              <a:buSzPct val="100000"/>
              <a:buFont typeface="+mj-lt"/>
              <a:buAutoNum type="arabicPeriod" startAt="1"/>
            </a:pPr>
            <a:r>
              <a:rPr lang="en-US" sz="1300" dirty="0">
                <a:solidFill>
                  <a:srgbClr val="374151"/>
                </a:solidFill>
              </a:rPr>
              <a:t>She is working alone, so the second screener does not exist — and without one it is not a systematic review by PRISMA standards.</a:t>
            </a:r>
            <a:endParaRPr lang="en-US" sz="1300" dirty="0"/>
          </a:p>
          <a:p>
            <a:pPr marL="342900" indent="-342900">
              <a:lnSpc>
                <a:spcPct val="115000"/>
              </a:lnSpc>
              <a:buSzPct val="100000"/>
              <a:buFont typeface="+mj-lt"/>
              <a:buAutoNum type="arabicPeriod" startAt="1"/>
            </a:pPr>
            <a:r>
              <a:rPr lang="en-US" sz="1300" dirty="0">
                <a:solidFill>
                  <a:srgbClr val="374151"/>
                </a:solidFill>
              </a:rPr>
              <a:t>A scoping review of the same area is defensible, achievable solo, and still publishable.</a:t>
            </a:r>
            <a:endParaRPr lang="en-US" sz="1300" dirty="0"/>
          </a:p>
          <a:p>
            <a:pPr marL="342900" indent="-342900">
              <a:lnSpc>
                <a:spcPct val="115000"/>
              </a:lnSpc>
              <a:buSzPct val="100000"/>
              <a:buFont typeface="+mj-lt"/>
              <a:buAutoNum type="arabicPeriod" startAt="1"/>
            </a:pPr>
            <a:r>
              <a:rPr lang="en-US" sz="1300" dirty="0">
                <a:solidFill>
                  <a:srgbClr val="374151"/>
                </a:solidFill>
              </a:rPr>
              <a:t>Alternatively, narrow the question hard: one intervention, one age band, one country — which can make a systematic review feasible.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Synthesis matrix — A table with studies as rows and themes or attributes as columns, used to compare across sources rather than summarise each in turn.</a:t>
            </a:r>
            <a:endParaRPr lang="en-US" sz="1300" dirty="0"/>
          </a:p>
          <a:p>
            <a:pPr marL="342900" indent="-342900">
              <a:lnSpc>
                <a:spcPct val="125000"/>
              </a:lnSpc>
              <a:spcAft>
                <a:spcPts val="800"/>
              </a:spcAft>
              <a:buSzPct val="100000"/>
              <a:buChar char="•"/>
            </a:pPr>
            <a:r>
              <a:rPr lang="en-US" sz="1300" dirty="0">
                <a:solidFill>
                  <a:srgbClr val="374151"/>
                </a:solidFill>
              </a:rPr>
              <a:t>Scoping review — A structured review that maps the extent, range and nature of evidence on a topic and identifies gaps.</a:t>
            </a:r>
            <a:endParaRPr lang="en-US" sz="1300" dirty="0"/>
          </a:p>
          <a:p>
            <a:pPr marL="342900" indent="-342900">
              <a:lnSpc>
                <a:spcPct val="125000"/>
              </a:lnSpc>
              <a:spcAft>
                <a:spcPts val="800"/>
              </a:spcAft>
              <a:buSzPct val="100000"/>
              <a:buChar char="•"/>
            </a:pPr>
            <a:r>
              <a:rPr lang="en-US" sz="1300" dirty="0">
                <a:solidFill>
                  <a:srgbClr val="374151"/>
                </a:solidFill>
              </a:rPr>
              <a:t>Grey literature — Material outside commercial publishing — theses, government and NGO reports, working papers, conference abstracts.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Publication bias — The tendency for studies with positive or significant results to be published more often, distorting the apparent evidence.</a:t>
            </a:r>
            <a:endParaRPr lang="en-US" sz="1500" dirty="0"/>
          </a:p>
          <a:p>
            <a:pPr marL="342900" indent="-342900">
              <a:lnSpc>
                <a:spcPct val="125000"/>
              </a:lnSpc>
              <a:spcAft>
                <a:spcPts val="800"/>
              </a:spcAft>
              <a:buSzPct val="100000"/>
              <a:buChar char="•"/>
            </a:pPr>
            <a:r>
              <a:rPr lang="en-US" sz="1500" dirty="0">
                <a:solidFill>
                  <a:srgbClr val="374151"/>
                </a:solidFill>
              </a:rPr>
              <a:t>Predatory journal — A journal charging publication fees while providing little or no genuine peer review or editorial service.</a:t>
            </a:r>
            <a:endParaRPr lang="en-US" sz="1500" dirty="0"/>
          </a:p>
          <a:p>
            <a:pPr marL="342900" indent="-342900">
              <a:lnSpc>
                <a:spcPct val="125000"/>
              </a:lnSpc>
              <a:spcAft>
                <a:spcPts val="800"/>
              </a:spcAft>
              <a:buSzPct val="100000"/>
              <a:buChar char="•"/>
            </a:pPr>
            <a:r>
              <a:rPr lang="en-US" sz="1500" dirty="0">
                <a:solidFill>
                  <a:srgbClr val="374151"/>
                </a:solidFill>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4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Literature Databases, Searching and Reference Management</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databases that matter, how to build a search that is both sensitive and precise, how to document it for PRISMA, and how to manage references so the bibliography is never done by hand.</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Select appropriate databases for a given topic and justify the choice</a:t>
            </a:r>
            <a:endParaRPr lang="en-US" sz="1800" dirty="0"/>
          </a:p>
          <a:p>
            <a:pPr marL="342900" indent="-342900">
              <a:lnSpc>
                <a:spcPct val="125000"/>
              </a:lnSpc>
              <a:spcAft>
                <a:spcPts val="800"/>
              </a:spcAft>
              <a:buSzPct val="100000"/>
              <a:buChar char="•"/>
            </a:pPr>
            <a:r>
              <a:rPr lang="en-US" sz="1800" dirty="0">
                <a:solidFill>
                  <a:srgbClr val="374151"/>
                </a:solidFill>
              </a:rPr>
              <a:t>Construct a Boolean search using controlled vocabulary and field tags</a:t>
            </a:r>
            <a:endParaRPr lang="en-US" sz="1800" dirty="0"/>
          </a:p>
          <a:p>
            <a:pPr marL="342900" indent="-342900">
              <a:lnSpc>
                <a:spcPct val="125000"/>
              </a:lnSpc>
              <a:spcAft>
                <a:spcPts val="800"/>
              </a:spcAft>
              <a:buSzPct val="100000"/>
              <a:buChar char="•"/>
            </a:pPr>
            <a:r>
              <a:rPr lang="en-US" sz="1800" dirty="0">
                <a:solidFill>
                  <a:srgbClr val="374151"/>
                </a:solidFill>
              </a:rPr>
              <a:t>Use MeSH terms, truncation, phrase searching and proximity operators</a:t>
            </a:r>
            <a:endParaRPr lang="en-US" sz="1800" dirty="0"/>
          </a:p>
          <a:p>
            <a:pPr marL="342900" indent="-342900">
              <a:lnSpc>
                <a:spcPct val="125000"/>
              </a:lnSpc>
              <a:spcAft>
                <a:spcPts val="800"/>
              </a:spcAft>
              <a:buSzPct val="100000"/>
              <a:buChar char="•"/>
            </a:pPr>
            <a:r>
              <a:rPr lang="en-US" sz="1800" dirty="0">
                <a:solidFill>
                  <a:srgbClr val="374151"/>
                </a:solidFill>
              </a:rPr>
              <a:t>Balance sensitivity against precision and explain the trade-off</a:t>
            </a:r>
            <a:endParaRPr lang="en-US" sz="1800" dirty="0"/>
          </a:p>
          <a:p>
            <a:pPr marL="342900" indent="-342900">
              <a:lnSpc>
                <a:spcPct val="125000"/>
              </a:lnSpc>
              <a:spcAft>
                <a:spcPts val="800"/>
              </a:spcAft>
              <a:buSzPct val="100000"/>
              <a:buChar char="•"/>
            </a:pPr>
            <a:r>
              <a:rPr lang="en-US" sz="1800" dirty="0">
                <a:solidFill>
                  <a:srgbClr val="374151"/>
                </a:solidFill>
              </a:rPr>
              <a:t>Document a search so that another researcher can reproduce it exactly</a:t>
            </a:r>
            <a:endParaRPr lang="en-US" sz="1800" dirty="0"/>
          </a:p>
          <a:p>
            <a:pPr marL="342900" indent="-342900">
              <a:lnSpc>
                <a:spcPct val="125000"/>
              </a:lnSpc>
              <a:spcAft>
                <a:spcPts val="800"/>
              </a:spcAft>
              <a:buSzPct val="100000"/>
              <a:buChar char="•"/>
            </a:pPr>
            <a:r>
              <a:rPr lang="en-US" sz="1800" dirty="0">
                <a:solidFill>
                  <a:srgbClr val="374151"/>
                </a:solidFill>
              </a:rPr>
              <a:t>Set up Zotero or Mendeley and generate a formatted bibliography automatically</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databases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PubMed / MEDLINE — biomedical and life sciences; free; indexed with MeSH controlled vocabulary</a:t>
            </a:r>
            <a:endParaRPr lang="en-US" sz="1500" dirty="0"/>
          </a:p>
          <a:p>
            <a:pPr marL="342900" indent="-342900">
              <a:lnSpc>
                <a:spcPct val="125000"/>
              </a:lnSpc>
              <a:spcAft>
                <a:spcPts val="800"/>
              </a:spcAft>
              <a:buSzPct val="100000"/>
              <a:buChar char="•"/>
            </a:pPr>
            <a:r>
              <a:rPr lang="en-US" sz="1500" dirty="0">
                <a:solidFill>
                  <a:srgbClr val="374151"/>
                </a:solidFill>
              </a:rPr>
              <a:t>Scopus and Web of Science — large multidisciplinary citation databases; subscription; best for citation tracking and bibliometrics</a:t>
            </a:r>
            <a:endParaRPr lang="en-US" sz="1500" dirty="0"/>
          </a:p>
          <a:p>
            <a:pPr marL="342900" indent="-342900">
              <a:lnSpc>
                <a:spcPct val="125000"/>
              </a:lnSpc>
              <a:spcAft>
                <a:spcPts val="800"/>
              </a:spcAft>
              <a:buSzPct val="100000"/>
              <a:buChar char="•"/>
            </a:pPr>
            <a:r>
              <a:rPr lang="en-US" sz="1500" dirty="0">
                <a:solidFill>
                  <a:srgbClr val="374151"/>
                </a:solidFill>
              </a:rPr>
              <a:t>Cochrane Library — controlled trials and systematic reviews; essential for effectiveness questions</a:t>
            </a:r>
            <a:endParaRPr lang="en-US" sz="1500" dirty="0"/>
          </a:p>
          <a:p>
            <a:pPr marL="342900" indent="-342900">
              <a:lnSpc>
                <a:spcPct val="125000"/>
              </a:lnSpc>
              <a:spcAft>
                <a:spcPts val="800"/>
              </a:spcAft>
              <a:buSzPct val="100000"/>
              <a:buChar char="•"/>
            </a:pPr>
            <a:r>
              <a:rPr lang="en-US" sz="1500" dirty="0">
                <a:solidFill>
                  <a:srgbClr val="374151"/>
                </a:solidFill>
              </a:rPr>
              <a:t>CINAHL — nursing and allied health; EMBASE — stronger European and pharmacological coverage than PubMed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databases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PsycINFO — psychology and behavioural sciences; ERIC — education</a:t>
            </a:r>
            <a:endParaRPr lang="en-US" sz="1300" dirty="0"/>
          </a:p>
          <a:p>
            <a:pPr marL="342900" indent="-342900">
              <a:lnSpc>
                <a:spcPct val="125000"/>
              </a:lnSpc>
              <a:spcAft>
                <a:spcPts val="800"/>
              </a:spcAft>
              <a:buSzPct val="100000"/>
              <a:buChar char="•"/>
            </a:pPr>
            <a:r>
              <a:rPr lang="en-US" sz="1300" dirty="0">
                <a:solidFill>
                  <a:srgbClr val="374151"/>
                </a:solidFill>
              </a:rPr>
              <a:t>African Journals Online (AJOL) — the largest collection of African-published scholarship, poorly covered by the big indexes</a:t>
            </a:r>
            <a:endParaRPr lang="en-US" sz="1300" dirty="0"/>
          </a:p>
          <a:p>
            <a:pPr marL="342900" indent="-342900">
              <a:lnSpc>
                <a:spcPct val="125000"/>
              </a:lnSpc>
              <a:spcAft>
                <a:spcPts val="800"/>
              </a:spcAft>
              <a:buSzPct val="100000"/>
              <a:buChar char="•"/>
            </a:pPr>
            <a:r>
              <a:rPr lang="en-US" sz="1300" dirty="0">
                <a:solidFill>
                  <a:srgbClr val="374151"/>
                </a:solidFill>
              </a:rPr>
              <a:t>Google Scholar — very broad and useful for finding grey literature and chasing citations, but the algorithm is opaque and results are not reproducible, so it should supplement rather than replace a structured search</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For work on African populations, searching only PubMed and Scopus will systematically miss regionally published evidence. AJOL, national journal portals and institutional repositories are not optional extras here.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Break the question into concepts — usually the P, I/E and O of PICO; do not search the whole question as a sentence</a:t>
            </a:r>
            <a:endParaRPr lang="en-US" sz="1500" dirty="0"/>
          </a:p>
          <a:p>
            <a:pPr marL="342900" indent="-342900">
              <a:lnSpc>
                <a:spcPct val="125000"/>
              </a:lnSpc>
              <a:spcAft>
                <a:spcPts val="800"/>
              </a:spcAft>
              <a:buSzPct val="100000"/>
              <a:buChar char="•"/>
            </a:pPr>
            <a:r>
              <a:rPr lang="en-US" sz="1500" dirty="0">
                <a:solidFill>
                  <a:srgbClr val="374151"/>
                </a:solidFill>
              </a:rPr>
              <a:t>For each concept, gather synonyms, spelling variants, abbreviations and older terminology</a:t>
            </a:r>
            <a:endParaRPr lang="en-US" sz="1500" dirty="0"/>
          </a:p>
          <a:p>
            <a:pPr marL="342900" indent="-342900">
              <a:lnSpc>
                <a:spcPct val="125000"/>
              </a:lnSpc>
              <a:spcAft>
                <a:spcPts val="800"/>
              </a:spcAft>
              <a:buSzPct val="100000"/>
              <a:buChar char="•"/>
            </a:pPr>
            <a:r>
              <a:rPr lang="en-US" sz="1500" dirty="0">
                <a:solidFill>
                  <a:srgbClr val="374151"/>
                </a:solidFill>
              </a:rPr>
              <a:t>Combine synonyms within a concept using OR; combine concepts using AND; use NOT sparingly, as it discards relevant records</a:t>
            </a:r>
            <a:endParaRPr lang="en-US" sz="1500" dirty="0"/>
          </a:p>
          <a:p>
            <a:pPr marL="342900" indent="-342900">
              <a:lnSpc>
                <a:spcPct val="125000"/>
              </a:lnSpc>
              <a:spcAft>
                <a:spcPts val="800"/>
              </a:spcAft>
              <a:buSzPct val="100000"/>
              <a:buChar char="•"/>
            </a:pPr>
            <a:r>
              <a:rPr lang="en-US" sz="1500" dirty="0">
                <a:solidFill>
                  <a:srgbClr val="374151"/>
                </a:solidFill>
              </a:rPr>
              <a:t>Truncation: malari* retrieves malaria, malarial, malariae</a:t>
            </a:r>
            <a:endParaRPr lang="en-US" sz="1500" dirty="0"/>
          </a:p>
          <a:p>
            <a:pPr marL="342900" indent="-342900">
              <a:lnSpc>
                <a:spcPct val="125000"/>
              </a:lnSpc>
              <a:spcAft>
                <a:spcPts val="800"/>
              </a:spcAft>
              <a:buSzPct val="100000"/>
              <a:buChar char="•"/>
            </a:pPr>
            <a:r>
              <a:rPr lang="en-US" sz="1500" dirty="0">
                <a:solidFill>
                  <a:srgbClr val="374151"/>
                </a:solidFill>
              </a:rPr>
              <a:t>Phrase searching: "mobile money" keeps the words adjacent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Field tags restrict where a term is searched, e.g. [tiab] for title and abstract in PubMed</a:t>
            </a:r>
            <a:endParaRPr lang="en-US" sz="1700" dirty="0"/>
          </a:p>
          <a:p>
            <a:pPr marL="342900" indent="-342900">
              <a:lnSpc>
                <a:spcPct val="125000"/>
              </a:lnSpc>
              <a:spcAft>
                <a:spcPts val="800"/>
              </a:spcAft>
              <a:buSzPct val="100000"/>
              <a:buChar char="•"/>
            </a:pPr>
            <a:r>
              <a:rPr lang="en-US" sz="1700" dirty="0">
                <a:solidFill>
                  <a:srgbClr val="374151"/>
                </a:solidFill>
              </a:rPr>
              <a:t>Proximity operators (NEAR, W/n, ADJn) find terms near each other and vary by database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Controlled vocabulary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MeSH is the National Library of Medicine's controlled vocabulary; each PubMed record is tagged by indexers</a:t>
            </a:r>
            <a:endParaRPr lang="en-US" sz="1700" dirty="0"/>
          </a:p>
          <a:p>
            <a:pPr marL="342900" indent="-342900">
              <a:lnSpc>
                <a:spcPct val="125000"/>
              </a:lnSpc>
              <a:spcAft>
                <a:spcPts val="800"/>
              </a:spcAft>
              <a:buSzPct val="100000"/>
              <a:buChar char="•"/>
            </a:pPr>
            <a:r>
              <a:rPr lang="en-US" sz="1700" dirty="0">
                <a:solidFill>
                  <a:srgbClr val="374151"/>
                </a:solidFill>
              </a:rPr>
              <a:t>Searching a MeSH term retrieves records regardless of the authors' wording</a:t>
            </a:r>
            <a:endParaRPr lang="en-US" sz="1700" dirty="0"/>
          </a:p>
          <a:p>
            <a:pPr marL="342900" indent="-342900">
              <a:lnSpc>
                <a:spcPct val="125000"/>
              </a:lnSpc>
              <a:spcAft>
                <a:spcPts val="800"/>
              </a:spcAft>
              <a:buSzPct val="100000"/>
              <a:buChar char="•"/>
            </a:pPr>
            <a:r>
              <a:rPr lang="en-US" sz="1700" dirty="0">
                <a:solidFill>
                  <a:srgbClr val="374151"/>
                </a:solidFill>
              </a:rPr>
              <a:t>Explosion automatically includes narrower terms beneath a heading in the tree</a:t>
            </a:r>
            <a:endParaRPr lang="en-US" sz="1700" dirty="0"/>
          </a:p>
          <a:p>
            <a:pPr marL="342900" indent="-342900">
              <a:lnSpc>
                <a:spcPct val="125000"/>
              </a:lnSpc>
              <a:spcAft>
                <a:spcPts val="800"/>
              </a:spcAft>
              <a:buSzPct val="100000"/>
              <a:buChar char="•"/>
            </a:pPr>
            <a:r>
              <a:rPr lang="en-US" sz="1700" dirty="0">
                <a:solidFill>
                  <a:srgbClr val="374151"/>
                </a:solidFill>
              </a:rPr>
              <a:t>Major topic restricts to records where the concept is a main focus</a:t>
            </a:r>
            <a:endParaRPr lang="en-US" sz="1700" dirty="0"/>
          </a:p>
          <a:p>
            <a:pPr marL="342900" indent="-342900">
              <a:lnSpc>
                <a:spcPct val="125000"/>
              </a:lnSpc>
              <a:spcAft>
                <a:spcPts val="800"/>
              </a:spcAft>
              <a:buSzPct val="100000"/>
              <a:buChar char="•"/>
            </a:pPr>
            <a:r>
              <a:rPr lang="en-US" sz="1700" dirty="0">
                <a:solidFill>
                  <a:srgbClr val="374151"/>
                </a:solidFill>
              </a:rPr>
              <a:t>MeSH indexing lags publication, so very recent papers are found only by free-text terms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Controlled vocabulary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The reliable strategy combines both: MeSH OR free-text, for each concept</a:t>
            </a:r>
            <a:endParaRPr lang="en-US" sz="1800" dirty="0"/>
          </a:p>
          <a:p>
            <a:pPr marL="342900" indent="-342900">
              <a:lnSpc>
                <a:spcPct val="125000"/>
              </a:lnSpc>
              <a:spcAft>
                <a:spcPts val="800"/>
              </a:spcAft>
              <a:buSzPct val="100000"/>
              <a:buChar char="•"/>
            </a:pPr>
            <a:r>
              <a:rPr lang="en-US" sz="1800" dirty="0">
                <a:solidFill>
                  <a:srgbClr val="374151"/>
                </a:solidFill>
              </a:rPr>
              <a:t>Emtree in EMBASE and CINAHL Headings serve the same purpose in their databases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Sensitivity versus precision</a:t>
            </a:r>
            <a:endParaRPr lang="en-US" sz="2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Goal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Strategy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Cost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High sensitivity (systematic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Many synonyms, truncation, explode MeSH, no limits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Thousands of records to screen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High precision (quick scoping)</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Few terms, major topic, title field, recent years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Relevant studies will be missed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Balanced (thesis chapter)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MeSH OR free-text per concept, sensible date limit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Manageable; state the limits used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Documenting the 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Record for each database: its name, the platform, the date searched, the full strategy line by line, and the number of records returned</a:t>
            </a:r>
            <a:endParaRPr lang="en-US" sz="1500" dirty="0"/>
          </a:p>
          <a:p>
            <a:pPr marL="342900" indent="-342900">
              <a:lnSpc>
                <a:spcPct val="125000"/>
              </a:lnSpc>
              <a:spcAft>
                <a:spcPts val="800"/>
              </a:spcAft>
              <a:buSzPct val="100000"/>
              <a:buChar char="•"/>
            </a:pPr>
            <a:r>
              <a:rPr lang="en-US" sz="1500" dirty="0">
                <a:solidFill>
                  <a:srgbClr val="374151"/>
                </a:solidFill>
              </a:rPr>
              <a:t>The date matters because databases change daily and the search must be reproducible</a:t>
            </a:r>
            <a:endParaRPr lang="en-US" sz="1500" dirty="0"/>
          </a:p>
          <a:p>
            <a:pPr marL="342900" indent="-342900">
              <a:lnSpc>
                <a:spcPct val="125000"/>
              </a:lnSpc>
              <a:spcAft>
                <a:spcPts val="800"/>
              </a:spcAft>
              <a:buSzPct val="100000"/>
              <a:buChar char="•"/>
            </a:pPr>
            <a:r>
              <a:rPr lang="en-US" sz="1500" dirty="0">
                <a:solidFill>
                  <a:srgbClr val="374151"/>
                </a:solidFill>
              </a:rPr>
              <a:t>Report screening with a PRISMA flow diagram: identified, duplicates removed, screened, excluded with reasons, included</a:t>
            </a:r>
            <a:endParaRPr lang="en-US" sz="1500" dirty="0"/>
          </a:p>
          <a:p>
            <a:pPr marL="342900" indent="-342900">
              <a:lnSpc>
                <a:spcPct val="125000"/>
              </a:lnSpc>
              <a:spcAft>
                <a:spcPts val="800"/>
              </a:spcAft>
              <a:buSzPct val="100000"/>
              <a:buChar char="•"/>
            </a:pPr>
            <a:r>
              <a:rPr lang="en-US" sz="1500" dirty="0">
                <a:solidFill>
                  <a:srgbClr val="374151"/>
                </a:solidFill>
              </a:rPr>
              <a:t>Keep the exclusion reasons — reviewers ask for them</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Documenting the 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Save the strategy in the database's own account feature and export it, rather than retyping later</a:t>
            </a:r>
            <a:endParaRPr lang="en-US" sz="1700" dirty="0"/>
          </a:p>
          <a:p>
            <a:pPr marL="342900" indent="-342900">
              <a:lnSpc>
                <a:spcPct val="125000"/>
              </a:lnSpc>
              <a:spcAft>
                <a:spcPts val="800"/>
              </a:spcAft>
              <a:buSzPct val="100000"/>
              <a:buChar char="•"/>
            </a:pPr>
            <a:r>
              <a:rPr lang="en-US" sz="1700" dirty="0">
                <a:solidFill>
                  <a:srgbClr val="374151"/>
                </a:solidFill>
              </a:rPr>
              <a:t>Set up email alerts so new hits arrive during your fieldwork</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Reference management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Zotero — free and open source, excellent browser capture, best default for most researchers</a:t>
            </a:r>
            <a:endParaRPr lang="en-US" sz="1700" dirty="0"/>
          </a:p>
          <a:p>
            <a:pPr marL="342900" indent="-342900">
              <a:lnSpc>
                <a:spcPct val="125000"/>
              </a:lnSpc>
              <a:spcAft>
                <a:spcPts val="800"/>
              </a:spcAft>
              <a:buSzPct val="100000"/>
              <a:buChar char="•"/>
            </a:pPr>
            <a:r>
              <a:rPr lang="en-US" sz="1700" dirty="0">
                <a:solidFill>
                  <a:srgbClr val="374151"/>
                </a:solidFill>
              </a:rPr>
              <a:t>Mendeley — free, good PDF annotation, owned by Elsevier</a:t>
            </a:r>
            <a:endParaRPr lang="en-US" sz="1700" dirty="0"/>
          </a:p>
          <a:p>
            <a:pPr marL="342900" indent="-342900">
              <a:lnSpc>
                <a:spcPct val="125000"/>
              </a:lnSpc>
              <a:spcAft>
                <a:spcPts val="800"/>
              </a:spcAft>
              <a:buSzPct val="100000"/>
              <a:buChar char="•"/>
            </a:pPr>
            <a:r>
              <a:rPr lang="en-US" sz="1700" dirty="0">
                <a:solidFill>
                  <a:srgbClr val="374151"/>
                </a:solidFill>
              </a:rPr>
              <a:t>EndNote — paid, common in institutions with a site licence, strong for very large libraries</a:t>
            </a:r>
            <a:endParaRPr lang="en-US" sz="1700" dirty="0"/>
          </a:p>
          <a:p>
            <a:pPr marL="342900" indent="-342900">
              <a:lnSpc>
                <a:spcPct val="125000"/>
              </a:lnSpc>
              <a:spcAft>
                <a:spcPts val="800"/>
              </a:spcAft>
              <a:buSzPct val="100000"/>
              <a:buChar char="•"/>
            </a:pPr>
            <a:r>
              <a:rPr lang="en-US" sz="1700" dirty="0">
                <a:solidFill>
                  <a:srgbClr val="374151"/>
                </a:solidFill>
              </a:rPr>
              <a:t>All three insert citations into Word or LibreOffice and reformat the entire bibliography when you change style</a:t>
            </a:r>
            <a:endParaRPr lang="en-US" sz="1700" dirty="0"/>
          </a:p>
          <a:p>
            <a:pPr marL="342900" indent="-342900">
              <a:lnSpc>
                <a:spcPct val="125000"/>
              </a:lnSpc>
              <a:spcAft>
                <a:spcPts val="800"/>
              </a:spcAft>
              <a:buSzPct val="100000"/>
              <a:buChar char="•"/>
            </a:pPr>
            <a:r>
              <a:rPr lang="en-US" sz="1700" dirty="0">
                <a:solidFill>
                  <a:srgbClr val="374151"/>
                </a:solidFill>
              </a:rPr>
              <a:t>Deduplicate on import, and fix metadata at import time — a wrong year propagates into every citation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Reference management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Use collections per chapter and tags per theme; attach the PDF and your notes to the record</a:t>
            </a:r>
            <a:endParaRPr lang="en-US" sz="1700" dirty="0"/>
          </a:p>
          <a:p>
            <a:pPr marL="342900" indent="-342900">
              <a:lnSpc>
                <a:spcPct val="125000"/>
              </a:lnSpc>
              <a:spcAft>
                <a:spcPts val="800"/>
              </a:spcAft>
              <a:buSzPct val="100000"/>
              <a:buChar char="•"/>
            </a:pPr>
            <a:r>
              <a:rPr lang="en-US" sz="1700" dirty="0">
                <a:solidFill>
                  <a:srgbClr val="374151"/>
                </a:solidFill>
              </a:rPr>
              <a:t>Back up the library, and sync it — a lost reference library near submission is a genuine disaster</a:t>
            </a:r>
            <a:endParaRPr lang="en-US" sz="1700" dirty="0"/>
          </a:p>
          <a:p>
            <a:pPr marL="342900" indent="-342900">
              <a:lnSpc>
                <a:spcPct val="125000"/>
              </a:lnSpc>
              <a:spcAft>
                <a:spcPts val="800"/>
              </a:spcAft>
              <a:buSzPct val="100000"/>
              <a:buChar char="•"/>
            </a:pPr>
            <a:r>
              <a:rPr lang="en-US" sz="1700" dirty="0">
                <a:solidFill>
                  <a:srgbClr val="374151"/>
                </a:solidFill>
              </a:rPr>
              <a:t>Never type a bibliography by hand: it wastes days and introduces errors that examiners do notice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Set your citation style once at the beginning. Switching from APA to Vancouver later is a single dropdown in the reference manager, and a week of manual work without one.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Building a PubMed search line by line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The question is whether community health worker home visits reduce childhood malaria in rural Ghana. Typing the whole sentence into PubMed returns almost nothing useful.</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Split into concepts: (1) community health workers, (2) home visits, (3) malaria in children.</a:t>
            </a:r>
            <a:endParaRPr lang="en-US" sz="1300" dirty="0"/>
          </a:p>
          <a:p>
            <a:pPr marL="342900" indent="-342900">
              <a:lnSpc>
                <a:spcPct val="115000"/>
              </a:lnSpc>
              <a:buSzPct val="100000"/>
              <a:buFont typeface="+mj-lt"/>
              <a:buAutoNum type="arabicPeriod" startAt="1"/>
            </a:pPr>
            <a:r>
              <a:rPr lang="en-US" sz="1300" dirty="0">
                <a:solidFill>
                  <a:srgbClr val="374151"/>
                </a:solidFill>
              </a:rPr>
              <a:t>Concept 1: "Community Health Workers"[Mesh] OR community health worker*[tiab] OR CHW[tiab] OR "village health volunteer*"[tiab]</a:t>
            </a:r>
            <a:endParaRPr lang="en-US" sz="1300" dirty="0"/>
          </a:p>
          <a:p>
            <a:pPr marL="342900" indent="-342900">
              <a:lnSpc>
                <a:spcPct val="115000"/>
              </a:lnSpc>
              <a:buSzPct val="100000"/>
              <a:buFont typeface="+mj-lt"/>
              <a:buAutoNum type="arabicPeriod" startAt="1"/>
            </a:pPr>
            <a:r>
              <a:rPr lang="en-US" sz="1300" dirty="0">
                <a:solidFill>
                  <a:srgbClr val="374151"/>
                </a:solidFill>
              </a:rPr>
              <a:t>Concept 2: "House Calls"[Mesh] OR home visit*[tiab] OR domiciliary[tiab]</a:t>
            </a:r>
            <a:endParaRPr lang="en-US" sz="1300" dirty="0"/>
          </a:p>
          <a:p>
            <a:pPr marL="342900" indent="-342900">
              <a:lnSpc>
                <a:spcPct val="115000"/>
              </a:lnSpc>
              <a:buSzPct val="100000"/>
              <a:buFont typeface="+mj-lt"/>
              <a:buAutoNum type="arabicPeriod" startAt="1"/>
            </a:pPr>
            <a:r>
              <a:rPr lang="en-US" sz="1300" dirty="0">
                <a:solidFill>
                  <a:srgbClr val="374151"/>
                </a:solidFill>
              </a:rPr>
              <a:t>Concept 3: "Malaria"[Mesh] AND ("Child"[Mesh] OR child*[tiab] OR under-five*[tiab])</a:t>
            </a:r>
            <a:endParaRPr lang="en-US" sz="1300" dirty="0"/>
          </a:p>
          <a:p>
            <a:pPr marL="342900" indent="-342900">
              <a:lnSpc>
                <a:spcPct val="115000"/>
              </a:lnSpc>
              <a:buSzPct val="100000"/>
              <a:buFont typeface="+mj-lt"/>
              <a:buAutoNum type="arabicPeriod" startAt="1"/>
            </a:pPr>
            <a:r>
              <a:rPr lang="en-US" sz="1300" dirty="0">
                <a:solidFill>
                  <a:srgbClr val="374151"/>
                </a:solidFill>
              </a:rPr>
              <a:t>Combine: #1 AND #2 AND #3. Record the date, the number of hits and the exact strings.</a:t>
            </a:r>
            <a:endParaRPr lang="en-US" sz="1300" dirty="0"/>
          </a:p>
          <a:p>
            <a:pPr marL="342900" indent="-342900">
              <a:lnSpc>
                <a:spcPct val="115000"/>
              </a:lnSpc>
              <a:buSzPct val="100000"/>
              <a:buFont typeface="+mj-lt"/>
              <a:buAutoNum type="arabicPeriod" startAt="1"/>
            </a:pPr>
            <a:r>
              <a:rPr lang="en-US" sz="1300" dirty="0">
                <a:solidFill>
                  <a:srgbClr val="374151"/>
                </a:solidFill>
              </a:rPr>
              <a:t>Then rerun the concepts in AJOL and Google Scholar — the Ghanaian and regional literature is thin in PubMed and you will otherwise miss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What truncation actually costs you</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researcher searches nurs* expecting to capture nurse, nurses and nursing. The result set balloons and is full of irrelevant records.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nurs* also matches nursery, nurseries and nursed, none of which are wanted.</a:t>
            </a:r>
            <a:endParaRPr lang="en-US" sz="1300" dirty="0"/>
          </a:p>
          <a:p>
            <a:pPr marL="342900" indent="-342900">
              <a:lnSpc>
                <a:spcPct val="115000"/>
              </a:lnSpc>
              <a:buSzPct val="100000"/>
              <a:buFont typeface="+mj-lt"/>
              <a:buAutoNum type="arabicPeriod" startAt="1"/>
            </a:pPr>
            <a:r>
              <a:rPr lang="en-US" sz="1300" dirty="0">
                <a:solidFill>
                  <a:srgbClr val="374151"/>
                </a:solidFill>
              </a:rPr>
              <a:t>Truncating too early is the usual cause: nurs* cuts before the stem is distinctive.</a:t>
            </a:r>
            <a:endParaRPr lang="en-US" sz="1300" dirty="0"/>
          </a:p>
          <a:p>
            <a:pPr marL="342900" indent="-342900">
              <a:lnSpc>
                <a:spcPct val="115000"/>
              </a:lnSpc>
              <a:buSzPct val="100000"/>
              <a:buFont typeface="+mj-lt"/>
              <a:buAutoNum type="arabicPeriod" startAt="1"/>
            </a:pPr>
            <a:r>
              <a:rPr lang="en-US" sz="1300" dirty="0">
                <a:solidFill>
                  <a:srgbClr val="374151"/>
                </a:solidFill>
              </a:rPr>
              <a:t>nurse* OR nursing captures what is needed without the nursery records.</a:t>
            </a:r>
            <a:endParaRPr lang="en-US" sz="1300" dirty="0"/>
          </a:p>
          <a:p>
            <a:pPr marL="342900" indent="-342900">
              <a:lnSpc>
                <a:spcPct val="115000"/>
              </a:lnSpc>
              <a:buSzPct val="100000"/>
              <a:buFont typeface="+mj-lt"/>
              <a:buAutoNum type="arabicPeriod" startAt="1"/>
            </a:pPr>
            <a:r>
              <a:rPr lang="en-US" sz="1300" dirty="0">
                <a:solidFill>
                  <a:srgbClr val="374151"/>
                </a:solidFill>
              </a:rPr>
              <a:t>Check the effect: run both and compare the hit counts and a sample of titles.</a:t>
            </a:r>
            <a:endParaRPr lang="en-US" sz="1300" dirty="0"/>
          </a:p>
          <a:p>
            <a:pPr marL="342900" indent="-342900">
              <a:lnSpc>
                <a:spcPct val="115000"/>
              </a:lnSpc>
              <a:buSzPct val="100000"/>
              <a:buFont typeface="+mj-lt"/>
              <a:buAutoNum type="arabicPeriod" startAt="1"/>
            </a:pPr>
            <a:r>
              <a:rPr lang="en-US" sz="1300" dirty="0">
                <a:solidFill>
                  <a:srgbClr val="374151"/>
                </a:solidFill>
              </a:rPr>
              <a:t>Where a database offers it, a field tag narrows further — nurse*[tiab] rather than a free-text search of the whole record.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MeSH — Medical Subject Headings — the controlled vocabulary used to index MEDLINE and PubMed records.</a:t>
            </a:r>
            <a:endParaRPr lang="en-US" sz="1700" dirty="0"/>
          </a:p>
          <a:p>
            <a:pPr marL="342900" indent="-342900">
              <a:lnSpc>
                <a:spcPct val="125000"/>
              </a:lnSpc>
              <a:spcAft>
                <a:spcPts val="800"/>
              </a:spcAft>
              <a:buSzPct val="100000"/>
              <a:buChar char="•"/>
            </a:pPr>
            <a:r>
              <a:rPr lang="en-US" sz="1700" dirty="0">
                <a:solidFill>
                  <a:srgbClr val="374151"/>
                </a:solidFill>
              </a:rPr>
              <a:t>Boolean operators — AND, OR and NOT, used to combine search concepts.</a:t>
            </a:r>
            <a:endParaRPr lang="en-US" sz="1700" dirty="0"/>
          </a:p>
          <a:p>
            <a:pPr marL="342900" indent="-342900">
              <a:lnSpc>
                <a:spcPct val="125000"/>
              </a:lnSpc>
              <a:spcAft>
                <a:spcPts val="800"/>
              </a:spcAft>
              <a:buSzPct val="100000"/>
              <a:buChar char="•"/>
            </a:pPr>
            <a:r>
              <a:rPr lang="en-US" sz="1700" dirty="0">
                <a:solidFill>
                  <a:srgbClr val="374151"/>
                </a:solidFill>
              </a:rPr>
              <a:t>Truncation — A wildcard symbol (usually *) retrieving all word endings from a common stem.</a:t>
            </a:r>
            <a:endParaRPr lang="en-US" sz="1700" dirty="0"/>
          </a:p>
          <a:p>
            <a:pPr marL="342900" indent="-342900">
              <a:lnSpc>
                <a:spcPct val="125000"/>
              </a:lnSpc>
              <a:spcAft>
                <a:spcPts val="800"/>
              </a:spcAft>
              <a:buSzPct val="100000"/>
              <a:buChar char="•"/>
            </a:pPr>
            <a:r>
              <a:rPr lang="en-US" sz="1700" dirty="0">
                <a:solidFill>
                  <a:srgbClr val="374151"/>
                </a:solidFill>
              </a:rPr>
              <a:t>Sensitivity — The proportion of all relevant records that a search retrieves.</a:t>
            </a:r>
            <a:endParaRPr lang="en-US" sz="1700" dirty="0"/>
          </a:p>
          <a:p>
            <a:pPr marL="342900" indent="-342900">
              <a:lnSpc>
                <a:spcPct val="125000"/>
              </a:lnSpc>
              <a:spcAft>
                <a:spcPts val="800"/>
              </a:spcAft>
              <a:buSzPct val="100000"/>
              <a:buChar char="•"/>
            </a:pPr>
            <a:r>
              <a:rPr lang="en-US" sz="1700" dirty="0">
                <a:solidFill>
                  <a:srgbClr val="374151"/>
                </a:solidFill>
              </a:rPr>
              <a:t>Precision — The proportion of retrieved records that are actually relevant.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PRISMA flow diagram — The standard figure reporting how records moved from identification through screening to inclusion.</a:t>
            </a:r>
            <a:endParaRPr lang="en-US" sz="1500" dirty="0"/>
          </a:p>
          <a:p>
            <a:pPr marL="342900" indent="-342900">
              <a:lnSpc>
                <a:spcPct val="125000"/>
              </a:lnSpc>
              <a:spcAft>
                <a:spcPts val="800"/>
              </a:spcAft>
              <a:buSzPct val="100000"/>
              <a:buChar char="•"/>
            </a:pPr>
            <a:r>
              <a:rPr lang="en-US" sz="1500" dirty="0">
                <a:solidFill>
                  <a:srgbClr val="374151"/>
                </a:solidFill>
              </a:rPr>
              <a:t>Grey literature — Reports, theses and working papers published outside commercial channels and often outside major indexes.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Build a full PubMed strategy for your own question. Produce at least two concepts, each with MeSH and free-text synonyms combined by OR, then joined by AND. Record the date and the number of hits. Import the first twenty results into Zotero and generate a bibliography in APA, then switch it to Vancouver.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5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Quantitative Research Designs</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main observational and experimental designs, what each can and cannot establish, and how to choose the weakest design that still answers your question honestly.</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Describe cross-sectional, case-control, cohort and experimental designs</a:t>
            </a:r>
            <a:endParaRPr lang="en-US" sz="1800" dirty="0"/>
          </a:p>
          <a:p>
            <a:pPr marL="342900" indent="-342900">
              <a:lnSpc>
                <a:spcPct val="125000"/>
              </a:lnSpc>
              <a:spcAft>
                <a:spcPts val="800"/>
              </a:spcAft>
              <a:buSzPct val="100000"/>
              <a:buChar char="•"/>
            </a:pPr>
            <a:r>
              <a:rPr lang="en-US" sz="1800" dirty="0">
                <a:solidFill>
                  <a:srgbClr val="374151"/>
                </a:solidFill>
              </a:rPr>
              <a:t>Match a design to a research question and justify the choice</a:t>
            </a:r>
            <a:endParaRPr lang="en-US" sz="1800" dirty="0"/>
          </a:p>
          <a:p>
            <a:pPr marL="342900" indent="-342900">
              <a:lnSpc>
                <a:spcPct val="125000"/>
              </a:lnSpc>
              <a:spcAft>
                <a:spcPts val="800"/>
              </a:spcAft>
              <a:buSzPct val="100000"/>
              <a:buChar char="•"/>
            </a:pPr>
            <a:r>
              <a:rPr lang="en-US" sz="1800" dirty="0">
                <a:solidFill>
                  <a:srgbClr val="374151"/>
                </a:solidFill>
              </a:rPr>
              <a:t>Explain why association does not establish causation and what would</a:t>
            </a:r>
            <a:endParaRPr lang="en-US" sz="1800" dirty="0"/>
          </a:p>
          <a:p>
            <a:pPr marL="342900" indent="-342900">
              <a:lnSpc>
                <a:spcPct val="125000"/>
              </a:lnSpc>
              <a:spcAft>
                <a:spcPts val="800"/>
              </a:spcAft>
              <a:buSzPct val="100000"/>
              <a:buChar char="•"/>
            </a:pPr>
            <a:r>
              <a:rPr lang="en-US" sz="1800" dirty="0">
                <a:solidFill>
                  <a:srgbClr val="374151"/>
                </a:solidFill>
              </a:rPr>
              <a:t>Identify the principal biases threatening each design</a:t>
            </a:r>
            <a:endParaRPr lang="en-US" sz="1800" dirty="0"/>
          </a:p>
          <a:p>
            <a:pPr marL="342900" indent="-342900">
              <a:lnSpc>
                <a:spcPct val="125000"/>
              </a:lnSpc>
              <a:spcAft>
                <a:spcPts val="800"/>
              </a:spcAft>
              <a:buSzPct val="100000"/>
              <a:buChar char="•"/>
            </a:pPr>
            <a:r>
              <a:rPr lang="en-US" sz="1800" dirty="0">
                <a:solidFill>
                  <a:srgbClr val="374151"/>
                </a:solidFill>
              </a:rPr>
              <a:t>Explain randomisation, blinding and allocation concealment</a:t>
            </a:r>
            <a:endParaRPr lang="en-US" sz="1800" dirty="0"/>
          </a:p>
          <a:p>
            <a:pPr marL="342900" indent="-342900">
              <a:lnSpc>
                <a:spcPct val="125000"/>
              </a:lnSpc>
              <a:spcAft>
                <a:spcPts val="800"/>
              </a:spcAft>
              <a:buSzPct val="100000"/>
              <a:buChar char="•"/>
            </a:pPr>
            <a:r>
              <a:rPr lang="en-US" sz="1800" dirty="0">
                <a:solidFill>
                  <a:srgbClr val="374151"/>
                </a:solidFill>
              </a:rPr>
              <a:t>Recognise quasi-experimental designs and when they are the honest option</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Observational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Cross-sectional — exposure and outcome measured at the same moment; fast and cheap; gives prevalence but cannot establish which came first</a:t>
            </a:r>
            <a:endParaRPr lang="en-US" sz="1300" dirty="0"/>
          </a:p>
          <a:p>
            <a:pPr marL="342900" indent="-342900">
              <a:lnSpc>
                <a:spcPct val="125000"/>
              </a:lnSpc>
              <a:spcAft>
                <a:spcPts val="800"/>
              </a:spcAft>
              <a:buSzPct val="100000"/>
              <a:buChar char="•"/>
            </a:pPr>
            <a:r>
              <a:rPr lang="en-US" sz="1300" dirty="0">
                <a:solidFill>
                  <a:srgbClr val="374151"/>
                </a:solidFill>
              </a:rPr>
              <a:t>Case-control — starts from the outcome and looks backward at exposure; efficient for rare outcomes; vulnerable to recall and selection bias; yields an odds ratio</a:t>
            </a:r>
            <a:endParaRPr lang="en-US" sz="1300" dirty="0"/>
          </a:p>
          <a:p>
            <a:pPr marL="342900" indent="-342900">
              <a:lnSpc>
                <a:spcPct val="125000"/>
              </a:lnSpc>
              <a:spcAft>
                <a:spcPts val="800"/>
              </a:spcAft>
              <a:buSzPct val="100000"/>
              <a:buChar char="•"/>
            </a:pPr>
            <a:r>
              <a:rPr lang="en-US" sz="1300" dirty="0">
                <a:solidFill>
                  <a:srgbClr val="374151"/>
                </a:solidFill>
              </a:rPr>
              <a:t>Cohort — starts from exposure and follows forward to outcome; establishes temporal sequence; expensive and vulnerable to loss to follow-up; yields relative risk and incidence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Observational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Ecological — units of analysis are groups rather than individuals; cheap but subject to the ecological fallacy</a:t>
            </a:r>
            <a:endParaRPr lang="en-US" sz="1700" dirty="0"/>
          </a:p>
          <a:p>
            <a:pPr marL="342900" indent="-342900">
              <a:lnSpc>
                <a:spcPct val="125000"/>
              </a:lnSpc>
              <a:spcAft>
                <a:spcPts val="800"/>
              </a:spcAft>
              <a:buSzPct val="100000"/>
              <a:buChar char="•"/>
            </a:pPr>
            <a:r>
              <a:rPr lang="en-US" sz="1700" dirty="0">
                <a:solidFill>
                  <a:srgbClr val="374151"/>
                </a:solidFill>
              </a:rPr>
              <a:t>Case series and case reports — descriptive only, no comparison group, hypothesis-generating at best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Choosing an observational design</a:t>
            </a:r>
            <a:endParaRPr lang="en-US" sz="22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034540"/>
                <a:gridCol w="2034540"/>
                <a:gridCol w="2034540"/>
                <a:gridCol w="2034540"/>
              </a:tblGrid>
              <a:tr h="0">
                <a:tc>
                  <a:txBody>
                    <a:bodyPr/>
                    <a:lstStyle/>
                    <a:p>
                      <a:pPr indent="0" marL="0">
                        <a:buNone/>
                      </a:pPr>
                      <a:r>
                        <a:rPr lang="en-US" sz="1100" b="1" dirty="0">
                          <a:solidFill>
                            <a:srgbClr val="FFFFFF"/>
                          </a:solidFill>
                        </a:rPr>
                        <a:t>Design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Starts from</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Best for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Main weakness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Cross-sectional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A population at one time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Prevalence, associations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No temporal sequence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Case-control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The outcome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Rare outcomes, long latency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Recall and selection bias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Cohort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The exposure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Incidence, temporal sequence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Cost, attrition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Ecological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Groups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Population-level hypotheses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Ecological fallacy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Experimental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investigator assigns the exposure, which is what permits causal inference</a:t>
            </a:r>
            <a:endParaRPr lang="en-US" sz="1500" dirty="0"/>
          </a:p>
          <a:p>
            <a:pPr marL="342900" indent="-342900">
              <a:lnSpc>
                <a:spcPct val="125000"/>
              </a:lnSpc>
              <a:spcAft>
                <a:spcPts val="800"/>
              </a:spcAft>
              <a:buSzPct val="100000"/>
              <a:buChar char="•"/>
            </a:pPr>
            <a:r>
              <a:rPr lang="en-US" sz="1500" dirty="0">
                <a:solidFill>
                  <a:srgbClr val="374151"/>
                </a:solidFill>
              </a:rPr>
              <a:t>Randomisation distributes both known and unknown confounders across arms — its unique strength</a:t>
            </a:r>
            <a:endParaRPr lang="en-US" sz="1500" dirty="0"/>
          </a:p>
          <a:p>
            <a:pPr marL="342900" indent="-342900">
              <a:lnSpc>
                <a:spcPct val="125000"/>
              </a:lnSpc>
              <a:spcAft>
                <a:spcPts val="800"/>
              </a:spcAft>
              <a:buSzPct val="100000"/>
              <a:buChar char="•"/>
            </a:pPr>
            <a:r>
              <a:rPr lang="en-US" sz="1500" dirty="0">
                <a:solidFill>
                  <a:srgbClr val="374151"/>
                </a:solidFill>
              </a:rPr>
              <a:t>Allocation concealment stops the recruiter from knowing the next assignment, preventing selection bias at entry</a:t>
            </a:r>
            <a:endParaRPr lang="en-US" sz="1500" dirty="0"/>
          </a:p>
          <a:p>
            <a:pPr marL="342900" indent="-342900">
              <a:lnSpc>
                <a:spcPct val="125000"/>
              </a:lnSpc>
              <a:spcAft>
                <a:spcPts val="800"/>
              </a:spcAft>
              <a:buSzPct val="100000"/>
              <a:buChar char="•"/>
            </a:pPr>
            <a:r>
              <a:rPr lang="en-US" sz="1500" dirty="0">
                <a:solidFill>
                  <a:srgbClr val="374151"/>
                </a:solidFill>
              </a:rPr>
              <a:t>Blinding stops participants, providers or assessors from knowing the assignment, preventing performance and detection bias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Experimental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Randomised controlled trials may be parallel, crossover, factorial or cluster-randomised</a:t>
            </a:r>
            <a:endParaRPr lang="en-US" sz="1500" dirty="0"/>
          </a:p>
          <a:p>
            <a:pPr marL="342900" indent="-342900">
              <a:lnSpc>
                <a:spcPct val="125000"/>
              </a:lnSpc>
              <a:spcAft>
                <a:spcPts val="800"/>
              </a:spcAft>
              <a:buSzPct val="100000"/>
              <a:buChar char="•"/>
            </a:pPr>
            <a:r>
              <a:rPr lang="en-US" sz="1500" dirty="0">
                <a:solidFill>
                  <a:srgbClr val="374151"/>
                </a:solidFill>
              </a:rPr>
              <a:t>Cluster randomisation assigns groups (schools, clinics, villages) and requires a larger sample because responses within a cluster are correlated</a:t>
            </a:r>
            <a:endParaRPr lang="en-US" sz="1500" dirty="0"/>
          </a:p>
          <a:p>
            <a:pPr marL="342900" indent="-342900">
              <a:lnSpc>
                <a:spcPct val="125000"/>
              </a:lnSpc>
              <a:spcAft>
                <a:spcPts val="800"/>
              </a:spcAft>
              <a:buSzPct val="100000"/>
              <a:buChar char="•"/>
            </a:pPr>
            <a:r>
              <a:rPr lang="en-US" sz="1500" dirty="0">
                <a:solidFill>
                  <a:srgbClr val="374151"/>
                </a:solidFill>
              </a:rPr>
              <a:t>Analyse by intention to treat: participants are analysed in the arm to which they were assigned, whatever they actually received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5</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Per-protocol analysis, which counts only those who complied, quietly destroys randomisation and reintroduces confounding. Report it as a secondary analysis if at all.</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Quasi-experimental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Used when randomisation is impossible, unethical or politically unacceptable</a:t>
            </a:r>
            <a:endParaRPr lang="en-US" sz="1500" dirty="0"/>
          </a:p>
          <a:p>
            <a:pPr marL="342900" indent="-342900">
              <a:lnSpc>
                <a:spcPct val="125000"/>
              </a:lnSpc>
              <a:spcAft>
                <a:spcPts val="800"/>
              </a:spcAft>
              <a:buSzPct val="100000"/>
              <a:buChar char="•"/>
            </a:pPr>
            <a:r>
              <a:rPr lang="en-US" sz="1500" dirty="0">
                <a:solidFill>
                  <a:srgbClr val="374151"/>
                </a:solidFill>
              </a:rPr>
              <a:t>Non-equivalent control group — an untreated comparison group not formed by randomisation</a:t>
            </a:r>
            <a:endParaRPr lang="en-US" sz="1500" dirty="0"/>
          </a:p>
          <a:p>
            <a:pPr marL="342900" indent="-342900">
              <a:lnSpc>
                <a:spcPct val="125000"/>
              </a:lnSpc>
              <a:spcAft>
                <a:spcPts val="800"/>
              </a:spcAft>
              <a:buSzPct val="100000"/>
              <a:buChar char="•"/>
            </a:pPr>
            <a:r>
              <a:rPr lang="en-US" sz="1500" dirty="0">
                <a:solidFill>
                  <a:srgbClr val="374151"/>
                </a:solidFill>
              </a:rPr>
              <a:t>Interrupted time series — repeated measures before and after an intervention, strong when many time points exist</a:t>
            </a:r>
            <a:endParaRPr lang="en-US" sz="1500" dirty="0"/>
          </a:p>
          <a:p>
            <a:pPr marL="342900" indent="-342900">
              <a:lnSpc>
                <a:spcPct val="125000"/>
              </a:lnSpc>
              <a:spcAft>
                <a:spcPts val="800"/>
              </a:spcAft>
              <a:buSzPct val="100000"/>
              <a:buChar char="•"/>
            </a:pPr>
            <a:r>
              <a:rPr lang="en-US" sz="1500" dirty="0">
                <a:solidFill>
                  <a:srgbClr val="374151"/>
                </a:solidFill>
              </a:rPr>
              <a:t>Difference-in-differences — compares change over time between exposed and unexposed groups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Quasi-experimental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Stepped wedge — all clusters eventually receive the intervention, in a randomised order; ethically attractive for programme rollout</a:t>
            </a:r>
            <a:endParaRPr lang="en-US" sz="1500" dirty="0"/>
          </a:p>
          <a:p>
            <a:pPr marL="342900" indent="-342900">
              <a:lnSpc>
                <a:spcPct val="125000"/>
              </a:lnSpc>
              <a:spcAft>
                <a:spcPts val="800"/>
              </a:spcAft>
              <a:buSzPct val="100000"/>
              <a:buChar char="•"/>
            </a:pPr>
            <a:r>
              <a:rPr lang="en-US" sz="1500" dirty="0">
                <a:solidFill>
                  <a:srgbClr val="374151"/>
                </a:solidFill>
              </a:rPr>
              <a:t>These designs support weaker causal claims and must state the residual threats explicitly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Causation and bias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Association is necessary but not sufficient for causation</a:t>
            </a:r>
            <a:endParaRPr lang="en-US" sz="1300" dirty="0"/>
          </a:p>
          <a:p>
            <a:pPr marL="342900" indent="-342900">
              <a:lnSpc>
                <a:spcPct val="125000"/>
              </a:lnSpc>
              <a:spcAft>
                <a:spcPts val="800"/>
              </a:spcAft>
              <a:buSzPct val="100000"/>
              <a:buChar char="•"/>
            </a:pPr>
            <a:r>
              <a:rPr lang="en-US" sz="1300" dirty="0">
                <a:solidFill>
                  <a:srgbClr val="374151"/>
                </a:solidFill>
              </a:rPr>
              <a:t>The Bradford Hill considerations — strength, consistency, temporality, biological gradient, plausibility and others — aid judgement but prove nothing individually</a:t>
            </a:r>
            <a:endParaRPr lang="en-US" sz="1300" dirty="0"/>
          </a:p>
          <a:p>
            <a:pPr marL="342900" indent="-342900">
              <a:lnSpc>
                <a:spcPct val="125000"/>
              </a:lnSpc>
              <a:spcAft>
                <a:spcPts val="800"/>
              </a:spcAft>
              <a:buSzPct val="100000"/>
              <a:buChar char="•"/>
            </a:pPr>
            <a:r>
              <a:rPr lang="en-US" sz="1300" dirty="0">
                <a:solidFill>
                  <a:srgbClr val="374151"/>
                </a:solidFill>
              </a:rPr>
              <a:t>Temporality is the only genuinely necessary condition: the cause must precede the effect</a:t>
            </a:r>
            <a:endParaRPr lang="en-US" sz="1300" dirty="0"/>
          </a:p>
          <a:p>
            <a:pPr marL="342900" indent="-342900">
              <a:lnSpc>
                <a:spcPct val="125000"/>
              </a:lnSpc>
              <a:spcAft>
                <a:spcPts val="800"/>
              </a:spcAft>
              <a:buSzPct val="100000"/>
              <a:buChar char="•"/>
            </a:pPr>
            <a:r>
              <a:rPr lang="en-US" sz="1300" dirty="0">
                <a:solidFill>
                  <a:srgbClr val="374151"/>
                </a:solidFill>
              </a:rPr>
              <a:t>Selection bias arises when those included differ systematically from those not included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Causation and bias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Information bias arises from measurement error — including recall bias and interviewer bias</a:t>
            </a:r>
            <a:endParaRPr lang="en-US" sz="1500" dirty="0"/>
          </a:p>
          <a:p>
            <a:pPr marL="342900" indent="-342900">
              <a:lnSpc>
                <a:spcPct val="125000"/>
              </a:lnSpc>
              <a:spcAft>
                <a:spcPts val="800"/>
              </a:spcAft>
              <a:buSzPct val="100000"/>
              <a:buChar char="•"/>
            </a:pPr>
            <a:r>
              <a:rPr lang="en-US" sz="1500" dirty="0">
                <a:solidFill>
                  <a:srgbClr val="374151"/>
                </a:solidFill>
              </a:rPr>
              <a:t>Confounding arises when a third variable explains the apparent relationship</a:t>
            </a:r>
            <a:endParaRPr lang="en-US" sz="1500" dirty="0"/>
          </a:p>
          <a:p>
            <a:pPr marL="342900" indent="-342900">
              <a:lnSpc>
                <a:spcPct val="125000"/>
              </a:lnSpc>
              <a:spcAft>
                <a:spcPts val="800"/>
              </a:spcAft>
              <a:buSzPct val="100000"/>
              <a:buChar char="•"/>
            </a:pPr>
            <a:r>
              <a:rPr lang="en-US" sz="1500" dirty="0">
                <a:solidFill>
                  <a:srgbClr val="374151"/>
                </a:solidFill>
              </a:rPr>
              <a:t>Confounding can be handled by design (randomisation, restriction, matching) or by analysis (stratification, regression adjustment)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5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One question, four designs, four different answers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Does using an insecticide-treated net reduce malaria in under-fives? The design chosen changes what can honestly be claimed.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Cross-sectional: survey households, record net use and current infection. Shows association only — sick children may have been given nets because they were sick.</a:t>
            </a:r>
            <a:endParaRPr lang="en-US" sz="1300" dirty="0"/>
          </a:p>
          <a:p>
            <a:pPr marL="342900" indent="-342900">
              <a:lnSpc>
                <a:spcPct val="115000"/>
              </a:lnSpc>
              <a:buSzPct val="100000"/>
              <a:buFont typeface="+mj-lt"/>
              <a:buAutoNum type="arabicPeriod" startAt="1"/>
            </a:pPr>
            <a:r>
              <a:rPr lang="en-US" sz="1300" dirty="0">
                <a:solidFill>
                  <a:srgbClr val="374151"/>
                </a:solidFill>
              </a:rPr>
              <a:t>Case-control: take children with malaria and matched controls, ask about past net use. Efficient, but caregivers of sick children recall exposure differently (recall bias).</a:t>
            </a:r>
            <a:endParaRPr lang="en-US" sz="1300" dirty="0"/>
          </a:p>
          <a:p>
            <a:pPr marL="342900" indent="-342900">
              <a:lnSpc>
                <a:spcPct val="115000"/>
              </a:lnSpc>
              <a:buSzPct val="100000"/>
              <a:buFont typeface="+mj-lt"/>
              <a:buAutoNum type="arabicPeriod" startAt="1"/>
            </a:pPr>
            <a:r>
              <a:rPr lang="en-US" sz="1300" dirty="0">
                <a:solidFill>
                  <a:srgbClr val="374151"/>
                </a:solidFill>
              </a:rPr>
              <a:t>Cohort: enrol net users and non-users, follow for a season. Establishes sequence, but families choosing nets differ from those who do not.</a:t>
            </a:r>
            <a:endParaRPr lang="en-US" sz="1300" dirty="0"/>
          </a:p>
          <a:p>
            <a:pPr marL="342900" indent="-342900">
              <a:lnSpc>
                <a:spcPct val="115000"/>
              </a:lnSpc>
              <a:buSzPct val="100000"/>
              <a:buFont typeface="+mj-lt"/>
              <a:buAutoNum type="arabicPeriod" startAt="1"/>
            </a:pPr>
            <a:r>
              <a:rPr lang="en-US" sz="1300" dirty="0">
                <a:solidFill>
                  <a:srgbClr val="374151"/>
                </a:solidFill>
              </a:rPr>
              <a:t>Cluster-randomised trial: randomise villages to receive nets. Balances known and unknown confounders — and answers the causal question.</a:t>
            </a:r>
            <a:endParaRPr lang="en-US" sz="1300" dirty="0"/>
          </a:p>
          <a:p>
            <a:pPr marL="342900" indent="-342900">
              <a:lnSpc>
                <a:spcPct val="115000"/>
              </a:lnSpc>
              <a:buSzPct val="100000"/>
              <a:buFont typeface="+mj-lt"/>
              <a:buAutoNum type="arabicPeriod" startAt="1"/>
            </a:pPr>
            <a:r>
              <a:rPr lang="en-US" sz="1300" dirty="0">
                <a:solidFill>
                  <a:srgbClr val="374151"/>
                </a:solidFill>
              </a:rPr>
              <a:t>The trial is strongest and also the slowest and most expensive; the cross-sectional study is fastest and answers least.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5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Why per-protocol analysis quietly breaks a trial</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In a trial of a six-month TB treatment regimen, 15% of the intervention arm stopped taking the drug. The analyst proposes excluding them "so we measure the drug's true effect".</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Ask who stopped. Typically those with worse side effects, more advanced disease, or less social support.</a:t>
            </a:r>
            <a:endParaRPr lang="en-US" sz="1300" dirty="0"/>
          </a:p>
          <a:p>
            <a:pPr marL="342900" indent="-342900">
              <a:lnSpc>
                <a:spcPct val="115000"/>
              </a:lnSpc>
              <a:buSzPct val="100000"/>
              <a:buFont typeface="+mj-lt"/>
              <a:buAutoNum type="arabicPeriod" startAt="1"/>
            </a:pPr>
            <a:r>
              <a:rPr lang="en-US" sz="1300" dirty="0">
                <a:solidFill>
                  <a:srgbClr val="374151"/>
                </a:solidFill>
              </a:rPr>
              <a:t>Those same characteristics predict worse outcomes independently of the drug.</a:t>
            </a:r>
            <a:endParaRPr lang="en-US" sz="1300" dirty="0"/>
          </a:p>
          <a:p>
            <a:pPr marL="342900" indent="-342900">
              <a:lnSpc>
                <a:spcPct val="115000"/>
              </a:lnSpc>
              <a:buSzPct val="100000"/>
              <a:buFont typeface="+mj-lt"/>
              <a:buAutoNum type="arabicPeriod" startAt="1"/>
            </a:pPr>
            <a:r>
              <a:rPr lang="en-US" sz="1300" dirty="0">
                <a:solidFill>
                  <a:srgbClr val="374151"/>
                </a:solidFill>
              </a:rPr>
              <a:t>Removing them leaves a healthier intervention arm compared against an intact control arm.</a:t>
            </a:r>
            <a:endParaRPr lang="en-US" sz="1300" dirty="0"/>
          </a:p>
          <a:p>
            <a:pPr marL="342900" indent="-342900">
              <a:lnSpc>
                <a:spcPct val="115000"/>
              </a:lnSpc>
              <a:buSzPct val="100000"/>
              <a:buFont typeface="+mj-lt"/>
              <a:buAutoNum type="arabicPeriod" startAt="1"/>
            </a:pPr>
            <a:r>
              <a:rPr lang="en-US" sz="1300" dirty="0">
                <a:solidFill>
                  <a:srgbClr val="374151"/>
                </a:solidFill>
              </a:rPr>
              <a:t>Randomisation guaranteed comparable groups at baseline; this exclusion destroys that guarantee.</a:t>
            </a:r>
            <a:endParaRPr lang="en-US" sz="1300" dirty="0"/>
          </a:p>
          <a:p>
            <a:pPr marL="342900" indent="-342900">
              <a:lnSpc>
                <a:spcPct val="115000"/>
              </a:lnSpc>
              <a:buSzPct val="100000"/>
              <a:buFont typeface="+mj-lt"/>
              <a:buAutoNum type="arabicPeriod" startAt="1"/>
            </a:pPr>
            <a:r>
              <a:rPr lang="en-US" sz="1300" dirty="0">
                <a:solidFill>
                  <a:srgbClr val="374151"/>
                </a:solidFill>
              </a:rPr>
              <a:t>Intention to treat keeps everyone in the arm they were assigned, and answers the question a clinician actually faces: what happens if I prescribe this?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Incidence — The rate of new cases arising in a population over a defined period.</a:t>
            </a:r>
            <a:endParaRPr lang="en-US" sz="1500" dirty="0"/>
          </a:p>
          <a:p>
            <a:pPr marL="342900" indent="-342900">
              <a:lnSpc>
                <a:spcPct val="125000"/>
              </a:lnSpc>
              <a:spcAft>
                <a:spcPts val="800"/>
              </a:spcAft>
              <a:buSzPct val="100000"/>
              <a:buChar char="•"/>
            </a:pPr>
            <a:r>
              <a:rPr lang="en-US" sz="1500" dirty="0">
                <a:solidFill>
                  <a:srgbClr val="374151"/>
                </a:solidFill>
              </a:rPr>
              <a:t>Prevalence — The proportion of a population having the condition at a point in time.</a:t>
            </a:r>
            <a:endParaRPr lang="en-US" sz="1500" dirty="0"/>
          </a:p>
          <a:p>
            <a:pPr marL="342900" indent="-342900">
              <a:lnSpc>
                <a:spcPct val="125000"/>
              </a:lnSpc>
              <a:spcAft>
                <a:spcPts val="800"/>
              </a:spcAft>
              <a:buSzPct val="100000"/>
              <a:buChar char="•"/>
            </a:pPr>
            <a:r>
              <a:rPr lang="en-US" sz="1500" dirty="0">
                <a:solidFill>
                  <a:srgbClr val="374151"/>
                </a:solidFill>
              </a:rPr>
              <a:t>Odds ratio — The ratio of the odds of exposure in cases to the odds in controls; the standard measure from case-control studies.</a:t>
            </a:r>
            <a:endParaRPr lang="en-US" sz="1500" dirty="0"/>
          </a:p>
          <a:p>
            <a:pPr marL="342900" indent="-342900">
              <a:lnSpc>
                <a:spcPct val="125000"/>
              </a:lnSpc>
              <a:spcAft>
                <a:spcPts val="800"/>
              </a:spcAft>
              <a:buSzPct val="100000"/>
              <a:buChar char="•"/>
            </a:pPr>
            <a:r>
              <a:rPr lang="en-US" sz="1500" dirty="0">
                <a:solidFill>
                  <a:srgbClr val="374151"/>
                </a:solidFill>
              </a:rPr>
              <a:t>Allocation concealment — Preventing those enrolling participants from knowing the upcoming assignment.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Intention to treat — Analysing participants in the arm to which they were randomised, regardless of adherence.</a:t>
            </a:r>
            <a:endParaRPr lang="en-US" sz="1500" dirty="0"/>
          </a:p>
          <a:p>
            <a:pPr marL="342900" indent="-342900">
              <a:lnSpc>
                <a:spcPct val="125000"/>
              </a:lnSpc>
              <a:spcAft>
                <a:spcPts val="800"/>
              </a:spcAft>
              <a:buSzPct val="100000"/>
              <a:buChar char="•"/>
            </a:pPr>
            <a:r>
              <a:rPr lang="en-US" sz="1500" dirty="0">
                <a:solidFill>
                  <a:srgbClr val="374151"/>
                </a:solidFill>
              </a:rPr>
              <a:t>Ecological fallacy — Wrongly inferring something about individuals from a relationship observed between groups.</a:t>
            </a:r>
            <a:endParaRPr lang="en-US" sz="1500" dirty="0"/>
          </a:p>
          <a:p>
            <a:pPr marL="342900" indent="-342900">
              <a:lnSpc>
                <a:spcPct val="125000"/>
              </a:lnSpc>
              <a:spcAft>
                <a:spcPts val="800"/>
              </a:spcAft>
              <a:buSzPct val="100000"/>
              <a:buChar char="•"/>
            </a:pPr>
            <a:r>
              <a:rPr lang="en-US" sz="1500" dirty="0">
                <a:solidFill>
                  <a:srgbClr val="374151"/>
                </a:solidFill>
              </a:rPr>
              <a:t>Confounding — Distortion of an exposure-outcome association by a third variable related to both.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You are asked whether a new community health worker programme reduced under-five mortality. Randomisation is refused by the district. Propose two quasi-experimental designs, state what each can and cannot establish, and name the biases you would have to acknowledge.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6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Qualitative Research Designs</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major qualitative traditions, the data collection methods attached to each, and how rigour is established when the aim is understanding rather than measurement.</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Distinguish phenomenology, grounded theory, ethnography, case study and narrative inquiry</a:t>
            </a:r>
            <a:endParaRPr lang="en-US" sz="1700" dirty="0"/>
          </a:p>
          <a:p>
            <a:pPr marL="342900" indent="-342900">
              <a:lnSpc>
                <a:spcPct val="125000"/>
              </a:lnSpc>
              <a:spcAft>
                <a:spcPts val="800"/>
              </a:spcAft>
              <a:buSzPct val="100000"/>
              <a:buChar char="•"/>
            </a:pPr>
            <a:r>
              <a:rPr lang="en-US" sz="1700" dirty="0">
                <a:solidFill>
                  <a:srgbClr val="374151"/>
                </a:solidFill>
              </a:rPr>
              <a:t>Match a qualitative tradition to a research question</a:t>
            </a:r>
            <a:endParaRPr lang="en-US" sz="1700" dirty="0"/>
          </a:p>
          <a:p>
            <a:pPr marL="342900" indent="-342900">
              <a:lnSpc>
                <a:spcPct val="125000"/>
              </a:lnSpc>
              <a:spcAft>
                <a:spcPts val="800"/>
              </a:spcAft>
              <a:buSzPct val="100000"/>
              <a:buChar char="•"/>
            </a:pPr>
            <a:r>
              <a:rPr lang="en-US" sz="1700" dirty="0">
                <a:solidFill>
                  <a:srgbClr val="374151"/>
                </a:solidFill>
              </a:rPr>
              <a:t>Design an interview guide and a focus group schedule</a:t>
            </a:r>
            <a:endParaRPr lang="en-US" sz="1700" dirty="0"/>
          </a:p>
          <a:p>
            <a:pPr marL="342900" indent="-342900">
              <a:lnSpc>
                <a:spcPct val="125000"/>
              </a:lnSpc>
              <a:spcAft>
                <a:spcPts val="800"/>
              </a:spcAft>
              <a:buSzPct val="100000"/>
              <a:buChar char="•"/>
            </a:pPr>
            <a:r>
              <a:rPr lang="en-US" sz="1700" dirty="0">
                <a:solidFill>
                  <a:srgbClr val="374151"/>
                </a:solidFill>
              </a:rPr>
              <a:t>Explain sampling logic in qualitative work and the concept of information power</a:t>
            </a:r>
            <a:endParaRPr lang="en-US" sz="1700" dirty="0"/>
          </a:p>
          <a:p>
            <a:pPr marL="342900" indent="-342900">
              <a:lnSpc>
                <a:spcPct val="125000"/>
              </a:lnSpc>
              <a:spcAft>
                <a:spcPts val="800"/>
              </a:spcAft>
              <a:buSzPct val="100000"/>
              <a:buChar char="•"/>
            </a:pPr>
            <a:r>
              <a:rPr lang="en-US" sz="1700" dirty="0">
                <a:solidFill>
                  <a:srgbClr val="374151"/>
                </a:solidFill>
              </a:rPr>
              <a:t>Apply the criteria of trustworthiness and explain reflexivity</a:t>
            </a:r>
            <a:endParaRPr lang="en-US" sz="1700" dirty="0"/>
          </a:p>
          <a:p>
            <a:pPr marL="342900" indent="-342900">
              <a:lnSpc>
                <a:spcPct val="125000"/>
              </a:lnSpc>
              <a:spcAft>
                <a:spcPts val="800"/>
              </a:spcAft>
              <a:buSzPct val="100000"/>
              <a:buChar char="•"/>
            </a:pPr>
            <a:r>
              <a:rPr lang="en-US" sz="1700" dirty="0">
                <a:solidFill>
                  <a:srgbClr val="374151"/>
                </a:solidFill>
              </a:rPr>
              <a:t>Recognise when a qualitative design is the right answer and when it is an evasion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traditions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Phenomenology — describes the lived experience of a phenomenon; asks what it is like to live through this; small purposive samples, in-depth interviews</a:t>
            </a:r>
            <a:endParaRPr lang="en-US" sz="1300" dirty="0"/>
          </a:p>
          <a:p>
            <a:pPr marL="342900" indent="-342900">
              <a:lnSpc>
                <a:spcPct val="125000"/>
              </a:lnSpc>
              <a:spcAft>
                <a:spcPts val="800"/>
              </a:spcAft>
              <a:buSzPct val="100000"/>
              <a:buChar char="•"/>
            </a:pPr>
            <a:r>
              <a:rPr lang="en-US" sz="1300" dirty="0">
                <a:solidFill>
                  <a:srgbClr val="374151"/>
                </a:solidFill>
              </a:rPr>
              <a:t>Grounded theory — builds theory from data through constant comparison and theoretical sampling; data collection and analysis proceed together</a:t>
            </a:r>
            <a:endParaRPr lang="en-US" sz="1300" dirty="0"/>
          </a:p>
          <a:p>
            <a:pPr marL="342900" indent="-342900">
              <a:lnSpc>
                <a:spcPct val="125000"/>
              </a:lnSpc>
              <a:spcAft>
                <a:spcPts val="800"/>
              </a:spcAft>
              <a:buSzPct val="100000"/>
              <a:buChar char="•"/>
            </a:pPr>
            <a:r>
              <a:rPr lang="en-US" sz="1300" dirty="0">
                <a:solidFill>
                  <a:srgbClr val="374151"/>
                </a:solidFill>
              </a:rPr>
              <a:t>Ethnography — describes culture and practice through prolonged immersion and participant observation; fieldnotes are primary data</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traditions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Case study — examines a bounded system in depth using multiple data sources; may be single or multiple case, and is strong for "how" and "why" questions</a:t>
            </a:r>
            <a:endParaRPr lang="en-US" sz="1300" dirty="0"/>
          </a:p>
          <a:p>
            <a:pPr marL="342900" indent="-342900">
              <a:lnSpc>
                <a:spcPct val="125000"/>
              </a:lnSpc>
              <a:spcAft>
                <a:spcPts val="800"/>
              </a:spcAft>
              <a:buSzPct val="100000"/>
              <a:buChar char="•"/>
            </a:pPr>
            <a:r>
              <a:rPr lang="en-US" sz="1300" dirty="0">
                <a:solidFill>
                  <a:srgbClr val="374151"/>
                </a:solidFill>
              </a:rPr>
              <a:t>Narrative inquiry — treats the story itself as the unit of analysis, attending to how people construct accounts of their lives</a:t>
            </a:r>
            <a:endParaRPr lang="en-US" sz="1300" dirty="0"/>
          </a:p>
          <a:p>
            <a:pPr marL="342900" indent="-342900">
              <a:lnSpc>
                <a:spcPct val="125000"/>
              </a:lnSpc>
              <a:spcAft>
                <a:spcPts val="800"/>
              </a:spcAft>
              <a:buSzPct val="100000"/>
              <a:buChar char="•"/>
            </a:pPr>
            <a:r>
              <a:rPr lang="en-US" sz="1300" dirty="0">
                <a:solidFill>
                  <a:srgbClr val="374151"/>
                </a:solidFill>
              </a:rPr>
              <a:t>Descriptive qualitative — a legitimate, atheoretical option when the aim is a straightforward account of views and experiences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Choosing a tradition commits you to its sampling, data collection and analysis. Claiming grounded theory and then running six interviews with thematic analysis is a mismatch examiners look for specifically.</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collection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In-depth interviews — best for sensitive topics and individual experience; typically 45-90 minutes</a:t>
            </a:r>
            <a:endParaRPr lang="en-US" sz="1500" dirty="0"/>
          </a:p>
          <a:p>
            <a:pPr marL="342900" indent="-342900">
              <a:lnSpc>
                <a:spcPct val="125000"/>
              </a:lnSpc>
              <a:spcAft>
                <a:spcPts val="800"/>
              </a:spcAft>
              <a:buSzPct val="100000"/>
              <a:buChar char="•"/>
            </a:pPr>
            <a:r>
              <a:rPr lang="en-US" sz="1500" dirty="0">
                <a:solidFill>
                  <a:srgbClr val="374151"/>
                </a:solidFill>
              </a:rPr>
              <a:t>Focus groups — 6-10 participants; strong for surfacing shared norms and disagreement; poor for sensitive or stigmatised topics</a:t>
            </a:r>
            <a:endParaRPr lang="en-US" sz="1500" dirty="0"/>
          </a:p>
          <a:p>
            <a:pPr marL="342900" indent="-342900">
              <a:lnSpc>
                <a:spcPct val="125000"/>
              </a:lnSpc>
              <a:spcAft>
                <a:spcPts val="800"/>
              </a:spcAft>
              <a:buSzPct val="100000"/>
              <a:buChar char="•"/>
            </a:pPr>
            <a:r>
              <a:rPr lang="en-US" sz="1500" dirty="0">
                <a:solidFill>
                  <a:srgbClr val="374151"/>
                </a:solidFill>
              </a:rPr>
              <a:t>Participant and non-participant observation — captures what people do rather than what they say they do</a:t>
            </a:r>
            <a:endParaRPr lang="en-US" sz="1500" dirty="0"/>
          </a:p>
          <a:p>
            <a:pPr marL="342900" indent="-342900">
              <a:lnSpc>
                <a:spcPct val="125000"/>
              </a:lnSpc>
              <a:spcAft>
                <a:spcPts val="800"/>
              </a:spcAft>
              <a:buSzPct val="100000"/>
              <a:buChar char="•"/>
            </a:pPr>
            <a:r>
              <a:rPr lang="en-US" sz="1500" dirty="0">
                <a:solidFill>
                  <a:srgbClr val="374151"/>
                </a:solidFill>
              </a:rPr>
              <a:t>Document analysis — policies, records, media; unobtrusive and useful for institutional questions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collection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Photovoice and participatory methods — shift some control to participants and suit community-based work</a:t>
            </a:r>
            <a:endParaRPr lang="en-US" sz="1700" dirty="0"/>
          </a:p>
          <a:p>
            <a:pPr marL="342900" indent="-342900">
              <a:lnSpc>
                <a:spcPct val="125000"/>
              </a:lnSpc>
              <a:spcAft>
                <a:spcPts val="800"/>
              </a:spcAft>
              <a:buSzPct val="100000"/>
              <a:buChar char="•"/>
            </a:pPr>
            <a:r>
              <a:rPr lang="en-US" sz="1700" dirty="0">
                <a:solidFill>
                  <a:srgbClr val="374151"/>
                </a:solidFill>
              </a:rPr>
              <a:t>Triangulation combines sources or methods so that a finding does not rest on one type of evidence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Interview guides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Structure the guide in funnels: open broadly, then probe specifics, then close</a:t>
            </a:r>
            <a:endParaRPr lang="en-US" sz="1700" dirty="0"/>
          </a:p>
          <a:p>
            <a:pPr marL="342900" indent="-342900">
              <a:lnSpc>
                <a:spcPct val="125000"/>
              </a:lnSpc>
              <a:spcAft>
                <a:spcPts val="800"/>
              </a:spcAft>
              <a:buSzPct val="100000"/>
              <a:buChar char="•"/>
            </a:pPr>
            <a:r>
              <a:rPr lang="en-US" sz="1700" dirty="0">
                <a:solidFill>
                  <a:srgbClr val="374151"/>
                </a:solidFill>
              </a:rPr>
              <a:t>Ask open questions — "tell me about…", "walk me through…", "what was that like?"</a:t>
            </a:r>
            <a:endParaRPr lang="en-US" sz="1700" dirty="0"/>
          </a:p>
          <a:p>
            <a:pPr marL="342900" indent="-342900">
              <a:lnSpc>
                <a:spcPct val="125000"/>
              </a:lnSpc>
              <a:spcAft>
                <a:spcPts val="800"/>
              </a:spcAft>
              <a:buSzPct val="100000"/>
              <a:buChar char="•"/>
            </a:pPr>
            <a:r>
              <a:rPr lang="en-US" sz="1700" dirty="0">
                <a:solidFill>
                  <a:srgbClr val="374151"/>
                </a:solidFill>
              </a:rPr>
              <a:t>Avoid leading questions, double-barrelled questions and jargon</a:t>
            </a:r>
            <a:endParaRPr lang="en-US" sz="1700" dirty="0"/>
          </a:p>
          <a:p>
            <a:pPr marL="342900" indent="-342900">
              <a:lnSpc>
                <a:spcPct val="125000"/>
              </a:lnSpc>
              <a:spcAft>
                <a:spcPts val="800"/>
              </a:spcAft>
              <a:buSzPct val="100000"/>
              <a:buChar char="•"/>
            </a:pPr>
            <a:r>
              <a:rPr lang="en-US" sz="1700" dirty="0">
                <a:solidFill>
                  <a:srgbClr val="374151"/>
                </a:solidFill>
              </a:rPr>
              <a:t>Plan probes in advance: "can you say more?", "what happened next?", "can you give an example?"</a:t>
            </a:r>
            <a:endParaRPr lang="en-US" sz="1700" dirty="0"/>
          </a:p>
          <a:p>
            <a:pPr marL="342900" indent="-342900">
              <a:lnSpc>
                <a:spcPct val="125000"/>
              </a:lnSpc>
              <a:spcAft>
                <a:spcPts val="800"/>
              </a:spcAft>
              <a:buSzPct val="100000"/>
              <a:buChar char="•"/>
            </a:pPr>
            <a:r>
              <a:rPr lang="en-US" sz="1700" dirty="0">
                <a:solidFill>
                  <a:srgbClr val="374151"/>
                </a:solidFill>
              </a:rPr>
              <a:t>Six to ten main questions is usually enough for a 60-minute interview</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Interview guides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Pilot the guide and expect to revise it — this is a strength, not a failure</a:t>
            </a:r>
            <a:endParaRPr lang="en-US" sz="1700" dirty="0"/>
          </a:p>
          <a:p>
            <a:pPr marL="342900" indent="-342900">
              <a:lnSpc>
                <a:spcPct val="125000"/>
              </a:lnSpc>
              <a:spcAft>
                <a:spcPts val="800"/>
              </a:spcAft>
              <a:buSzPct val="100000"/>
              <a:buChar char="•"/>
            </a:pPr>
            <a:r>
              <a:rPr lang="en-US" sz="1700" dirty="0">
                <a:solidFill>
                  <a:srgbClr val="374151"/>
                </a:solidFill>
              </a:rPr>
              <a:t>In focus groups, plan how you will manage a dominant speaker and draw out quiet participants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Sampling and sample size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Sampling is purposive: participants are chosen because they can illuminate the question, not to represent a population statistically</a:t>
            </a:r>
            <a:endParaRPr lang="en-US" sz="1500" dirty="0"/>
          </a:p>
          <a:p>
            <a:pPr marL="342900" indent="-342900">
              <a:lnSpc>
                <a:spcPct val="125000"/>
              </a:lnSpc>
              <a:spcAft>
                <a:spcPts val="800"/>
              </a:spcAft>
              <a:buSzPct val="100000"/>
              <a:buChar char="•"/>
            </a:pPr>
            <a:r>
              <a:rPr lang="en-US" sz="1500" dirty="0">
                <a:solidFill>
                  <a:srgbClr val="374151"/>
                </a:solidFill>
              </a:rPr>
              <a:t>Maximum variation sampling seeks diversity; homogeneous sampling seeks depth within a defined group</a:t>
            </a:r>
            <a:endParaRPr lang="en-US" sz="1500" dirty="0"/>
          </a:p>
          <a:p>
            <a:pPr marL="342900" indent="-342900">
              <a:lnSpc>
                <a:spcPct val="125000"/>
              </a:lnSpc>
              <a:spcAft>
                <a:spcPts val="800"/>
              </a:spcAft>
              <a:buSzPct val="100000"/>
              <a:buChar char="•"/>
            </a:pPr>
            <a:r>
              <a:rPr lang="en-US" sz="1500" dirty="0">
                <a:solidFill>
                  <a:srgbClr val="374151"/>
                </a:solidFill>
              </a:rPr>
              <a:t>Theoretical sampling, specific to grounded theory, selects the next participant based on what the emerging analysis requires</a:t>
            </a:r>
            <a:endParaRPr lang="en-US" sz="1500" dirty="0"/>
          </a:p>
          <a:p>
            <a:pPr marL="342900" indent="-342900">
              <a:lnSpc>
                <a:spcPct val="125000"/>
              </a:lnSpc>
              <a:spcAft>
                <a:spcPts val="800"/>
              </a:spcAft>
              <a:buSzPct val="100000"/>
              <a:buChar char="•"/>
            </a:pPr>
            <a:r>
              <a:rPr lang="en-US" sz="1500" dirty="0">
                <a:solidFill>
                  <a:srgbClr val="374151"/>
                </a:solidFill>
              </a:rPr>
              <a:t>Snowball sampling reaches hidden populations but tends to stay within one network</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Sampling and sample size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Saturation is the point where new data generate no new codes or themes</a:t>
            </a:r>
            <a:endParaRPr lang="en-US" sz="1300" dirty="0"/>
          </a:p>
          <a:p>
            <a:pPr marL="342900" indent="-342900">
              <a:lnSpc>
                <a:spcPct val="125000"/>
              </a:lnSpc>
              <a:spcAft>
                <a:spcPts val="800"/>
              </a:spcAft>
              <a:buSzPct val="100000"/>
              <a:buChar char="•"/>
            </a:pPr>
            <a:r>
              <a:rPr lang="en-US" sz="1300" dirty="0">
                <a:solidFill>
                  <a:srgbClr val="374151"/>
                </a:solidFill>
              </a:rPr>
              <a:t>Information power is the more defensible modern concept: narrow aim, dense sample specificity, strong theory and strong dialogue all reduce the number needed</a:t>
            </a:r>
            <a:endParaRPr lang="en-US" sz="1300" dirty="0"/>
          </a:p>
          <a:p>
            <a:pPr marL="342900" indent="-342900">
              <a:lnSpc>
                <a:spcPct val="125000"/>
              </a:lnSpc>
              <a:spcAft>
                <a:spcPts val="800"/>
              </a:spcAft>
              <a:buSzPct val="100000"/>
              <a:buChar char="•"/>
            </a:pPr>
            <a:r>
              <a:rPr lang="en-US" sz="1300" dirty="0">
                <a:solidFill>
                  <a:srgbClr val="374151"/>
                </a:solidFill>
              </a:rPr>
              <a:t>Typical ranges: 6-12 for a homogeneous phenomenological study, 20-30 for grounded theory, but justify rather than cite a number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Declaring saturation after a fixed number of interviews planned in advance is not saturation. Saturation is something you observe during analysis and must be able to evidence.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reflexivity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Credibility — do the findings represent the participants' reality? Supported by member checking, triangulation and prolonged engagement</a:t>
            </a:r>
            <a:endParaRPr lang="en-US" sz="1500" dirty="0"/>
          </a:p>
          <a:p>
            <a:pPr marL="342900" indent="-342900">
              <a:lnSpc>
                <a:spcPct val="125000"/>
              </a:lnSpc>
              <a:spcAft>
                <a:spcPts val="800"/>
              </a:spcAft>
              <a:buSzPct val="100000"/>
              <a:buChar char="•"/>
            </a:pPr>
            <a:r>
              <a:rPr lang="en-US" sz="1500" dirty="0">
                <a:solidFill>
                  <a:srgbClr val="374151"/>
                </a:solidFill>
              </a:rPr>
              <a:t>Transferability — could findings apply elsewhere? Supported by thick description of context so readers can judge</a:t>
            </a:r>
            <a:endParaRPr lang="en-US" sz="1500" dirty="0"/>
          </a:p>
          <a:p>
            <a:pPr marL="342900" indent="-342900">
              <a:lnSpc>
                <a:spcPct val="125000"/>
              </a:lnSpc>
              <a:spcAft>
                <a:spcPts val="800"/>
              </a:spcAft>
              <a:buSzPct val="100000"/>
              <a:buChar char="•"/>
            </a:pPr>
            <a:r>
              <a:rPr lang="en-US" sz="1500" dirty="0">
                <a:solidFill>
                  <a:srgbClr val="374151"/>
                </a:solidFill>
              </a:rPr>
              <a:t>Dependability — would the process be consistent if repeated? Supported by an audit trail</a:t>
            </a:r>
            <a:endParaRPr lang="en-US" sz="1500" dirty="0"/>
          </a:p>
          <a:p>
            <a:pPr marL="342900" indent="-342900">
              <a:lnSpc>
                <a:spcPct val="125000"/>
              </a:lnSpc>
              <a:spcAft>
                <a:spcPts val="800"/>
              </a:spcAft>
              <a:buSzPct val="100000"/>
              <a:buChar char="•"/>
            </a:pPr>
            <a:r>
              <a:rPr lang="en-US" sz="1500" dirty="0">
                <a:solidFill>
                  <a:srgbClr val="374151"/>
                </a:solidFill>
              </a:rPr>
              <a:t>Confirmability — do findings follow from the data rather than the researcher's preferences? Supported by memos and reflexive notes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reflexivity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Reflexivity means recording your own position — profession, assumptions, relationship to participants — and how it shaped the work</a:t>
            </a:r>
            <a:endParaRPr lang="en-US" sz="1500" dirty="0"/>
          </a:p>
          <a:p>
            <a:pPr marL="342900" indent="-342900">
              <a:lnSpc>
                <a:spcPct val="125000"/>
              </a:lnSpc>
              <a:spcAft>
                <a:spcPts val="800"/>
              </a:spcAft>
              <a:buSzPct val="100000"/>
              <a:buChar char="•"/>
            </a:pPr>
            <a:r>
              <a:rPr lang="en-US" sz="1500" dirty="0">
                <a:solidFill>
                  <a:srgbClr val="374151"/>
                </a:solidFill>
              </a:rPr>
              <a:t>Generalisability in the statistical sense is not the aim, and apologising for its absence misunderstands the design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The same topic in four qualitative traditions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The topic is the experience of women living with obstetric fistula. Four traditions would produce four genuinely different studies.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Phenomenology: what is it like to live with fistula? 8-12 in-depth interviews, focused on lived experience.</a:t>
            </a:r>
            <a:endParaRPr lang="en-US" sz="1300" dirty="0"/>
          </a:p>
          <a:p>
            <a:pPr marL="342900" indent="-342900">
              <a:lnSpc>
                <a:spcPct val="115000"/>
              </a:lnSpc>
              <a:buSzPct val="100000"/>
              <a:buFont typeface="+mj-lt"/>
              <a:buAutoNum type="arabicPeriod" startAt="1"/>
            </a:pPr>
            <a:r>
              <a:rPr lang="en-US" sz="1300" dirty="0">
                <a:solidFill>
                  <a:srgbClr val="374151"/>
                </a:solidFill>
              </a:rPr>
              <a:t>Grounded theory: how do women come to seek or avoid repair? Theoretical sampling, constant comparison, ending in a theory of care-seeking.</a:t>
            </a:r>
            <a:endParaRPr lang="en-US" sz="1300" dirty="0"/>
          </a:p>
          <a:p>
            <a:pPr marL="342900" indent="-342900">
              <a:lnSpc>
                <a:spcPct val="115000"/>
              </a:lnSpc>
              <a:buSzPct val="100000"/>
              <a:buFont typeface="+mj-lt"/>
              <a:buAutoNum type="arabicPeriod" startAt="1"/>
            </a:pPr>
            <a:r>
              <a:rPr lang="en-US" sz="1300" dirty="0">
                <a:solidFill>
                  <a:srgbClr val="374151"/>
                </a:solidFill>
              </a:rPr>
              <a:t>Ethnography: how does the community treat these women? Months of observation in a village, fieldnotes as primary data.</a:t>
            </a:r>
            <a:endParaRPr lang="en-US" sz="1300" dirty="0"/>
          </a:p>
          <a:p>
            <a:pPr marL="342900" indent="-342900">
              <a:lnSpc>
                <a:spcPct val="115000"/>
              </a:lnSpc>
              <a:buSzPct val="100000"/>
              <a:buFont typeface="+mj-lt"/>
              <a:buAutoNum type="arabicPeriod" startAt="1"/>
            </a:pPr>
            <a:r>
              <a:rPr lang="en-US" sz="1300" dirty="0">
                <a:solidFill>
                  <a:srgbClr val="374151"/>
                </a:solidFill>
              </a:rPr>
              <a:t>Case study: how did one repair programme work? Interviews, records, observation and policy documents on a single bounded programme.</a:t>
            </a:r>
            <a:endParaRPr lang="en-US" sz="1300" dirty="0"/>
          </a:p>
          <a:p>
            <a:pPr marL="342900" indent="-342900">
              <a:lnSpc>
                <a:spcPct val="115000"/>
              </a:lnSpc>
              <a:buSzPct val="100000"/>
              <a:buFont typeface="+mj-lt"/>
              <a:buAutoNum type="arabicPeriod" startAt="1"/>
            </a:pPr>
            <a:r>
              <a:rPr lang="en-US" sz="1300" dirty="0">
                <a:solidFill>
                  <a:srgbClr val="374151"/>
                </a:solidFill>
              </a:rPr>
              <a:t>Each demands its own sampling, data collection and analysis. You cannot claim one and execute another.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Rewriting an interview guide that will not work</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student's first interview guide opens with: "Don't you agree that the long waiting times and rude staff are the main problems at this clinic?"</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It is leading — it supplies the answer the interviewer expects.</a:t>
            </a:r>
            <a:endParaRPr lang="en-US" sz="1300" dirty="0"/>
          </a:p>
          <a:p>
            <a:pPr marL="342900" indent="-342900">
              <a:lnSpc>
                <a:spcPct val="115000"/>
              </a:lnSpc>
              <a:buSzPct val="100000"/>
              <a:buFont typeface="+mj-lt"/>
              <a:buAutoNum type="arabicPeriod" startAt="1"/>
            </a:pPr>
            <a:r>
              <a:rPr lang="en-US" sz="1300" dirty="0">
                <a:solidFill>
                  <a:srgbClr val="374151"/>
                </a:solidFill>
              </a:rPr>
              <a:t>It is double-barrelled — waiting times and staff attitude are two different things.</a:t>
            </a:r>
            <a:endParaRPr lang="en-US" sz="1300" dirty="0"/>
          </a:p>
          <a:p>
            <a:pPr marL="342900" indent="-342900">
              <a:lnSpc>
                <a:spcPct val="115000"/>
              </a:lnSpc>
              <a:buSzPct val="100000"/>
              <a:buFont typeface="+mj-lt"/>
              <a:buAutoNum type="arabicPeriod" startAt="1"/>
            </a:pPr>
            <a:r>
              <a:rPr lang="en-US" sz="1300" dirty="0">
                <a:solidFill>
                  <a:srgbClr val="374151"/>
                </a:solidFill>
              </a:rPr>
              <a:t>It is closed — it can be answered "yes", ending the topic.</a:t>
            </a:r>
            <a:endParaRPr lang="en-US" sz="1300" dirty="0"/>
          </a:p>
          <a:p>
            <a:pPr marL="342900" indent="-342900">
              <a:lnSpc>
                <a:spcPct val="115000"/>
              </a:lnSpc>
              <a:buSzPct val="100000"/>
              <a:buFont typeface="+mj-lt"/>
              <a:buAutoNum type="arabicPeriod" startAt="1"/>
            </a:pPr>
            <a:r>
              <a:rPr lang="en-US" sz="1300" dirty="0">
                <a:solidFill>
                  <a:srgbClr val="374151"/>
                </a:solidFill>
              </a:rPr>
              <a:t>It opens on a complaint, before any rapport exists, which shapes everything that follows.</a:t>
            </a:r>
            <a:endParaRPr lang="en-US" sz="1300" dirty="0"/>
          </a:p>
          <a:p>
            <a:pPr marL="342900" indent="-342900">
              <a:lnSpc>
                <a:spcPct val="115000"/>
              </a:lnSpc>
              <a:buSzPct val="100000"/>
              <a:buFont typeface="+mj-lt"/>
              <a:buAutoNum type="arabicPeriod" startAt="1"/>
            </a:pPr>
            <a:r>
              <a:rPr lang="en-US" sz="1300" dirty="0">
                <a:solidFill>
                  <a:srgbClr val="374151"/>
                </a:solidFill>
              </a:rPr>
              <a:t>Rewrite: "Tell me about the last time you came to this clinic. Walk me through the day." Then probe: "What was the waiting like?", "How did you find the staff?"</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Purposive sampling — Selecting participants deliberately for their capacity to inform the research question.</a:t>
            </a:r>
            <a:endParaRPr lang="en-US" sz="1500" dirty="0"/>
          </a:p>
          <a:p>
            <a:pPr marL="342900" indent="-342900">
              <a:lnSpc>
                <a:spcPct val="125000"/>
              </a:lnSpc>
              <a:spcAft>
                <a:spcPts val="800"/>
              </a:spcAft>
              <a:buSzPct val="100000"/>
              <a:buChar char="•"/>
            </a:pPr>
            <a:r>
              <a:rPr lang="en-US" sz="1500" dirty="0">
                <a:solidFill>
                  <a:srgbClr val="374151"/>
                </a:solidFill>
              </a:rPr>
              <a:t>Saturation — The point at which further data collection yields no new codes, categories or themes.</a:t>
            </a:r>
            <a:endParaRPr lang="en-US" sz="1500" dirty="0"/>
          </a:p>
          <a:p>
            <a:pPr marL="342900" indent="-342900">
              <a:lnSpc>
                <a:spcPct val="125000"/>
              </a:lnSpc>
              <a:spcAft>
                <a:spcPts val="800"/>
              </a:spcAft>
              <a:buSzPct val="100000"/>
              <a:buChar char="•"/>
            </a:pPr>
            <a:r>
              <a:rPr lang="en-US" sz="1500" dirty="0">
                <a:solidFill>
                  <a:srgbClr val="374151"/>
                </a:solidFill>
              </a:rPr>
              <a:t>Information power — The principle that the richer and more specific the sample and aim, the fewer participants are needed.</a:t>
            </a:r>
            <a:endParaRPr lang="en-US" sz="1500" dirty="0"/>
          </a:p>
          <a:p>
            <a:pPr marL="342900" indent="-342900">
              <a:lnSpc>
                <a:spcPct val="125000"/>
              </a:lnSpc>
              <a:spcAft>
                <a:spcPts val="800"/>
              </a:spcAft>
              <a:buSzPct val="100000"/>
              <a:buChar char="•"/>
            </a:pPr>
            <a:r>
              <a:rPr lang="en-US" sz="1500" dirty="0">
                <a:solidFill>
                  <a:srgbClr val="374151"/>
                </a:solidFill>
              </a:rPr>
              <a:t>Reflexivity — Systematic attention to how the researcher shapes and is shaped by the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Thick description — Detailed account of context and meaning sufficient for a reader to judge transferability.</a:t>
            </a:r>
            <a:endParaRPr lang="en-US" sz="1500" dirty="0"/>
          </a:p>
          <a:p>
            <a:pPr marL="342900" indent="-342900">
              <a:lnSpc>
                <a:spcPct val="125000"/>
              </a:lnSpc>
              <a:spcAft>
                <a:spcPts val="800"/>
              </a:spcAft>
              <a:buSzPct val="100000"/>
              <a:buChar char="•"/>
            </a:pPr>
            <a:r>
              <a:rPr lang="en-US" sz="1500" dirty="0">
                <a:solidFill>
                  <a:srgbClr val="374151"/>
                </a:solidFill>
              </a:rPr>
              <a:t>Triangulation — Using multiple sources, methods or investigators to strengthen confidence in a finding.</a:t>
            </a:r>
            <a:endParaRPr lang="en-US" sz="1500" dirty="0"/>
          </a:p>
          <a:p>
            <a:pPr marL="342900" indent="-342900">
              <a:lnSpc>
                <a:spcPct val="125000"/>
              </a:lnSpc>
              <a:spcAft>
                <a:spcPts val="800"/>
              </a:spcAft>
              <a:buSzPct val="100000"/>
              <a:buChar char="•"/>
            </a:pPr>
            <a:r>
              <a:rPr lang="en-US" sz="1500" dirty="0">
                <a:solidFill>
                  <a:srgbClr val="374151"/>
                </a:solidFill>
              </a:rPr>
              <a:t>Audit trail — A documented record of decisions taken through the research, allowing the process to be followed.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Draft a six-question interview guide for your own topic. Swap with a partner, who must flag every leading, closed or double-barrelled question and rewrite one of them. Then role-play the first two questions and note where the guide fails in practice.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7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Mixed Methods and Sampling</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How quantitative and qualitative strands are combined deliberately rather than decoratively, and the full range of sampling strategies with the arithmetic of sample size.</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Describe convergent, explanatory sequential and exploratory sequential designs</a:t>
            </a:r>
            <a:endParaRPr lang="en-US" sz="1700" dirty="0"/>
          </a:p>
          <a:p>
            <a:pPr marL="342900" indent="-342900">
              <a:lnSpc>
                <a:spcPct val="125000"/>
              </a:lnSpc>
              <a:spcAft>
                <a:spcPts val="800"/>
              </a:spcAft>
              <a:buSzPct val="100000"/>
              <a:buChar char="•"/>
            </a:pPr>
            <a:r>
              <a:rPr lang="en-US" sz="1700" dirty="0">
                <a:solidFill>
                  <a:srgbClr val="374151"/>
                </a:solidFill>
              </a:rPr>
              <a:t>Explain what integration means and why it is the defining feature of mixed methods</a:t>
            </a:r>
            <a:endParaRPr lang="en-US" sz="1700" dirty="0"/>
          </a:p>
          <a:p>
            <a:pPr marL="342900" indent="-342900">
              <a:lnSpc>
                <a:spcPct val="125000"/>
              </a:lnSpc>
              <a:spcAft>
                <a:spcPts val="800"/>
              </a:spcAft>
              <a:buSzPct val="100000"/>
              <a:buChar char="•"/>
            </a:pPr>
            <a:r>
              <a:rPr lang="en-US" sz="1700" dirty="0">
                <a:solidFill>
                  <a:srgbClr val="374151"/>
                </a:solidFill>
              </a:rPr>
              <a:t>Distinguish probability from non-probability sampling and state when each is appropriate</a:t>
            </a:r>
            <a:endParaRPr lang="en-US" sz="1700" dirty="0"/>
          </a:p>
          <a:p>
            <a:pPr marL="342900" indent="-342900">
              <a:lnSpc>
                <a:spcPct val="125000"/>
              </a:lnSpc>
              <a:spcAft>
                <a:spcPts val="800"/>
              </a:spcAft>
              <a:buSzPct val="100000"/>
              <a:buChar char="•"/>
            </a:pPr>
            <a:r>
              <a:rPr lang="en-US" sz="1700" dirty="0">
                <a:solidFill>
                  <a:srgbClr val="374151"/>
                </a:solidFill>
              </a:rPr>
              <a:t>Calculate a sample size for a prevalence study and for comparing two proportions</a:t>
            </a:r>
            <a:endParaRPr lang="en-US" sz="1700" dirty="0"/>
          </a:p>
          <a:p>
            <a:pPr marL="342900" indent="-342900">
              <a:lnSpc>
                <a:spcPct val="125000"/>
              </a:lnSpc>
              <a:spcAft>
                <a:spcPts val="800"/>
              </a:spcAft>
              <a:buSzPct val="100000"/>
              <a:buChar char="•"/>
            </a:pPr>
            <a:r>
              <a:rPr lang="en-US" sz="1700" dirty="0">
                <a:solidFill>
                  <a:srgbClr val="374151"/>
                </a:solidFill>
              </a:rPr>
              <a:t>Explain power, effect size and the consequences of an underpowered study</a:t>
            </a:r>
            <a:endParaRPr lang="en-US" sz="1700" dirty="0"/>
          </a:p>
          <a:p>
            <a:pPr marL="342900" indent="-342900">
              <a:lnSpc>
                <a:spcPct val="125000"/>
              </a:lnSpc>
              <a:spcAft>
                <a:spcPts val="800"/>
              </a:spcAft>
              <a:buSzPct val="100000"/>
              <a:buChar char="•"/>
            </a:pPr>
            <a:r>
              <a:rPr lang="en-US" sz="1700" dirty="0">
                <a:solidFill>
                  <a:srgbClr val="374151"/>
                </a:solidFill>
              </a:rPr>
              <a:t>Adjust a sample size for non-response and design effect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Mixed methods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Convergent parallel — both strands run at the same time and are compared at interpretation; used when each answers a different facet of one question</a:t>
            </a:r>
            <a:endParaRPr lang="en-US" sz="1500" dirty="0"/>
          </a:p>
          <a:p>
            <a:pPr marL="342900" indent="-342900">
              <a:lnSpc>
                <a:spcPct val="125000"/>
              </a:lnSpc>
              <a:spcAft>
                <a:spcPts val="800"/>
              </a:spcAft>
              <a:buSzPct val="100000"/>
              <a:buChar char="•"/>
            </a:pPr>
            <a:r>
              <a:rPr lang="en-US" sz="1500" dirty="0">
                <a:solidFill>
                  <a:srgbClr val="374151"/>
                </a:solidFill>
              </a:rPr>
              <a:t>Explanatory sequential — quantitative first, then qualitative to explain surprising or unexplained results</a:t>
            </a:r>
            <a:endParaRPr lang="en-US" sz="1500" dirty="0"/>
          </a:p>
          <a:p>
            <a:pPr marL="342900" indent="-342900">
              <a:lnSpc>
                <a:spcPct val="125000"/>
              </a:lnSpc>
              <a:spcAft>
                <a:spcPts val="800"/>
              </a:spcAft>
              <a:buSzPct val="100000"/>
              <a:buChar char="•"/>
            </a:pPr>
            <a:r>
              <a:rPr lang="en-US" sz="1500" dirty="0">
                <a:solidFill>
                  <a:srgbClr val="374151"/>
                </a:solidFill>
              </a:rPr>
              <a:t>Exploratory sequential — qualitative first to develop an instrument or identify constructs, then quantitative to test at scale</a:t>
            </a:r>
            <a:endParaRPr lang="en-US" sz="1500" dirty="0"/>
          </a:p>
          <a:p>
            <a:pPr marL="342900" indent="-342900">
              <a:lnSpc>
                <a:spcPct val="125000"/>
              </a:lnSpc>
              <a:spcAft>
                <a:spcPts val="800"/>
              </a:spcAft>
              <a:buSzPct val="100000"/>
              <a:buChar char="•"/>
            </a:pPr>
            <a:r>
              <a:rPr lang="en-US" sz="1500" dirty="0">
                <a:solidFill>
                  <a:srgbClr val="374151"/>
                </a:solidFill>
              </a:rPr>
              <a:t>Embedded — one strand sits inside a larger design, such as a process evaluation within a trial</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Mixed methods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Integration is the defining feature: strands must be brought together, not merely reported in adjacent chapters</a:t>
            </a:r>
            <a:endParaRPr lang="en-US" sz="1500" dirty="0"/>
          </a:p>
          <a:p>
            <a:pPr marL="342900" indent="-342900">
              <a:lnSpc>
                <a:spcPct val="125000"/>
              </a:lnSpc>
              <a:spcAft>
                <a:spcPts val="800"/>
              </a:spcAft>
              <a:buSzPct val="100000"/>
              <a:buChar char="•"/>
            </a:pPr>
            <a:r>
              <a:rPr lang="en-US" sz="1500" dirty="0">
                <a:solidFill>
                  <a:srgbClr val="374151"/>
                </a:solidFill>
              </a:rPr>
              <a:t>Integration techniques include joint displays, following a thread, and merging in a triangulation matrix</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7</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A study that runs a survey and some interviews and reports them separately is not mixed methods; it is two studies in one document. The examiner's question is always: what did you learn from combining them that neither strand gave you alone?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Probability sampling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Simple random — every unit has an equal chance; requires a complete sampling frame</a:t>
            </a:r>
            <a:endParaRPr lang="en-US" sz="1500" dirty="0"/>
          </a:p>
          <a:p>
            <a:pPr marL="342900" indent="-342900">
              <a:lnSpc>
                <a:spcPct val="125000"/>
              </a:lnSpc>
              <a:spcAft>
                <a:spcPts val="800"/>
              </a:spcAft>
              <a:buSzPct val="100000"/>
              <a:buChar char="•"/>
            </a:pPr>
            <a:r>
              <a:rPr lang="en-US" sz="1500" dirty="0">
                <a:solidFill>
                  <a:srgbClr val="374151"/>
                </a:solidFill>
              </a:rPr>
              <a:t>Systematic — every kth unit from a random start; simple in the field but fails if the list has a periodic pattern</a:t>
            </a:r>
            <a:endParaRPr lang="en-US" sz="1500" dirty="0"/>
          </a:p>
          <a:p>
            <a:pPr marL="342900" indent="-342900">
              <a:lnSpc>
                <a:spcPct val="125000"/>
              </a:lnSpc>
              <a:spcAft>
                <a:spcPts val="800"/>
              </a:spcAft>
              <a:buSzPct val="100000"/>
              <a:buChar char="•"/>
            </a:pPr>
            <a:r>
              <a:rPr lang="en-US" sz="1500" dirty="0">
                <a:solidFill>
                  <a:srgbClr val="374151"/>
                </a:solidFill>
              </a:rPr>
              <a:t>Stratified — the population is divided into strata and sampled within each; improves precision and guarantees representation of small subgroups</a:t>
            </a:r>
            <a:endParaRPr lang="en-US" sz="1500" dirty="0"/>
          </a:p>
          <a:p>
            <a:pPr marL="342900" indent="-342900">
              <a:lnSpc>
                <a:spcPct val="125000"/>
              </a:lnSpc>
              <a:spcAft>
                <a:spcPts val="800"/>
              </a:spcAft>
              <a:buSzPct val="100000"/>
              <a:buChar char="•"/>
            </a:pPr>
            <a:r>
              <a:rPr lang="en-US" sz="1500" dirty="0">
                <a:solidFill>
                  <a:srgbClr val="374151"/>
                </a:solidFill>
              </a:rPr>
              <a:t>Cluster — whole groups are sampled; cheaper when the population is geographically dispersed, but less precise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Probability sampling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Multistage — combines the above, and is what national surveys such as the DHS actually use</a:t>
            </a:r>
            <a:endParaRPr lang="en-US" sz="1700" dirty="0"/>
          </a:p>
          <a:p>
            <a:pPr marL="342900" indent="-342900">
              <a:lnSpc>
                <a:spcPct val="125000"/>
              </a:lnSpc>
              <a:spcAft>
                <a:spcPts val="800"/>
              </a:spcAft>
              <a:buSzPct val="100000"/>
              <a:buChar char="•"/>
            </a:pPr>
            <a:r>
              <a:rPr lang="en-US" sz="1700" dirty="0">
                <a:solidFill>
                  <a:srgbClr val="374151"/>
                </a:solidFill>
              </a:rPr>
              <a:t>Only probability sampling supports statistical generalisation to the population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Non-probability sampling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Convenience — whoever is available; cheapest and weakest, with unknown bias</a:t>
            </a:r>
            <a:endParaRPr lang="en-US" sz="1500" dirty="0"/>
          </a:p>
          <a:p>
            <a:pPr marL="342900" indent="-342900">
              <a:lnSpc>
                <a:spcPct val="125000"/>
              </a:lnSpc>
              <a:spcAft>
                <a:spcPts val="800"/>
              </a:spcAft>
              <a:buSzPct val="100000"/>
              <a:buChar char="•"/>
            </a:pPr>
            <a:r>
              <a:rPr lang="en-US" sz="1500" dirty="0">
                <a:solidFill>
                  <a:srgbClr val="374151"/>
                </a:solidFill>
              </a:rPr>
              <a:t>Purposive — chosen for a defined characteristic; the standard for qualitative work</a:t>
            </a:r>
            <a:endParaRPr lang="en-US" sz="1500" dirty="0"/>
          </a:p>
          <a:p>
            <a:pPr marL="342900" indent="-342900">
              <a:lnSpc>
                <a:spcPct val="125000"/>
              </a:lnSpc>
              <a:spcAft>
                <a:spcPts val="800"/>
              </a:spcAft>
              <a:buSzPct val="100000"/>
              <a:buChar char="•"/>
            </a:pPr>
            <a:r>
              <a:rPr lang="en-US" sz="1500" dirty="0">
                <a:solidFill>
                  <a:srgbClr val="374151"/>
                </a:solidFill>
              </a:rPr>
              <a:t>Quota — fills preset category targets non-randomly; resembles stratification without randomisation</a:t>
            </a:r>
            <a:endParaRPr lang="en-US" sz="1500" dirty="0"/>
          </a:p>
          <a:p>
            <a:pPr marL="342900" indent="-342900">
              <a:lnSpc>
                <a:spcPct val="125000"/>
              </a:lnSpc>
              <a:spcAft>
                <a:spcPts val="800"/>
              </a:spcAft>
              <a:buSzPct val="100000"/>
              <a:buChar char="•"/>
            </a:pPr>
            <a:r>
              <a:rPr lang="en-US" sz="1500" dirty="0">
                <a:solidFill>
                  <a:srgbClr val="374151"/>
                </a:solidFill>
              </a:rPr>
              <a:t>Snowball — participants recruit others; necessary for hidden populations, but stays within networks</a:t>
            </a:r>
            <a:endParaRPr lang="en-US" sz="1500" dirty="0"/>
          </a:p>
          <a:p>
            <a:pPr marL="342900" indent="-342900">
              <a:lnSpc>
                <a:spcPct val="125000"/>
              </a:lnSpc>
              <a:spcAft>
                <a:spcPts val="800"/>
              </a:spcAft>
              <a:buSzPct val="100000"/>
              <a:buChar char="•"/>
            </a:pPr>
            <a:r>
              <a:rPr lang="en-US" sz="1500" dirty="0">
                <a:solidFill>
                  <a:srgbClr val="374151"/>
                </a:solidFill>
              </a:rPr>
              <a:t>Consecutive — every eligible patient over a defined period; the strongest non-probability option in clinical settings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Non-probability sampling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These cannot support statistical generalisation, and analyses reporting confidence intervals from them should be read cautiously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Sample size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For a single proportion: n = Z²p(1-p)/d², where Z is 1.96 for 95% confidence, p the expected proportion, d the desired margin of error</a:t>
            </a:r>
            <a:endParaRPr lang="en-US" sz="1500" dirty="0"/>
          </a:p>
          <a:p>
            <a:pPr marL="342900" indent="-342900">
              <a:lnSpc>
                <a:spcPct val="125000"/>
              </a:lnSpc>
              <a:spcAft>
                <a:spcPts val="800"/>
              </a:spcAft>
              <a:buSzPct val="100000"/>
              <a:buChar char="•"/>
            </a:pPr>
            <a:r>
              <a:rPr lang="en-US" sz="1500" dirty="0">
                <a:solidFill>
                  <a:srgbClr val="374151"/>
                </a:solidFill>
              </a:rPr>
              <a:t>Worked example: p = 0.30, d = 0.05 gives n = (1.96² x 0.30 x 0.70)/0.05² = 323</a:t>
            </a:r>
            <a:endParaRPr lang="en-US" sz="1500" dirty="0"/>
          </a:p>
          <a:p>
            <a:pPr marL="342900" indent="-342900">
              <a:lnSpc>
                <a:spcPct val="125000"/>
              </a:lnSpc>
              <a:spcAft>
                <a:spcPts val="800"/>
              </a:spcAft>
              <a:buSzPct val="100000"/>
              <a:buChar char="•"/>
            </a:pPr>
            <a:r>
              <a:rPr lang="en-US" sz="1500" dirty="0">
                <a:solidFill>
                  <a:srgbClr val="374151"/>
                </a:solidFill>
              </a:rPr>
              <a:t>Using p = 0.50 when the proportion is unknown gives the largest, safest sample</a:t>
            </a:r>
            <a:endParaRPr lang="en-US" sz="1500" dirty="0"/>
          </a:p>
          <a:p>
            <a:pPr marL="342900" indent="-342900">
              <a:lnSpc>
                <a:spcPct val="125000"/>
              </a:lnSpc>
              <a:spcAft>
                <a:spcPts val="800"/>
              </a:spcAft>
              <a:buSzPct val="100000"/>
              <a:buChar char="•"/>
            </a:pPr>
            <a:r>
              <a:rPr lang="en-US" sz="1500" dirty="0">
                <a:solidFill>
                  <a:srgbClr val="374151"/>
                </a:solidFill>
              </a:rPr>
              <a:t>For comparing two proportions or means, size depends on the effect you wish to detect, the significance level and the power</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Sample size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Power is the probability of detecting a real effect; 80% is conventional and 90% is preferable</a:t>
            </a:r>
            <a:endParaRPr lang="en-US" sz="1300" dirty="0"/>
          </a:p>
          <a:p>
            <a:pPr marL="342900" indent="-342900">
              <a:lnSpc>
                <a:spcPct val="125000"/>
              </a:lnSpc>
              <a:spcAft>
                <a:spcPts val="800"/>
              </a:spcAft>
              <a:buSzPct val="100000"/>
              <a:buChar char="•"/>
            </a:pPr>
            <a:r>
              <a:rPr lang="en-US" sz="1300" dirty="0">
                <a:solidFill>
                  <a:srgbClr val="374151"/>
                </a:solidFill>
              </a:rPr>
              <a:t>An underpowered study is not merely inconclusive — it is arguably unethical, since participants were exposed to burden for a result that could not have been informative</a:t>
            </a:r>
            <a:endParaRPr lang="en-US" sz="1300" dirty="0"/>
          </a:p>
          <a:p>
            <a:pPr marL="342900" indent="-342900">
              <a:lnSpc>
                <a:spcPct val="125000"/>
              </a:lnSpc>
              <a:spcAft>
                <a:spcPts val="800"/>
              </a:spcAft>
              <a:buSzPct val="100000"/>
              <a:buChar char="•"/>
            </a:pPr>
            <a:r>
              <a:rPr lang="en-US" sz="1300" dirty="0">
                <a:solidFill>
                  <a:srgbClr val="374151"/>
                </a:solidFill>
              </a:rPr>
              <a:t>Apply a finite population correction when the sample is a large fraction of a small population</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Adjusting the calculated sample</a:t>
            </a:r>
            <a:endParaRPr lang="en-US" sz="22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Adjustment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When it applies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Formula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Non-response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Always, in surveys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n_final = n / (1 - expected non-response)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Design effect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Cluster sampling</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n_final = n x DEFF (often 1.5-2.0)</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Finite population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Sample exceeds ~5% of population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n_adj = n / (1 + (n-1)/N)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Attrition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Longitudinal designs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Inflate by expected loss to follow-up</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Putting it together</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State the sampling frame explicitly, and say what it excludes</a:t>
            </a:r>
            <a:endParaRPr lang="en-US" sz="1500" dirty="0"/>
          </a:p>
          <a:p>
            <a:pPr marL="342900" indent="-342900">
              <a:lnSpc>
                <a:spcPct val="125000"/>
              </a:lnSpc>
              <a:spcAft>
                <a:spcPts val="800"/>
              </a:spcAft>
              <a:buSzPct val="100000"/>
              <a:buChar char="•"/>
            </a:pPr>
            <a:r>
              <a:rPr lang="en-US" sz="1500" dirty="0">
                <a:solidFill>
                  <a:srgbClr val="374151"/>
                </a:solidFill>
              </a:rPr>
              <a:t>Report the calculation with every input value, not just the final number</a:t>
            </a:r>
            <a:endParaRPr lang="en-US" sz="1500" dirty="0"/>
          </a:p>
          <a:p>
            <a:pPr marL="342900" indent="-342900">
              <a:lnSpc>
                <a:spcPct val="125000"/>
              </a:lnSpc>
              <a:spcAft>
                <a:spcPts val="800"/>
              </a:spcAft>
              <a:buSzPct val="100000"/>
              <a:buChar char="•"/>
            </a:pPr>
            <a:r>
              <a:rPr lang="en-US" sz="1500" dirty="0">
                <a:solidFill>
                  <a:srgbClr val="374151"/>
                </a:solidFill>
              </a:rPr>
              <a:t>Say who was excluded and why, and how non-response was handled</a:t>
            </a:r>
            <a:endParaRPr lang="en-US" sz="1500" dirty="0"/>
          </a:p>
          <a:p>
            <a:pPr marL="342900" indent="-342900">
              <a:lnSpc>
                <a:spcPct val="125000"/>
              </a:lnSpc>
              <a:spcAft>
                <a:spcPts val="800"/>
              </a:spcAft>
              <a:buSzPct val="100000"/>
              <a:buChar char="•"/>
            </a:pPr>
            <a:r>
              <a:rPr lang="en-US" sz="1500" dirty="0">
                <a:solidFill>
                  <a:srgbClr val="374151"/>
                </a:solidFill>
              </a:rPr>
              <a:t>Mixed methods studies size each strand by its own logic — power calculation for the quantitative strand, information power for the qualitative</a:t>
            </a:r>
            <a:endParaRPr lang="en-US" sz="1500" dirty="0"/>
          </a:p>
          <a:p>
            <a:pPr marL="342900" indent="-342900">
              <a:lnSpc>
                <a:spcPct val="125000"/>
              </a:lnSpc>
              <a:spcAft>
                <a:spcPts val="800"/>
              </a:spcAft>
              <a:buSzPct val="100000"/>
              <a:buChar char="•"/>
            </a:pPr>
            <a:r>
              <a:rPr lang="en-US" sz="1500" dirty="0">
                <a:solidFill>
                  <a:srgbClr val="374151"/>
                </a:solidFill>
              </a:rPr>
              <a:t>A nested qualitative sample is often drawn purposively from the quantitative sample, which strengthens integration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7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Calculating a sample size, then adjusting it honestly</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prevalence survey of anaemia among pregnant women in one district. Previous work suggests roughly 35% prevalence. You want a 5% margin of error at 95% confidence, sampling by health facility.</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Base formula: n = Z²p(1-p)/d² = (1.96² x 0.35 x 0.65) / 0.05²</a:t>
            </a:r>
            <a:endParaRPr lang="en-US" sz="1300" dirty="0"/>
          </a:p>
          <a:p>
            <a:pPr marL="342900" indent="-342900">
              <a:lnSpc>
                <a:spcPct val="115000"/>
              </a:lnSpc>
              <a:buSzPct val="100000"/>
              <a:buFont typeface="+mj-lt"/>
              <a:buAutoNum type="arabicPeriod" startAt="1"/>
            </a:pPr>
            <a:r>
              <a:rPr lang="en-US" sz="1300" dirty="0">
                <a:solidFill>
                  <a:srgbClr val="374151"/>
                </a:solidFill>
              </a:rPr>
              <a:t>That is (3.8416 x 0.2275) / 0.0025 = 0.8740 / 0.0025 = 350 (rounding up).</a:t>
            </a:r>
            <a:endParaRPr lang="en-US" sz="1300" dirty="0"/>
          </a:p>
          <a:p>
            <a:pPr marL="342900" indent="-342900">
              <a:lnSpc>
                <a:spcPct val="115000"/>
              </a:lnSpc>
              <a:buSzPct val="100000"/>
              <a:buFont typeface="+mj-lt"/>
              <a:buAutoNum type="arabicPeriod" startAt="1"/>
            </a:pPr>
            <a:r>
              <a:rPr lang="en-US" sz="1300" dirty="0">
                <a:solidFill>
                  <a:srgbClr val="374151"/>
                </a:solidFill>
              </a:rPr>
              <a:t>Cluster sampling by facility: multiply by a design effect of 1.5 → 350 x 1.5 = 525.</a:t>
            </a:r>
            <a:endParaRPr lang="en-US" sz="1300" dirty="0"/>
          </a:p>
          <a:p>
            <a:pPr marL="342900" indent="-342900">
              <a:lnSpc>
                <a:spcPct val="115000"/>
              </a:lnSpc>
              <a:buSzPct val="100000"/>
              <a:buFont typeface="+mj-lt"/>
              <a:buAutoNum type="arabicPeriod" startAt="1"/>
            </a:pPr>
            <a:r>
              <a:rPr lang="en-US" sz="1300" dirty="0">
                <a:solidFill>
                  <a:srgbClr val="374151"/>
                </a:solidFill>
              </a:rPr>
              <a:t>Expect 10% non-response: 525 / 0.90 = 584.</a:t>
            </a:r>
            <a:endParaRPr lang="en-US" sz="1300" dirty="0"/>
          </a:p>
          <a:p>
            <a:pPr marL="342900" indent="-342900">
              <a:lnSpc>
                <a:spcPct val="115000"/>
              </a:lnSpc>
              <a:buSzPct val="100000"/>
              <a:buFont typeface="+mj-lt"/>
              <a:buAutoNum type="arabicPeriod" startAt="1"/>
            </a:pPr>
            <a:r>
              <a:rPr lang="en-US" sz="1300" dirty="0">
                <a:solidFill>
                  <a:srgbClr val="374151"/>
                </a:solidFill>
              </a:rPr>
              <a:t>Final target: 584 women. In R: ceiling(1.96^2 * 0.35 * 0.65 / 0.05^2 * 1.5 / 0.9)</a:t>
            </a:r>
            <a:endParaRPr lang="en-US" sz="1300" dirty="0"/>
          </a:p>
          <a:p>
            <a:pPr marL="342900" indent="-342900">
              <a:lnSpc>
                <a:spcPct val="115000"/>
              </a:lnSpc>
              <a:buSzPct val="100000"/>
              <a:buFont typeface="+mj-lt"/>
              <a:buAutoNum type="arabicPeriod" startAt="1"/>
            </a:pPr>
            <a:r>
              <a:rPr lang="en-US" sz="1300" dirty="0">
                <a:solidFill>
                  <a:srgbClr val="374151"/>
                </a:solidFill>
              </a:rPr>
              <a:t>Report every input — Z, p, d, design effect and non-response — not just the number 584.</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7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Two studies in one document is not mixed methods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thesis reports a 600-household survey in Chapter 4 and 20 interviews in Chapter 5. The conclusion summarises both. The student calls it a mixed methods study.</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Ask the integration question: what did combining them reveal that neither gave alone?</a:t>
            </a:r>
            <a:endParaRPr lang="en-US" sz="1300" dirty="0"/>
          </a:p>
          <a:p>
            <a:pPr marL="342900" indent="-342900">
              <a:lnSpc>
                <a:spcPct val="115000"/>
              </a:lnSpc>
              <a:buSzPct val="100000"/>
              <a:buFont typeface="+mj-lt"/>
              <a:buAutoNum type="arabicPeriod" startAt="1"/>
            </a:pPr>
            <a:r>
              <a:rPr lang="en-US" sz="1300" dirty="0">
                <a:solidFill>
                  <a:srgbClr val="374151"/>
                </a:solidFill>
              </a:rPr>
              <a:t>If the answer is "nothing — they are both about the same topic", it is two studies bound together.</a:t>
            </a:r>
            <a:endParaRPr lang="en-US" sz="1300" dirty="0"/>
          </a:p>
          <a:p>
            <a:pPr marL="342900" indent="-342900">
              <a:lnSpc>
                <a:spcPct val="115000"/>
              </a:lnSpc>
              <a:buSzPct val="100000"/>
              <a:buFont typeface="+mj-lt"/>
              <a:buAutoNum type="arabicPeriod" startAt="1"/>
            </a:pPr>
            <a:r>
              <a:rPr lang="en-US" sz="1300" dirty="0">
                <a:solidFill>
                  <a:srgbClr val="374151"/>
                </a:solidFill>
              </a:rPr>
              <a:t>Real integration would be: the survey found low clinic attendance in one sub-district; the interviews were sampled from there specifically to explain why.</a:t>
            </a:r>
            <a:endParaRPr lang="en-US" sz="1300" dirty="0"/>
          </a:p>
          <a:p>
            <a:pPr marL="342900" indent="-342900">
              <a:lnSpc>
                <a:spcPct val="115000"/>
              </a:lnSpc>
              <a:buSzPct val="100000"/>
              <a:buFont typeface="+mj-lt"/>
              <a:buAutoNum type="arabicPeriod" startAt="1"/>
            </a:pPr>
            <a:r>
              <a:rPr lang="en-US" sz="1300" dirty="0">
                <a:solidFill>
                  <a:srgbClr val="374151"/>
                </a:solidFill>
              </a:rPr>
              <a:t>Or a joint display: a table with survey findings in one column and the interview themes that explain or contradict them alongside.</a:t>
            </a:r>
            <a:endParaRPr lang="en-US" sz="1300" dirty="0"/>
          </a:p>
          <a:p>
            <a:pPr marL="342900" indent="-342900">
              <a:lnSpc>
                <a:spcPct val="115000"/>
              </a:lnSpc>
              <a:buSzPct val="100000"/>
              <a:buFont typeface="+mj-lt"/>
              <a:buAutoNum type="arabicPeriod" startAt="1"/>
            </a:pPr>
            <a:r>
              <a:rPr lang="en-US" sz="1300" dirty="0">
                <a:solidFill>
                  <a:srgbClr val="374151"/>
                </a:solidFill>
              </a:rPr>
              <a:t>The interview sample can be drawn from the survey respondents, which ties the strands together by design rather than by assertion.</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Sampling frame — The list or procedure from which the sample is actually drawn.</a:t>
            </a:r>
            <a:endParaRPr lang="en-US" sz="1500" dirty="0"/>
          </a:p>
          <a:p>
            <a:pPr marL="342900" indent="-342900">
              <a:lnSpc>
                <a:spcPct val="125000"/>
              </a:lnSpc>
              <a:spcAft>
                <a:spcPts val="800"/>
              </a:spcAft>
              <a:buSzPct val="100000"/>
              <a:buChar char="•"/>
            </a:pPr>
            <a:r>
              <a:rPr lang="en-US" sz="1500" dirty="0">
                <a:solidFill>
                  <a:srgbClr val="374151"/>
                </a:solidFill>
              </a:rPr>
              <a:t>Design effect (DEFF) — The factor by which variance increases because of cluster sampling rather than simple random sampling.</a:t>
            </a:r>
            <a:endParaRPr lang="en-US" sz="1500" dirty="0"/>
          </a:p>
          <a:p>
            <a:pPr marL="342900" indent="-342900">
              <a:lnSpc>
                <a:spcPct val="125000"/>
              </a:lnSpc>
              <a:spcAft>
                <a:spcPts val="800"/>
              </a:spcAft>
              <a:buSzPct val="100000"/>
              <a:buChar char="•"/>
            </a:pPr>
            <a:r>
              <a:rPr lang="en-US" sz="1500" dirty="0">
                <a:solidFill>
                  <a:srgbClr val="374151"/>
                </a:solidFill>
              </a:rPr>
              <a:t>Power — The probability that a study will detect an effect of a specified size if it truly exists.</a:t>
            </a:r>
            <a:endParaRPr lang="en-US" sz="1500" dirty="0"/>
          </a:p>
          <a:p>
            <a:pPr marL="342900" indent="-342900">
              <a:lnSpc>
                <a:spcPct val="125000"/>
              </a:lnSpc>
              <a:spcAft>
                <a:spcPts val="800"/>
              </a:spcAft>
              <a:buSzPct val="100000"/>
              <a:buChar char="•"/>
            </a:pPr>
            <a:r>
              <a:rPr lang="en-US" sz="1500" dirty="0">
                <a:solidFill>
                  <a:srgbClr val="374151"/>
                </a:solidFill>
              </a:rPr>
              <a:t>Effect size — The magnitude of a difference or association, independent of sample size.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Integration — The deliberate bringing together of quantitative and qualitative strands to produce insight neither gives alone.</a:t>
            </a:r>
            <a:endParaRPr lang="en-US" sz="1500" dirty="0"/>
          </a:p>
          <a:p>
            <a:pPr marL="342900" indent="-342900">
              <a:lnSpc>
                <a:spcPct val="125000"/>
              </a:lnSpc>
              <a:spcAft>
                <a:spcPts val="800"/>
              </a:spcAft>
              <a:buSzPct val="100000"/>
              <a:buChar char="•"/>
            </a:pPr>
            <a:r>
              <a:rPr lang="en-US" sz="1500" dirty="0">
                <a:solidFill>
                  <a:srgbClr val="374151"/>
                </a:solidFill>
              </a:rPr>
              <a:t>Joint display — A table or figure presenting quantitative and qualitative results side by side to show how they relate.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Calculate the sample size for a prevalence study in your own field: choose p, set d = 0.05, then inflate for 15% non-response and a design effect of 1.5. Show every step. Then state, in one sentence each, the sampling frame and what it excludes.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8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Data Collection, Instruments and Measurement</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Turning abstract constructs into things you can actually record, and the validity and reliability evidence needed before anyone believes the numbers your instrument produces.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Operationalise a construct into measurable variables and indicators</a:t>
            </a:r>
            <a:endParaRPr lang="en-US" sz="1700" dirty="0"/>
          </a:p>
          <a:p>
            <a:pPr marL="342900" indent="-342900">
              <a:lnSpc>
                <a:spcPct val="125000"/>
              </a:lnSpc>
              <a:spcAft>
                <a:spcPts val="800"/>
              </a:spcAft>
              <a:buSzPct val="100000"/>
              <a:buChar char="•"/>
            </a:pPr>
            <a:r>
              <a:rPr lang="en-US" sz="1700" dirty="0">
                <a:solidFill>
                  <a:srgbClr val="374151"/>
                </a:solidFill>
              </a:rPr>
              <a:t>Identify levels of measurement and their analytical consequences</a:t>
            </a:r>
            <a:endParaRPr lang="en-US" sz="1700" dirty="0"/>
          </a:p>
          <a:p>
            <a:pPr marL="342900" indent="-342900">
              <a:lnSpc>
                <a:spcPct val="125000"/>
              </a:lnSpc>
              <a:spcAft>
                <a:spcPts val="800"/>
              </a:spcAft>
              <a:buSzPct val="100000"/>
              <a:buChar char="•"/>
            </a:pPr>
            <a:r>
              <a:rPr lang="en-US" sz="1700" dirty="0">
                <a:solidFill>
                  <a:srgbClr val="374151"/>
                </a:solidFill>
              </a:rPr>
              <a:t>Design questionnaire items that avoid the common wording faults</a:t>
            </a:r>
            <a:endParaRPr lang="en-US" sz="1700" dirty="0"/>
          </a:p>
          <a:p>
            <a:pPr marL="342900" indent="-342900">
              <a:lnSpc>
                <a:spcPct val="125000"/>
              </a:lnSpc>
              <a:spcAft>
                <a:spcPts val="800"/>
              </a:spcAft>
              <a:buSzPct val="100000"/>
              <a:buChar char="•"/>
            </a:pPr>
            <a:r>
              <a:rPr lang="en-US" sz="1700" dirty="0">
                <a:solidFill>
                  <a:srgbClr val="374151"/>
                </a:solidFill>
              </a:rPr>
              <a:t>Distinguish the main types of validity and reliability and how each is evidenced</a:t>
            </a:r>
            <a:endParaRPr lang="en-US" sz="1700" dirty="0"/>
          </a:p>
          <a:p>
            <a:pPr marL="342900" indent="-342900">
              <a:lnSpc>
                <a:spcPct val="125000"/>
              </a:lnSpc>
              <a:spcAft>
                <a:spcPts val="800"/>
              </a:spcAft>
              <a:buSzPct val="100000"/>
              <a:buChar char="•"/>
            </a:pPr>
            <a:r>
              <a:rPr lang="en-US" sz="1700" dirty="0">
                <a:solidFill>
                  <a:srgbClr val="374151"/>
                </a:solidFill>
              </a:rPr>
              <a:t>Plan and report a pilot study</a:t>
            </a:r>
            <a:endParaRPr lang="en-US" sz="1700" dirty="0"/>
          </a:p>
          <a:p>
            <a:pPr marL="342900" indent="-342900">
              <a:lnSpc>
                <a:spcPct val="125000"/>
              </a:lnSpc>
              <a:spcAft>
                <a:spcPts val="800"/>
              </a:spcAft>
              <a:buSzPct val="100000"/>
              <a:buChar char="•"/>
            </a:pPr>
            <a:r>
              <a:rPr lang="en-US" sz="1700" dirty="0">
                <a:solidFill>
                  <a:srgbClr val="374151"/>
                </a:solidFill>
              </a:rPr>
              <a:t>Choose between paper and electronic data capture and set up basic data quality controls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construct to variable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A construct is an abstraction — stigma, food insecurity, quality of care — that cannot be observed directly</a:t>
            </a:r>
            <a:endParaRPr lang="en-US" sz="1700" dirty="0"/>
          </a:p>
          <a:p>
            <a:pPr marL="342900" indent="-342900">
              <a:lnSpc>
                <a:spcPct val="125000"/>
              </a:lnSpc>
              <a:spcAft>
                <a:spcPts val="800"/>
              </a:spcAft>
              <a:buSzPct val="100000"/>
              <a:buChar char="•"/>
            </a:pPr>
            <a:r>
              <a:rPr lang="en-US" sz="1700" dirty="0">
                <a:solidFill>
                  <a:srgbClr val="374151"/>
                </a:solidFill>
              </a:rPr>
              <a:t>Operationalisation defines the observable indicators that will stand for it</a:t>
            </a:r>
            <a:endParaRPr lang="en-US" sz="1700" dirty="0"/>
          </a:p>
          <a:p>
            <a:pPr marL="342900" indent="-342900">
              <a:lnSpc>
                <a:spcPct val="125000"/>
              </a:lnSpc>
              <a:spcAft>
                <a:spcPts val="800"/>
              </a:spcAft>
              <a:buSzPct val="100000"/>
              <a:buChar char="•"/>
            </a:pPr>
            <a:r>
              <a:rPr lang="en-US" sz="1700" dirty="0">
                <a:solidFill>
                  <a:srgbClr val="374151"/>
                </a:solidFill>
              </a:rPr>
              <a:t>A conceptual definition says what you mean; an operational definition says exactly how it will be measured</a:t>
            </a:r>
            <a:endParaRPr lang="en-US" sz="1700" dirty="0"/>
          </a:p>
          <a:p>
            <a:pPr marL="342900" indent="-342900">
              <a:lnSpc>
                <a:spcPct val="125000"/>
              </a:lnSpc>
              <a:spcAft>
                <a:spcPts val="800"/>
              </a:spcAft>
              <a:buSzPct val="100000"/>
              <a:buChar char="•"/>
            </a:pPr>
            <a:r>
              <a:rPr lang="en-US" sz="1700" dirty="0">
                <a:solidFill>
                  <a:srgbClr val="374151"/>
                </a:solidFill>
              </a:rPr>
              <a:t>Prefer an existing validated instrument over inventing your own — validation takes a study of its own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construct to variable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If you adapt an instrument, report what you changed and re-examine its reliability in your population</a:t>
            </a:r>
            <a:endParaRPr lang="en-US" sz="1500" dirty="0"/>
          </a:p>
          <a:p>
            <a:pPr marL="342900" indent="-342900">
              <a:lnSpc>
                <a:spcPct val="125000"/>
              </a:lnSpc>
              <a:spcAft>
                <a:spcPts val="800"/>
              </a:spcAft>
              <a:buSzPct val="100000"/>
              <a:buChar char="•"/>
            </a:pPr>
            <a:r>
              <a:rPr lang="en-US" sz="1500" dirty="0">
                <a:solidFill>
                  <a:srgbClr val="374151"/>
                </a:solidFill>
              </a:rPr>
              <a:t>Instruments validated elsewhere may behave differently after translation or in a different culture, and should be re-tested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8</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Translation requires forward translation, back translation by an independent translator, reconciliation by a panel, and cognitive interviewing with a few target participants. Translating a questionnaire yourself the night before is the single most common source of unusable data.</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Levels of measurement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Nominal — unordered categories (blood group, district); only counts and proportions are meaningful</a:t>
            </a:r>
            <a:endParaRPr lang="en-US" sz="1700" dirty="0"/>
          </a:p>
          <a:p>
            <a:pPr marL="342900" indent="-342900">
              <a:lnSpc>
                <a:spcPct val="125000"/>
              </a:lnSpc>
              <a:spcAft>
                <a:spcPts val="800"/>
              </a:spcAft>
              <a:buSzPct val="100000"/>
              <a:buChar char="•"/>
            </a:pPr>
            <a:r>
              <a:rPr lang="en-US" sz="1700" dirty="0">
                <a:solidFill>
                  <a:srgbClr val="374151"/>
                </a:solidFill>
              </a:rPr>
              <a:t>Ordinal — ordered categories with unequal or unknown intervals (Likert responses, disease stage)</a:t>
            </a:r>
            <a:endParaRPr lang="en-US" sz="1700" dirty="0"/>
          </a:p>
          <a:p>
            <a:pPr marL="342900" indent="-342900">
              <a:lnSpc>
                <a:spcPct val="125000"/>
              </a:lnSpc>
              <a:spcAft>
                <a:spcPts val="800"/>
              </a:spcAft>
              <a:buSzPct val="100000"/>
              <a:buChar char="•"/>
            </a:pPr>
            <a:r>
              <a:rPr lang="en-US" sz="1700" dirty="0">
                <a:solidFill>
                  <a:srgbClr val="374151"/>
                </a:solidFill>
              </a:rPr>
              <a:t>Interval — equal intervals but no true zero (temperature in Celsius)</a:t>
            </a:r>
            <a:endParaRPr lang="en-US" sz="1700" dirty="0"/>
          </a:p>
          <a:p>
            <a:pPr marL="342900" indent="-342900">
              <a:lnSpc>
                <a:spcPct val="125000"/>
              </a:lnSpc>
              <a:spcAft>
                <a:spcPts val="800"/>
              </a:spcAft>
              <a:buSzPct val="100000"/>
              <a:buChar char="•"/>
            </a:pPr>
            <a:r>
              <a:rPr lang="en-US" sz="1700" dirty="0">
                <a:solidFill>
                  <a:srgbClr val="374151"/>
                </a:solidFill>
              </a:rPr>
              <a:t>Ratio — equal intervals with a true zero (weight, income, count of visits)</a:t>
            </a:r>
            <a:endParaRPr lang="en-US" sz="1700" dirty="0"/>
          </a:p>
          <a:p>
            <a:pPr marL="342900" indent="-342900">
              <a:lnSpc>
                <a:spcPct val="125000"/>
              </a:lnSpc>
              <a:spcAft>
                <a:spcPts val="800"/>
              </a:spcAft>
              <a:buSzPct val="100000"/>
              <a:buChar char="•"/>
            </a:pPr>
            <a:r>
              <a:rPr lang="en-US" sz="1700" dirty="0">
                <a:solidFill>
                  <a:srgbClr val="374151"/>
                </a:solidFill>
              </a:rPr>
              <a:t>The level determines which summary statistics and which tests are legitimate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Levels of measurement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Record data at the finest level available: exact age can always be collapsed into bands later, but bands can never be recovered into exact ages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Writing good items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One idea per item — "Was the staff friendly and efficient?" is double-barrelled and unanswerable if one was and one was not</a:t>
            </a:r>
            <a:endParaRPr lang="en-US" sz="1500" dirty="0"/>
          </a:p>
          <a:p>
            <a:pPr marL="342900" indent="-342900">
              <a:lnSpc>
                <a:spcPct val="125000"/>
              </a:lnSpc>
              <a:spcAft>
                <a:spcPts val="800"/>
              </a:spcAft>
              <a:buSzPct val="100000"/>
              <a:buChar char="•"/>
            </a:pPr>
            <a:r>
              <a:rPr lang="en-US" sz="1500" dirty="0">
                <a:solidFill>
                  <a:srgbClr val="374151"/>
                </a:solidFill>
              </a:rPr>
              <a:t>Avoid leading wording, loaded terms and negatives, especially double negatives</a:t>
            </a:r>
            <a:endParaRPr lang="en-US" sz="1500" dirty="0"/>
          </a:p>
          <a:p>
            <a:pPr marL="342900" indent="-342900">
              <a:lnSpc>
                <a:spcPct val="125000"/>
              </a:lnSpc>
              <a:spcAft>
                <a:spcPts val="800"/>
              </a:spcAft>
              <a:buSzPct val="100000"/>
              <a:buChar char="•"/>
            </a:pPr>
            <a:r>
              <a:rPr lang="en-US" sz="1500" dirty="0">
                <a:solidFill>
                  <a:srgbClr val="374151"/>
                </a:solidFill>
              </a:rPr>
              <a:t>Match vocabulary to the least literate respondent you expect</a:t>
            </a:r>
            <a:endParaRPr lang="en-US" sz="1500" dirty="0"/>
          </a:p>
          <a:p>
            <a:pPr marL="342900" indent="-342900">
              <a:lnSpc>
                <a:spcPct val="125000"/>
              </a:lnSpc>
              <a:spcAft>
                <a:spcPts val="800"/>
              </a:spcAft>
              <a:buSzPct val="100000"/>
              <a:buChar char="•"/>
            </a:pPr>
            <a:r>
              <a:rPr lang="en-US" sz="1500" dirty="0">
                <a:solidFill>
                  <a:srgbClr val="374151"/>
                </a:solidFill>
              </a:rPr>
              <a:t>Make response options exhaustive and mutually exclusive; check for gaps and overlaps in age bands</a:t>
            </a:r>
            <a:endParaRPr lang="en-US" sz="1500" dirty="0"/>
          </a:p>
          <a:p>
            <a:pPr marL="342900" indent="-342900">
              <a:lnSpc>
                <a:spcPct val="125000"/>
              </a:lnSpc>
              <a:spcAft>
                <a:spcPts val="800"/>
              </a:spcAft>
              <a:buSzPct val="100000"/>
              <a:buChar char="•"/>
            </a:pPr>
            <a:r>
              <a:rPr lang="en-US" sz="1500" dirty="0">
                <a:solidFill>
                  <a:srgbClr val="374151"/>
                </a:solidFill>
              </a:rPr>
              <a:t>Offer "don't know" and "prefer not to answer" where forcing a choice would fabricate data</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Writing good items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Decide deliberately whether a Likert scale has a midpoint — removing it forces a direction, which may or may not be what you want</a:t>
            </a:r>
            <a:endParaRPr lang="en-US" sz="1500" dirty="0"/>
          </a:p>
          <a:p>
            <a:pPr marL="342900" indent="-342900">
              <a:lnSpc>
                <a:spcPct val="125000"/>
              </a:lnSpc>
              <a:spcAft>
                <a:spcPts val="800"/>
              </a:spcAft>
              <a:buSzPct val="100000"/>
              <a:buChar char="•"/>
            </a:pPr>
            <a:r>
              <a:rPr lang="en-US" sz="1500" dirty="0">
                <a:solidFill>
                  <a:srgbClr val="374151"/>
                </a:solidFill>
              </a:rPr>
              <a:t>Order matters: put sensitive items late, once rapport exists, and beware of earlier items priming later ones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Validity and reliability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Face validity — does it look appropriate? The weakest form, but worth checking</a:t>
            </a:r>
            <a:endParaRPr lang="en-US" sz="1500" dirty="0"/>
          </a:p>
          <a:p>
            <a:pPr marL="342900" indent="-342900">
              <a:lnSpc>
                <a:spcPct val="125000"/>
              </a:lnSpc>
              <a:spcAft>
                <a:spcPts val="800"/>
              </a:spcAft>
              <a:buSzPct val="100000"/>
              <a:buChar char="•"/>
            </a:pPr>
            <a:r>
              <a:rPr lang="en-US" sz="1500" dirty="0">
                <a:solidFill>
                  <a:srgbClr val="374151"/>
                </a:solidFill>
              </a:rPr>
              <a:t>Content validity — does it cover the whole construct? Established by expert panel, often with a content validity index</a:t>
            </a:r>
            <a:endParaRPr lang="en-US" sz="1500" dirty="0"/>
          </a:p>
          <a:p>
            <a:pPr marL="342900" indent="-342900">
              <a:lnSpc>
                <a:spcPct val="125000"/>
              </a:lnSpc>
              <a:spcAft>
                <a:spcPts val="800"/>
              </a:spcAft>
              <a:buSzPct val="100000"/>
              <a:buChar char="•"/>
            </a:pPr>
            <a:r>
              <a:rPr lang="en-US" sz="1500" dirty="0">
                <a:solidFill>
                  <a:srgbClr val="374151"/>
                </a:solidFill>
              </a:rPr>
              <a:t>Construct validity — does it behave as theory predicts? Evidenced by convergent and discriminant correlations and factor analysis</a:t>
            </a:r>
            <a:endParaRPr lang="en-US" sz="1500" dirty="0"/>
          </a:p>
          <a:p>
            <a:pPr marL="342900" indent="-342900">
              <a:lnSpc>
                <a:spcPct val="125000"/>
              </a:lnSpc>
              <a:spcAft>
                <a:spcPts val="800"/>
              </a:spcAft>
              <a:buSzPct val="100000"/>
              <a:buChar char="•"/>
            </a:pPr>
            <a:r>
              <a:rPr lang="en-US" sz="1500" dirty="0">
                <a:solidFill>
                  <a:srgbClr val="374151"/>
                </a:solidFill>
              </a:rPr>
              <a:t>Criterion validity — does it agree with a gold standard, concurrently or predictively?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Validity and reliability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Internal consistency — do items measure the same thing? Cronbach's alpha, where roughly 0.70-0.95 is acceptable and above 0.95 suggests redundant items</a:t>
            </a:r>
            <a:endParaRPr lang="en-US" sz="1300" dirty="0"/>
          </a:p>
          <a:p>
            <a:pPr marL="342900" indent="-342900">
              <a:lnSpc>
                <a:spcPct val="125000"/>
              </a:lnSpc>
              <a:spcAft>
                <a:spcPts val="800"/>
              </a:spcAft>
              <a:buSzPct val="100000"/>
              <a:buChar char="•"/>
            </a:pPr>
            <a:r>
              <a:rPr lang="en-US" sz="1300" dirty="0">
                <a:solidFill>
                  <a:srgbClr val="374151"/>
                </a:solidFill>
              </a:rPr>
              <a:t>Test-retest reliability — does it give the same answer on a stable characteristic over a short interval?</a:t>
            </a:r>
            <a:endParaRPr lang="en-US" sz="1300" dirty="0"/>
          </a:p>
          <a:p>
            <a:pPr marL="342900" indent="-342900">
              <a:lnSpc>
                <a:spcPct val="125000"/>
              </a:lnSpc>
              <a:spcAft>
                <a:spcPts val="800"/>
              </a:spcAft>
              <a:buSzPct val="100000"/>
              <a:buChar char="•"/>
            </a:pPr>
            <a:r>
              <a:rPr lang="en-US" sz="1300" dirty="0">
                <a:solidFill>
                  <a:srgbClr val="374151"/>
                </a:solidFill>
              </a:rPr>
              <a:t>Inter-rater reliability — do different observers agree? Reported as Cohen's kappa or an intraclass correlation</a:t>
            </a:r>
            <a:endParaRPr lang="en-US" sz="1300" dirty="0"/>
          </a:p>
          <a:p>
            <a:pPr marL="342900" indent="-342900">
              <a:lnSpc>
                <a:spcPct val="125000"/>
              </a:lnSpc>
              <a:spcAft>
                <a:spcPts val="800"/>
              </a:spcAft>
              <a:buSzPct val="100000"/>
              <a:buChar char="•"/>
            </a:pPr>
            <a:r>
              <a:rPr lang="en-US" sz="1300" dirty="0">
                <a:solidFill>
                  <a:srgbClr val="374151"/>
                </a:solidFill>
              </a:rPr>
              <a:t>An instrument can be reliable but not valid — consistently measuring the wrong thing</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Which evidence to report</a:t>
            </a:r>
            <a:endParaRPr lang="en-US" sz="22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Property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Statistic</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Rough benchmark</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Internal consistency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Cronbach's alpha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0.70 - 0.95</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Test-retest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ICC or Pearson 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 0.70</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Inter-rater agreement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Cohen's kappa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 0.60 substantial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Content validity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CVI</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 0.78 per item</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Construct validity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Factor loadings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 0.40</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Piloting and data capture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Pilot on 10% of the intended sample, or at least 20-30 respondents, drawn from the same population but excluded from the main study</a:t>
            </a:r>
            <a:endParaRPr lang="en-US" sz="1500" dirty="0"/>
          </a:p>
          <a:p>
            <a:pPr marL="342900" indent="-342900">
              <a:lnSpc>
                <a:spcPct val="125000"/>
              </a:lnSpc>
              <a:spcAft>
                <a:spcPts val="800"/>
              </a:spcAft>
              <a:buSzPct val="100000"/>
              <a:buChar char="•"/>
            </a:pPr>
            <a:r>
              <a:rPr lang="en-US" sz="1500" dirty="0">
                <a:solidFill>
                  <a:srgbClr val="374151"/>
                </a:solidFill>
              </a:rPr>
              <a:t>The pilot tests comprehension, timing, flow, skip logic, coding and the analysis plan — run your intended analysis on pilot data</a:t>
            </a:r>
            <a:endParaRPr lang="en-US" sz="1500" dirty="0"/>
          </a:p>
          <a:p>
            <a:pPr marL="342900" indent="-342900">
              <a:lnSpc>
                <a:spcPct val="125000"/>
              </a:lnSpc>
              <a:spcAft>
                <a:spcPts val="800"/>
              </a:spcAft>
              <a:buSzPct val="100000"/>
              <a:buChar char="•"/>
            </a:pPr>
            <a:r>
              <a:rPr lang="en-US" sz="1500" dirty="0">
                <a:solidFill>
                  <a:srgbClr val="374151"/>
                </a:solidFill>
              </a:rPr>
              <a:t>Electronic capture (KoBoToolbox, REDCap, ODK, CommCare) enforces ranges and skip logic at the point of entry and removes a transcription step</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Piloting and data capture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Paper remains appropriate where power, connectivity or literacy make devices impractical; plan double entry if so</a:t>
            </a:r>
            <a:endParaRPr lang="en-US" sz="1500" dirty="0"/>
          </a:p>
          <a:p>
            <a:pPr marL="342900" indent="-342900">
              <a:lnSpc>
                <a:spcPct val="125000"/>
              </a:lnSpc>
              <a:spcAft>
                <a:spcPts val="800"/>
              </a:spcAft>
              <a:buSzPct val="100000"/>
              <a:buChar char="•"/>
            </a:pPr>
            <a:r>
              <a:rPr lang="en-US" sz="1500" dirty="0">
                <a:solidFill>
                  <a:srgbClr val="374151"/>
                </a:solidFill>
              </a:rPr>
              <a:t>Build validation rules: allowed ranges, required fields, logical consistency checks between related items</a:t>
            </a:r>
            <a:endParaRPr lang="en-US" sz="1500" dirty="0"/>
          </a:p>
          <a:p>
            <a:pPr marL="342900" indent="-342900">
              <a:lnSpc>
                <a:spcPct val="125000"/>
              </a:lnSpc>
              <a:spcAft>
                <a:spcPts val="800"/>
              </a:spcAft>
              <a:buSzPct val="100000"/>
              <a:buChar char="•"/>
            </a:pPr>
            <a:r>
              <a:rPr lang="en-US" sz="1500" dirty="0">
                <a:solidFill>
                  <a:srgbClr val="374151"/>
                </a:solidFill>
              </a:rPr>
              <a:t>Train and standardise data collectors, then check inter-rater agreement rather than assuming it</a:t>
            </a:r>
            <a:endParaRPr lang="en-US" sz="1500" dirty="0"/>
          </a:p>
          <a:p>
            <a:pPr marL="342900" indent="-342900">
              <a:lnSpc>
                <a:spcPct val="125000"/>
              </a:lnSpc>
              <a:spcAft>
                <a:spcPts val="800"/>
              </a:spcAft>
              <a:buSzPct val="100000"/>
              <a:buChar char="•"/>
            </a:pPr>
            <a:r>
              <a:rPr lang="en-US" sz="1500" dirty="0">
                <a:solidFill>
                  <a:srgbClr val="374151"/>
                </a:solidFill>
              </a:rPr>
              <a:t>Anonymise at collection where possible, keeping any identifier link in a separate secured file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8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 questionnaire item pulled apart</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draft patient satisfaction survey includes: "How satisfied were you with the cost and quality of care? (Very satisfied / Satisfied / Dissatisfied)"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Double-barrelled: a patient happy with quality but not cost cannot answer truthfully.</a:t>
            </a:r>
            <a:endParaRPr lang="en-US" sz="1300" dirty="0"/>
          </a:p>
          <a:p>
            <a:pPr marL="342900" indent="-342900">
              <a:lnSpc>
                <a:spcPct val="115000"/>
              </a:lnSpc>
              <a:buSzPct val="100000"/>
              <a:buFont typeface="+mj-lt"/>
              <a:buAutoNum type="arabicPeriod" startAt="1"/>
            </a:pPr>
            <a:r>
              <a:rPr lang="en-US" sz="1300" dirty="0">
                <a:solidFill>
                  <a:srgbClr val="374151"/>
                </a:solidFill>
              </a:rPr>
              <a:t>The response options are unbalanced — two positive, one negative — which pushes answers upward.</a:t>
            </a:r>
            <a:endParaRPr lang="en-US" sz="1300" dirty="0"/>
          </a:p>
          <a:p>
            <a:pPr marL="342900" indent="-342900">
              <a:lnSpc>
                <a:spcPct val="115000"/>
              </a:lnSpc>
              <a:buSzPct val="100000"/>
              <a:buFont typeface="+mj-lt"/>
              <a:buAutoNum type="arabicPeriod" startAt="1"/>
            </a:pPr>
            <a:r>
              <a:rPr lang="en-US" sz="1300" dirty="0">
                <a:solidFill>
                  <a:srgbClr val="374151"/>
                </a:solidFill>
              </a:rPr>
              <a:t>There is no neutral option and no "not applicable", so someone who paid nothing must still choose.</a:t>
            </a:r>
            <a:endParaRPr lang="en-US" sz="1300" dirty="0"/>
          </a:p>
          <a:p>
            <a:pPr marL="342900" indent="-342900">
              <a:lnSpc>
                <a:spcPct val="115000"/>
              </a:lnSpc>
              <a:buSzPct val="100000"/>
              <a:buFont typeface="+mj-lt"/>
              <a:buAutoNum type="arabicPeriod" startAt="1"/>
            </a:pPr>
            <a:r>
              <a:rPr lang="en-US" sz="1300" dirty="0">
                <a:solidFill>
                  <a:srgbClr val="374151"/>
                </a:solidFill>
              </a:rPr>
              <a:t>Split into two items, each with a balanced 5-point scale from Very dissatisfied to Very satisfied.</a:t>
            </a:r>
            <a:endParaRPr lang="en-US" sz="1300" dirty="0"/>
          </a:p>
          <a:p>
            <a:pPr marL="342900" indent="-342900">
              <a:lnSpc>
                <a:spcPct val="115000"/>
              </a:lnSpc>
              <a:buSzPct val="100000"/>
              <a:buFont typeface="+mj-lt"/>
              <a:buAutoNum type="arabicPeriod" startAt="1"/>
            </a:pPr>
            <a:r>
              <a:rPr lang="en-US" sz="1300" dirty="0">
                <a:solidFill>
                  <a:srgbClr val="374151"/>
                </a:solidFill>
              </a:rPr>
              <a:t>Add "Not applicable" to the cost item for patients covered by the NHIS.</a:t>
            </a:r>
            <a:endParaRPr lang="en-US" sz="1300" dirty="0"/>
          </a:p>
          <a:p>
            <a:pPr marL="342900" indent="-342900">
              <a:lnSpc>
                <a:spcPct val="115000"/>
              </a:lnSpc>
              <a:buSzPct val="100000"/>
              <a:buFont typeface="+mj-lt"/>
              <a:buAutoNum type="arabicPeriod" startAt="1"/>
            </a:pPr>
            <a:r>
              <a:rPr lang="en-US" sz="1300" dirty="0">
                <a:solidFill>
                  <a:srgbClr val="374151"/>
                </a:solidFill>
              </a:rPr>
              <a:t>Pilot on 20 patients and ask them to say aloud what they thought each item meant.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8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What a translated instrument really requires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validated English depression scale is to be used with Twi-speaking participants. The student translates it herself the week before fieldwork.</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Forward translation by two independent bilingual translators, working separately.</a:t>
            </a:r>
            <a:endParaRPr lang="en-US" sz="1300" dirty="0"/>
          </a:p>
          <a:p>
            <a:pPr marL="342900" indent="-342900">
              <a:lnSpc>
                <a:spcPct val="115000"/>
              </a:lnSpc>
              <a:buSzPct val="100000"/>
              <a:buFont typeface="+mj-lt"/>
              <a:buAutoNum type="arabicPeriod" startAt="1"/>
            </a:pPr>
            <a:r>
              <a:rPr lang="en-US" sz="1300" dirty="0">
                <a:solidFill>
                  <a:srgbClr val="374151"/>
                </a:solidFill>
              </a:rPr>
              <a:t>Reconciliation of the two versions by a panel, resolving each difference deliberately.</a:t>
            </a:r>
            <a:endParaRPr lang="en-US" sz="1300" dirty="0"/>
          </a:p>
          <a:p>
            <a:pPr marL="342900" indent="-342900">
              <a:lnSpc>
                <a:spcPct val="115000"/>
              </a:lnSpc>
              <a:buSzPct val="100000"/>
              <a:buFont typeface="+mj-lt"/>
              <a:buAutoNum type="arabicPeriod" startAt="1"/>
            </a:pPr>
            <a:r>
              <a:rPr lang="en-US" sz="1300" dirty="0">
                <a:solidFill>
                  <a:srgbClr val="374151"/>
                </a:solidFill>
              </a:rPr>
              <a:t>Back translation into English by a third translator who has never seen the original.</a:t>
            </a:r>
            <a:endParaRPr lang="en-US" sz="1300" dirty="0"/>
          </a:p>
          <a:p>
            <a:pPr marL="342900" indent="-342900">
              <a:lnSpc>
                <a:spcPct val="115000"/>
              </a:lnSpc>
              <a:buSzPct val="100000"/>
              <a:buFont typeface="+mj-lt"/>
              <a:buAutoNum type="arabicPeriod" startAt="1"/>
            </a:pPr>
            <a:r>
              <a:rPr lang="en-US" sz="1300" dirty="0">
                <a:solidFill>
                  <a:srgbClr val="374151"/>
                </a:solidFill>
              </a:rPr>
              <a:t>Compare back translation with the original; where meaning has drifted, revise and repeat.</a:t>
            </a:r>
            <a:endParaRPr lang="en-US" sz="1300" dirty="0"/>
          </a:p>
          <a:p>
            <a:pPr marL="342900" indent="-342900">
              <a:lnSpc>
                <a:spcPct val="115000"/>
              </a:lnSpc>
              <a:buSzPct val="100000"/>
              <a:buFont typeface="+mj-lt"/>
              <a:buAutoNum type="arabicPeriod" startAt="1"/>
            </a:pPr>
            <a:r>
              <a:rPr lang="en-US" sz="1300" dirty="0">
                <a:solidFill>
                  <a:srgbClr val="374151"/>
                </a:solidFill>
              </a:rPr>
              <a:t>Cognitive interviewing with 5-10 target participants: ask what each item means to them in their own words.</a:t>
            </a:r>
            <a:endParaRPr lang="en-US" sz="1300" dirty="0"/>
          </a:p>
          <a:p>
            <a:pPr marL="342900" indent="-342900">
              <a:lnSpc>
                <a:spcPct val="115000"/>
              </a:lnSpc>
              <a:buSzPct val="100000"/>
              <a:buFont typeface="+mj-lt"/>
              <a:buAutoNum type="arabicPeriod" startAt="1"/>
            </a:pPr>
            <a:r>
              <a:rPr lang="en-US" sz="1300" dirty="0">
                <a:solidFill>
                  <a:srgbClr val="374151"/>
                </a:solidFill>
              </a:rPr>
              <a:t>Re-check reliability in the new population — the original Cronbach's alpha does not transfer.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Operationalisation — Specifying the observable indicators and procedures by which an abstract construct will be measured.</a:t>
            </a:r>
            <a:endParaRPr lang="en-US" sz="1500" dirty="0"/>
          </a:p>
          <a:p>
            <a:pPr marL="342900" indent="-342900">
              <a:lnSpc>
                <a:spcPct val="125000"/>
              </a:lnSpc>
              <a:spcAft>
                <a:spcPts val="800"/>
              </a:spcAft>
              <a:buSzPct val="100000"/>
              <a:buChar char="•"/>
            </a:pPr>
            <a:r>
              <a:rPr lang="en-US" sz="1500" dirty="0">
                <a:solidFill>
                  <a:srgbClr val="374151"/>
                </a:solidFill>
              </a:rPr>
              <a:t>Construct validity — Evidence that an instrument measures the theoretical concept it claims to measure.</a:t>
            </a:r>
            <a:endParaRPr lang="en-US" sz="1500" dirty="0"/>
          </a:p>
          <a:p>
            <a:pPr marL="342900" indent="-342900">
              <a:lnSpc>
                <a:spcPct val="125000"/>
              </a:lnSpc>
              <a:spcAft>
                <a:spcPts val="800"/>
              </a:spcAft>
              <a:buSzPct val="100000"/>
              <a:buChar char="•"/>
            </a:pPr>
            <a:r>
              <a:rPr lang="en-US" sz="1500" dirty="0">
                <a:solidFill>
                  <a:srgbClr val="374151"/>
                </a:solidFill>
              </a:rPr>
              <a:t>Cronbach's alpha — A coefficient of internal consistency among the items of a scale.</a:t>
            </a:r>
            <a:endParaRPr lang="en-US" sz="1500" dirty="0"/>
          </a:p>
          <a:p>
            <a:pPr marL="342900" indent="-342900">
              <a:lnSpc>
                <a:spcPct val="125000"/>
              </a:lnSpc>
              <a:spcAft>
                <a:spcPts val="800"/>
              </a:spcAft>
              <a:buSzPct val="100000"/>
              <a:buChar char="•"/>
            </a:pPr>
            <a:r>
              <a:rPr lang="en-US" sz="1500" dirty="0">
                <a:solidFill>
                  <a:srgbClr val="374151"/>
                </a:solidFill>
              </a:rPr>
              <a:t>Cohen's kappa — A measure of agreement between raters that corrects for agreement expected by chance.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Skip logic — Rules routing a respondent past items that do not apply to them.</a:t>
            </a:r>
            <a:endParaRPr lang="en-US" sz="1500" dirty="0"/>
          </a:p>
          <a:p>
            <a:pPr marL="342900" indent="-342900">
              <a:lnSpc>
                <a:spcPct val="125000"/>
              </a:lnSpc>
              <a:spcAft>
                <a:spcPts val="800"/>
              </a:spcAft>
              <a:buSzPct val="100000"/>
              <a:buChar char="•"/>
            </a:pPr>
            <a:r>
              <a:rPr lang="en-US" sz="1500" dirty="0">
                <a:solidFill>
                  <a:srgbClr val="374151"/>
                </a:solidFill>
              </a:rPr>
              <a:t>Double entry — Entering paper data twice independently and reconciling differences to catch transcription error.</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Take one construct from your study and write three candidate items for it. Exchange with a partner, who must identify any double-barrelled, leading or ambiguous wording and check the response options are exhaustive and mutually exclusive. Then state which reliability evidence you would report and why.</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9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Research Ethics and Integrity</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principles governing research with human participants, how ethical review actually works, and the integrity questions — authorship, plagiarism, data fabrication and the use of AI — that decide whether your work stands.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State the four principles of research ethics and apply them to a scenario</a:t>
            </a:r>
            <a:endParaRPr lang="en-US" sz="1800" dirty="0"/>
          </a:p>
          <a:p>
            <a:pPr marL="342900" indent="-342900">
              <a:lnSpc>
                <a:spcPct val="125000"/>
              </a:lnSpc>
              <a:spcAft>
                <a:spcPts val="800"/>
              </a:spcAft>
              <a:buSzPct val="100000"/>
              <a:buChar char="•"/>
            </a:pPr>
            <a:r>
              <a:rPr lang="en-US" sz="1800" dirty="0">
                <a:solidFill>
                  <a:srgbClr val="374151"/>
                </a:solidFill>
              </a:rPr>
              <a:t>Explain what makes consent genuinely informed, voluntary and documented</a:t>
            </a:r>
            <a:endParaRPr lang="en-US" sz="1800" dirty="0"/>
          </a:p>
          <a:p>
            <a:pPr marL="342900" indent="-342900">
              <a:lnSpc>
                <a:spcPct val="125000"/>
              </a:lnSpc>
              <a:spcAft>
                <a:spcPts val="800"/>
              </a:spcAft>
              <a:buSzPct val="100000"/>
              <a:buChar char="•"/>
            </a:pPr>
            <a:r>
              <a:rPr lang="en-US" sz="1800" dirty="0">
                <a:solidFill>
                  <a:srgbClr val="374151"/>
                </a:solidFill>
              </a:rPr>
              <a:t>Assemble an ethics application and anticipate what a committee will query</a:t>
            </a:r>
            <a:endParaRPr lang="en-US" sz="1800" dirty="0"/>
          </a:p>
          <a:p>
            <a:pPr marL="342900" indent="-342900">
              <a:lnSpc>
                <a:spcPct val="125000"/>
              </a:lnSpc>
              <a:spcAft>
                <a:spcPts val="800"/>
              </a:spcAft>
              <a:buSzPct val="100000"/>
              <a:buChar char="•"/>
            </a:pPr>
            <a:r>
              <a:rPr lang="en-US" sz="1800" dirty="0">
                <a:solidFill>
                  <a:srgbClr val="374151"/>
                </a:solidFill>
              </a:rPr>
              <a:t>Distinguish anonymity from confidentiality and implement both</a:t>
            </a:r>
            <a:endParaRPr lang="en-US" sz="1800" dirty="0"/>
          </a:p>
          <a:p>
            <a:pPr marL="342900" indent="-342900">
              <a:lnSpc>
                <a:spcPct val="125000"/>
              </a:lnSpc>
              <a:spcAft>
                <a:spcPts val="800"/>
              </a:spcAft>
              <a:buSzPct val="100000"/>
              <a:buChar char="•"/>
            </a:pPr>
            <a:r>
              <a:rPr lang="en-US" sz="1800" dirty="0">
                <a:solidFill>
                  <a:srgbClr val="374151"/>
                </a:solidFill>
              </a:rPr>
              <a:t>Identify vulnerable groups and the additional safeguards they require</a:t>
            </a:r>
            <a:endParaRPr lang="en-US" sz="1800" dirty="0"/>
          </a:p>
          <a:p>
            <a:pPr marL="342900" indent="-342900">
              <a:lnSpc>
                <a:spcPct val="125000"/>
              </a:lnSpc>
              <a:spcAft>
                <a:spcPts val="800"/>
              </a:spcAft>
              <a:buSzPct val="100000"/>
              <a:buChar char="•"/>
            </a:pPr>
            <a:r>
              <a:rPr lang="en-US" sz="1800" dirty="0">
                <a:solidFill>
                  <a:srgbClr val="374151"/>
                </a:solidFill>
              </a:rPr>
              <a:t>Apply authorship criteria and recognise research misconduct</a:t>
            </a:r>
            <a:endParaRPr lang="en-US" sz="1800" dirty="0"/>
          </a:p>
          <a:p>
            <a:pPr marL="342900" indent="-342900">
              <a:lnSpc>
                <a:spcPct val="125000"/>
              </a:lnSpc>
              <a:spcAft>
                <a:spcPts val="800"/>
              </a:spcAft>
              <a:buSzPct val="100000"/>
              <a:buChar char="•"/>
            </a:pPr>
            <a:r>
              <a:rPr lang="en-US" sz="1800" dirty="0">
                <a:solidFill>
                  <a:srgbClr val="374151"/>
                </a:solidFill>
              </a:rPr>
              <a:t>State a defensible position on the use of AI tools in research</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Principles and their origins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Nuremberg Code followed the Nazi medical experiments; the Declaration of Helsinki and the Belmont Report followed later abuses, including Tuskegee</a:t>
            </a:r>
            <a:endParaRPr lang="en-US" sz="1500" dirty="0"/>
          </a:p>
          <a:p>
            <a:pPr marL="342900" indent="-342900">
              <a:lnSpc>
                <a:spcPct val="125000"/>
              </a:lnSpc>
              <a:spcAft>
                <a:spcPts val="800"/>
              </a:spcAft>
              <a:buSzPct val="100000"/>
              <a:buChar char="•"/>
            </a:pPr>
            <a:r>
              <a:rPr lang="en-US" sz="1500" dirty="0">
                <a:solidFill>
                  <a:srgbClr val="374151"/>
                </a:solidFill>
              </a:rPr>
              <a:t>Autonomy — people decide for themselves whether to take part, having understood what is involved</a:t>
            </a:r>
            <a:endParaRPr lang="en-US" sz="1500" dirty="0"/>
          </a:p>
          <a:p>
            <a:pPr marL="342900" indent="-342900">
              <a:lnSpc>
                <a:spcPct val="125000"/>
              </a:lnSpc>
              <a:spcAft>
                <a:spcPts val="800"/>
              </a:spcAft>
              <a:buSzPct val="100000"/>
              <a:buChar char="•"/>
            </a:pPr>
            <a:r>
              <a:rPr lang="en-US" sz="1500" dirty="0">
                <a:solidFill>
                  <a:srgbClr val="374151"/>
                </a:solidFill>
              </a:rPr>
              <a:t>Beneficence — maximise benefit; Non-maleficence — minimise harm; the two are weighed together</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Principles and their origins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Justice — burdens and benefits are distributed fairly, and no group is used as a convenient subject pool for research that will benefit others</a:t>
            </a:r>
            <a:endParaRPr lang="en-US" sz="1500" dirty="0"/>
          </a:p>
          <a:p>
            <a:pPr marL="342900" indent="-342900">
              <a:lnSpc>
                <a:spcPct val="125000"/>
              </a:lnSpc>
              <a:spcAft>
                <a:spcPts val="800"/>
              </a:spcAft>
              <a:buSzPct val="100000"/>
              <a:buChar char="•"/>
            </a:pPr>
            <a:r>
              <a:rPr lang="en-US" sz="1500" dirty="0">
                <a:solidFill>
                  <a:srgbClr val="374151"/>
                </a:solidFill>
              </a:rPr>
              <a:t>Justice has particular weight in African research settings, where communities have historically borne research burden without sharing in benefit</a:t>
            </a:r>
            <a:endParaRPr lang="en-US" sz="1500" dirty="0"/>
          </a:p>
          <a:p>
            <a:pPr marL="342900" indent="-342900">
              <a:lnSpc>
                <a:spcPct val="125000"/>
              </a:lnSpc>
              <a:spcAft>
                <a:spcPts val="800"/>
              </a:spcAft>
              <a:buSzPct val="100000"/>
              <a:buChar char="•"/>
            </a:pPr>
            <a:r>
              <a:rPr lang="en-US" sz="1500" dirty="0">
                <a:solidFill>
                  <a:srgbClr val="374151"/>
                </a:solidFill>
              </a:rPr>
              <a:t>Ethical conduct is not a form to be completed; it is a continuing obligation through the study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Informed consent (1/3)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Information — purpose, procedures, duration, risks, benefits, alternatives, confidentiality limits, and who to contact</a:t>
            </a:r>
            <a:endParaRPr lang="en-US" sz="1500" dirty="0"/>
          </a:p>
          <a:p>
            <a:pPr marL="342900" indent="-342900">
              <a:lnSpc>
                <a:spcPct val="125000"/>
              </a:lnSpc>
              <a:spcAft>
                <a:spcPts val="800"/>
              </a:spcAft>
              <a:buSzPct val="100000"/>
              <a:buChar char="•"/>
            </a:pPr>
            <a:r>
              <a:rPr lang="en-US" sz="1500" dirty="0">
                <a:solidFill>
                  <a:srgbClr val="374151"/>
                </a:solidFill>
              </a:rPr>
              <a:t>Comprehension — in the participant's language, at an appropriate reading level, with opportunity to ask questions</a:t>
            </a:r>
            <a:endParaRPr lang="en-US" sz="1500" dirty="0"/>
          </a:p>
          <a:p>
            <a:pPr marL="342900" indent="-342900">
              <a:lnSpc>
                <a:spcPct val="125000"/>
              </a:lnSpc>
              <a:spcAft>
                <a:spcPts val="800"/>
              </a:spcAft>
              <a:buSzPct val="100000"/>
              <a:buChar char="•"/>
            </a:pPr>
            <a:r>
              <a:rPr lang="en-US" sz="1500" dirty="0">
                <a:solidFill>
                  <a:srgbClr val="374151"/>
                </a:solidFill>
              </a:rPr>
              <a:t>Voluntariness — free from coercion or undue inducement; compensation should cover cost and time, not act as an incentive that overrides judgement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Informed consent (2/3)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Documentation — signature, thumbprint or witnessed verbal consent, as appropriate to context and literacy</a:t>
            </a:r>
            <a:endParaRPr lang="en-US" sz="1700" dirty="0"/>
          </a:p>
          <a:p>
            <a:pPr marL="342900" indent="-342900">
              <a:lnSpc>
                <a:spcPct val="125000"/>
              </a:lnSpc>
              <a:spcAft>
                <a:spcPts val="800"/>
              </a:spcAft>
              <a:buSzPct val="100000"/>
              <a:buChar char="•"/>
            </a:pPr>
            <a:r>
              <a:rPr lang="en-US" sz="1700" dirty="0">
                <a:solidFill>
                  <a:srgbClr val="374151"/>
                </a:solidFill>
              </a:rPr>
              <a:t>The right to withdraw at any time, without giving a reason and without penalty, must be stated and honoured</a:t>
            </a:r>
            <a:endParaRPr lang="en-US" sz="1700" dirty="0"/>
          </a:p>
          <a:p>
            <a:pPr marL="342900" indent="-342900">
              <a:lnSpc>
                <a:spcPct val="125000"/>
              </a:lnSpc>
              <a:spcAft>
                <a:spcPts val="800"/>
              </a:spcAft>
              <a:buSzPct val="100000"/>
              <a:buChar char="•"/>
            </a:pPr>
            <a:r>
              <a:rPr lang="en-US" sz="1700" dirty="0">
                <a:solidFill>
                  <a:srgbClr val="374151"/>
                </a:solidFill>
              </a:rPr>
              <a:t>Children give assent while a parent or guardian gives consent; the age of assent varies by jurisdiction</a:t>
            </a:r>
            <a:endParaRPr lang="en-US" sz="1700" dirty="0"/>
          </a:p>
          <a:p>
            <a:pPr marL="342900" indent="-342900">
              <a:lnSpc>
                <a:spcPct val="125000"/>
              </a:lnSpc>
              <a:spcAft>
                <a:spcPts val="800"/>
              </a:spcAft>
              <a:buSzPct val="100000"/>
              <a:buChar char="•"/>
            </a:pPr>
            <a:r>
              <a:rPr lang="en-US" sz="1700" dirty="0">
                <a:solidFill>
                  <a:srgbClr val="374151"/>
                </a:solidFill>
              </a:rPr>
              <a:t>Consent is a process, not a signature: it should be revisited in longitudinal and ethnographic work</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Informed consent (3/3)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Waiver of consent may be granted for anonymised secondary data or minimal-risk record review, but only by the committee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9</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Where a clinician recruits their own patients, or a lecturer their own students, the power relationship can make refusal feel impossible. Address this explicitly in the application — usually by having someone independent take consent.</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Review and approval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Institutional Review Boards and Research Ethics Committees review before any data are collected</a:t>
            </a:r>
            <a:endParaRPr lang="en-US" sz="1500" dirty="0"/>
          </a:p>
          <a:p>
            <a:pPr marL="342900" indent="-342900">
              <a:lnSpc>
                <a:spcPct val="125000"/>
              </a:lnSpc>
              <a:spcAft>
                <a:spcPts val="800"/>
              </a:spcAft>
              <a:buSzPct val="100000"/>
              <a:buChar char="•"/>
            </a:pPr>
            <a:r>
              <a:rPr lang="en-US" sz="1500" dirty="0">
                <a:solidFill>
                  <a:srgbClr val="374151"/>
                </a:solidFill>
              </a:rPr>
              <a:t>In Ghana, approvals commonly involve institutional RECs and, depending on the work, the Ghana Health Service Ethics Review Committee or the FDA</a:t>
            </a:r>
            <a:endParaRPr lang="en-US" sz="1500" dirty="0"/>
          </a:p>
          <a:p>
            <a:pPr marL="342900" indent="-342900">
              <a:lnSpc>
                <a:spcPct val="125000"/>
              </a:lnSpc>
              <a:spcAft>
                <a:spcPts val="800"/>
              </a:spcAft>
              <a:buSzPct val="100000"/>
              <a:buChar char="•"/>
            </a:pPr>
            <a:r>
              <a:rPr lang="en-US" sz="1500" dirty="0">
                <a:solidFill>
                  <a:srgbClr val="374151"/>
                </a:solidFill>
              </a:rPr>
              <a:t>A typical application requires the protocol, instruments, information sheet, consent form, translations, CVs and a data management plan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Review and approval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Committees most often query: unclear risk-benefit, weak consent for vulnerable groups, inadequate data protection, undisclosed conflicts, and underpowered designs</a:t>
            </a:r>
            <a:endParaRPr lang="en-US" sz="1300" dirty="0"/>
          </a:p>
          <a:p>
            <a:pPr marL="342900" indent="-342900">
              <a:lnSpc>
                <a:spcPct val="125000"/>
              </a:lnSpc>
              <a:spcAft>
                <a:spcPts val="800"/>
              </a:spcAft>
              <a:buSzPct val="100000"/>
              <a:buChar char="•"/>
            </a:pPr>
            <a:r>
              <a:rPr lang="en-US" sz="1300" dirty="0">
                <a:solidFill>
                  <a:srgbClr val="374151"/>
                </a:solidFill>
              </a:rPr>
              <a:t>Approval is time-limited; amendments and extensions must be submitted, and adverse events reported</a:t>
            </a:r>
            <a:endParaRPr lang="en-US" sz="1300" dirty="0"/>
          </a:p>
          <a:p>
            <a:pPr marL="342900" indent="-342900">
              <a:lnSpc>
                <a:spcPct val="125000"/>
              </a:lnSpc>
              <a:spcAft>
                <a:spcPts val="800"/>
              </a:spcAft>
              <a:buSzPct val="100000"/>
              <a:buChar char="•"/>
            </a:pPr>
            <a:r>
              <a:rPr lang="en-US" sz="1300" dirty="0">
                <a:solidFill>
                  <a:srgbClr val="374151"/>
                </a:solidFill>
              </a:rPr>
              <a:t>Publishing without approval is a serious breach — many journals require the approval number, and retraction follows if it was never obtained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Confidentiality and data protection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Anonymity means even the researcher cannot link data to a person; confidentiality means the researcher can but will not disclose</a:t>
            </a:r>
            <a:endParaRPr lang="en-US" sz="1500" dirty="0"/>
          </a:p>
          <a:p>
            <a:pPr marL="342900" indent="-342900">
              <a:lnSpc>
                <a:spcPct val="125000"/>
              </a:lnSpc>
              <a:spcAft>
                <a:spcPts val="800"/>
              </a:spcAft>
              <a:buSzPct val="100000"/>
              <a:buChar char="•"/>
            </a:pPr>
            <a:r>
              <a:rPr lang="en-US" sz="1500" dirty="0">
                <a:solidFill>
                  <a:srgbClr val="374151"/>
                </a:solidFill>
              </a:rPr>
              <a:t>Most studies offer confidentiality, not anonymity — say which, accurately</a:t>
            </a:r>
            <a:endParaRPr lang="en-US" sz="1500" dirty="0"/>
          </a:p>
          <a:p>
            <a:pPr marL="342900" indent="-342900">
              <a:lnSpc>
                <a:spcPct val="125000"/>
              </a:lnSpc>
              <a:spcAft>
                <a:spcPts val="800"/>
              </a:spcAft>
              <a:buSzPct val="100000"/>
              <a:buChar char="•"/>
            </a:pPr>
            <a:r>
              <a:rPr lang="en-US" sz="1500" dirty="0">
                <a:solidFill>
                  <a:srgbClr val="374151"/>
                </a:solidFill>
              </a:rPr>
              <a:t>De-identify at the earliest point; keep any linking key in a separate, encrypted, access-controlled file</a:t>
            </a:r>
            <a:endParaRPr lang="en-US" sz="1500" dirty="0"/>
          </a:p>
          <a:p>
            <a:pPr marL="342900" indent="-342900">
              <a:lnSpc>
                <a:spcPct val="125000"/>
              </a:lnSpc>
              <a:spcAft>
                <a:spcPts val="800"/>
              </a:spcAft>
              <a:buSzPct val="100000"/>
              <a:buChar char="•"/>
            </a:pPr>
            <a:r>
              <a:rPr lang="en-US" sz="1500" dirty="0">
                <a:solidFill>
                  <a:srgbClr val="374151"/>
                </a:solidFill>
              </a:rPr>
              <a:t>Ghana's Data Protection Act 2012 (Act 843) governs personal data, requiring lawful basis, purpose limitation and security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Confidentiality and data protection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State retention periods and how data will be destroyed or archived</a:t>
            </a:r>
            <a:endParaRPr lang="en-US" sz="1500" dirty="0"/>
          </a:p>
          <a:p>
            <a:pPr marL="342900" indent="-342900">
              <a:lnSpc>
                <a:spcPct val="125000"/>
              </a:lnSpc>
              <a:spcAft>
                <a:spcPts val="800"/>
              </a:spcAft>
              <a:buSzPct val="100000"/>
              <a:buChar char="•"/>
            </a:pPr>
            <a:r>
              <a:rPr lang="en-US" sz="1500" dirty="0">
                <a:solidFill>
                  <a:srgbClr val="374151"/>
                </a:solidFill>
              </a:rPr>
              <a:t>Qualitative data are especially re-identifiable — a role plus a district can identify someone even without a name</a:t>
            </a:r>
            <a:endParaRPr lang="en-US" sz="1500" dirty="0"/>
          </a:p>
          <a:p>
            <a:pPr marL="342900" indent="-342900">
              <a:lnSpc>
                <a:spcPct val="125000"/>
              </a:lnSpc>
              <a:spcAft>
                <a:spcPts val="800"/>
              </a:spcAft>
              <a:buSzPct val="100000"/>
              <a:buChar char="•"/>
            </a:pPr>
            <a:r>
              <a:rPr lang="en-US" sz="1500" dirty="0">
                <a:solidFill>
                  <a:srgbClr val="374151"/>
                </a:solidFill>
              </a:rPr>
              <a:t>Confidentiality has limits: disclosure of imminent harm or of certain crimes may compel action, and participants must be told this in advance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Integrity, authorship and AI (1/3)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Fabrication (inventing data), falsification (altering data) and plagiarism are the three classical forms of misconduct</a:t>
            </a:r>
            <a:endParaRPr lang="en-US" sz="1500" dirty="0"/>
          </a:p>
          <a:p>
            <a:pPr marL="342900" indent="-342900">
              <a:lnSpc>
                <a:spcPct val="125000"/>
              </a:lnSpc>
              <a:spcAft>
                <a:spcPts val="800"/>
              </a:spcAft>
              <a:buSzPct val="100000"/>
              <a:buChar char="•"/>
            </a:pPr>
            <a:r>
              <a:rPr lang="en-US" sz="1500" dirty="0">
                <a:solidFill>
                  <a:srgbClr val="374151"/>
                </a:solidFill>
              </a:rPr>
              <a:t>Self-plagiarism and duplicate publication are also breaches, even though the text is your own</a:t>
            </a:r>
            <a:endParaRPr lang="en-US" sz="1500" dirty="0"/>
          </a:p>
          <a:p>
            <a:pPr marL="342900" indent="-342900">
              <a:lnSpc>
                <a:spcPct val="125000"/>
              </a:lnSpc>
              <a:spcAft>
                <a:spcPts val="800"/>
              </a:spcAft>
              <a:buSzPct val="100000"/>
              <a:buChar char="•"/>
            </a:pPr>
            <a:r>
              <a:rPr lang="en-US" sz="1500" dirty="0">
                <a:solidFill>
                  <a:srgbClr val="374151"/>
                </a:solidFill>
              </a:rPr>
              <a:t>ICMJE authorship requires all four: substantial contribution, drafting or critical revision, final approval, and accountability for the work</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Integrity, authorship and AI (2/3)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Supervisors are not automatically authors; funders and heads of department are not authors by virtue of position — gift authorship is a breach</a:t>
            </a:r>
            <a:endParaRPr lang="en-US" sz="1500" dirty="0"/>
          </a:p>
          <a:p>
            <a:pPr marL="342900" indent="-342900">
              <a:lnSpc>
                <a:spcPct val="125000"/>
              </a:lnSpc>
              <a:spcAft>
                <a:spcPts val="800"/>
              </a:spcAft>
              <a:buSzPct val="100000"/>
              <a:buChar char="•"/>
            </a:pPr>
            <a:r>
              <a:rPr lang="en-US" sz="1500" dirty="0">
                <a:solidFill>
                  <a:srgbClr val="374151"/>
                </a:solidFill>
              </a:rPr>
              <a:t>Agree the authorship order in writing at the start, not after the results arrive</a:t>
            </a:r>
            <a:endParaRPr lang="en-US" sz="1500" dirty="0"/>
          </a:p>
          <a:p>
            <a:pPr marL="342900" indent="-342900">
              <a:lnSpc>
                <a:spcPct val="125000"/>
              </a:lnSpc>
              <a:spcAft>
                <a:spcPts val="800"/>
              </a:spcAft>
              <a:buSzPct val="100000"/>
              <a:buChar char="•"/>
            </a:pPr>
            <a:r>
              <a:rPr lang="en-US" sz="1500" dirty="0">
                <a:solidFill>
                  <a:srgbClr val="374151"/>
                </a:solidFill>
              </a:rPr>
              <a:t>Declare funding and conflicts of interest; register trials prospectively and consider preregistering observational protocols</a:t>
            </a:r>
            <a:endParaRPr lang="en-US" sz="1500" dirty="0"/>
          </a:p>
          <a:p>
            <a:pPr marL="342900" indent="-342900">
              <a:lnSpc>
                <a:spcPct val="125000"/>
              </a:lnSpc>
              <a:spcAft>
                <a:spcPts val="800"/>
              </a:spcAft>
              <a:buSzPct val="100000"/>
              <a:buChar char="•"/>
            </a:pPr>
            <a:r>
              <a:rPr lang="en-US" sz="1500" dirty="0">
                <a:solidFill>
                  <a:srgbClr val="374151"/>
                </a:solidFill>
              </a:rPr>
              <a:t>Report negative and null results — suppressing them distorts the literature and wastes participants' contribution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Integrity, authorship and AI (3/3)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AI tools may assist with language, structure and code, but the researcher remains accountable for every claim; AI cannot be an author, must not be used to generate data or references, and its use should be disclosed as journals and institutions increasingly require</a:t>
            </a:r>
            <a:endParaRPr lang="en-US" sz="1300" dirty="0"/>
          </a:p>
          <a:p>
            <a:pPr marL="342900" indent="-342900">
              <a:lnSpc>
                <a:spcPct val="125000"/>
              </a:lnSpc>
              <a:spcAft>
                <a:spcPts val="800"/>
              </a:spcAft>
              <a:buSzPct val="100000"/>
              <a:buChar char="•"/>
            </a:pPr>
            <a:r>
              <a:rPr lang="en-US" sz="1300" dirty="0">
                <a:solidFill>
                  <a:srgbClr val="374151"/>
                </a:solidFill>
              </a:rPr>
              <a:t>Never paste identifiable participant data into a public AI service — that is a data protection breach regardless of the research value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9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Consent when the researcher holds power over the participant</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lecturer wants to survey her own final-year students about their experience of the programme. She will administer it herself, at the end of a lecture she teaches.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Students may reasonably fear that declining, or answering critically, could affect their marks.</a:t>
            </a:r>
            <a:endParaRPr lang="en-US" sz="1300" dirty="0"/>
          </a:p>
          <a:p>
            <a:pPr marL="342900" indent="-342900">
              <a:lnSpc>
                <a:spcPct val="115000"/>
              </a:lnSpc>
              <a:buSzPct val="100000"/>
              <a:buFont typeface="+mj-lt"/>
              <a:buAutoNum type="arabicPeriod" startAt="1"/>
            </a:pPr>
            <a:r>
              <a:rPr lang="en-US" sz="1300" dirty="0">
                <a:solidFill>
                  <a:srgbClr val="374151"/>
                </a:solidFill>
              </a:rPr>
              <a:t>That fear compromises voluntariness even if the lecturer would never act on it — the perception is enough.</a:t>
            </a:r>
            <a:endParaRPr lang="en-US" sz="1300" dirty="0"/>
          </a:p>
          <a:p>
            <a:pPr marL="342900" indent="-342900">
              <a:lnSpc>
                <a:spcPct val="115000"/>
              </a:lnSpc>
              <a:buSzPct val="100000"/>
              <a:buFont typeface="+mj-lt"/>
              <a:buAutoNum type="arabicPeriod" startAt="1"/>
            </a:pPr>
            <a:r>
              <a:rPr lang="en-US" sz="1300" dirty="0">
                <a:solidFill>
                  <a:srgbClr val="374151"/>
                </a:solidFill>
              </a:rPr>
              <a:t>Fix one: an independent colleague, with no assessment role, administers and holds the data.</a:t>
            </a:r>
            <a:endParaRPr lang="en-US" sz="1300" dirty="0"/>
          </a:p>
          <a:p>
            <a:pPr marL="342900" indent="-342900">
              <a:lnSpc>
                <a:spcPct val="115000"/>
              </a:lnSpc>
              <a:buSzPct val="100000"/>
              <a:buFont typeface="+mj-lt"/>
              <a:buAutoNum type="arabicPeriod" startAt="1"/>
            </a:pPr>
            <a:r>
              <a:rPr lang="en-US" sz="1300" dirty="0">
                <a:solidFill>
                  <a:srgbClr val="374151"/>
                </a:solidFill>
              </a:rPr>
              <a:t>Fix two: collect responses anonymously, and only after final marks are released.</a:t>
            </a:r>
            <a:endParaRPr lang="en-US" sz="1300" dirty="0"/>
          </a:p>
          <a:p>
            <a:pPr marL="342900" indent="-342900">
              <a:lnSpc>
                <a:spcPct val="115000"/>
              </a:lnSpc>
              <a:buSzPct val="100000"/>
              <a:buFont typeface="+mj-lt"/>
              <a:buAutoNum type="arabicPeriod" startAt="1"/>
            </a:pPr>
            <a:r>
              <a:rPr lang="en-US" sz="1300" dirty="0">
                <a:solidFill>
                  <a:srgbClr val="374151"/>
                </a:solidFill>
              </a:rPr>
              <a:t>The information sheet must state plainly that participation has no bearing on assessment.</a:t>
            </a:r>
            <a:endParaRPr lang="en-US" sz="1300" dirty="0"/>
          </a:p>
          <a:p>
            <a:pPr marL="342900" indent="-342900">
              <a:lnSpc>
                <a:spcPct val="115000"/>
              </a:lnSpc>
              <a:buSzPct val="100000"/>
              <a:buFont typeface="+mj-lt"/>
              <a:buAutoNum type="arabicPeriod" startAt="1"/>
            </a:pPr>
            <a:r>
              <a:rPr lang="en-US" sz="1300" dirty="0">
                <a:solidFill>
                  <a:srgbClr val="374151"/>
                </a:solidFill>
              </a:rPr>
              <a:t>Name the power relationship explicitly in the ethics application. Committees notice when it is left out.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9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How a quotation identifies someone with no name attached</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report on medical errors quotes: "As the only male theatre nurse at the district hospital, I felt I could not challenge the surgeon."</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No name appears, yet anyone in that district can identify the speaker immediately.</a:t>
            </a:r>
            <a:endParaRPr lang="en-US" sz="1300" dirty="0"/>
          </a:p>
          <a:p>
            <a:pPr marL="342900" indent="-342900">
              <a:lnSpc>
                <a:spcPct val="115000"/>
              </a:lnSpc>
              <a:buSzPct val="100000"/>
              <a:buFont typeface="+mj-lt"/>
              <a:buAutoNum type="arabicPeriod" startAt="1"/>
            </a:pPr>
            <a:r>
              <a:rPr lang="en-US" sz="1300" dirty="0">
                <a:solidFill>
                  <a:srgbClr val="374151"/>
                </a:solidFill>
              </a:rPr>
              <a:t>Role, gender, setting and seniority combine into an identifier even when each alone would not.</a:t>
            </a:r>
            <a:endParaRPr lang="en-US" sz="1300" dirty="0"/>
          </a:p>
          <a:p>
            <a:pPr marL="342900" indent="-342900">
              <a:lnSpc>
                <a:spcPct val="115000"/>
              </a:lnSpc>
              <a:buSzPct val="100000"/>
              <a:buFont typeface="+mj-lt"/>
              <a:buAutoNum type="arabicPeriod" startAt="1"/>
            </a:pPr>
            <a:r>
              <a:rPr lang="en-US" sz="1300" dirty="0">
                <a:solidFill>
                  <a:srgbClr val="374151"/>
                </a:solidFill>
              </a:rPr>
              <a:t>The consequences here are real — this nurse could face professional retaliation.</a:t>
            </a:r>
            <a:endParaRPr lang="en-US" sz="1300" dirty="0"/>
          </a:p>
          <a:p>
            <a:pPr marL="342900" indent="-342900">
              <a:lnSpc>
                <a:spcPct val="115000"/>
              </a:lnSpc>
              <a:buSzPct val="100000"/>
              <a:buFont typeface="+mj-lt"/>
              <a:buAutoNum type="arabicPeriod" startAt="1"/>
            </a:pPr>
            <a:r>
              <a:rPr lang="en-US" sz="1300" dirty="0">
                <a:solidFill>
                  <a:srgbClr val="374151"/>
                </a:solidFill>
              </a:rPr>
              <a:t>Options: remove the role detail, aggregate the setting to "a district hospital in the region", or paraphrase rather than quote.</a:t>
            </a:r>
            <a:endParaRPr lang="en-US" sz="1300" dirty="0"/>
          </a:p>
          <a:p>
            <a:pPr marL="342900" indent="-342900">
              <a:lnSpc>
                <a:spcPct val="115000"/>
              </a:lnSpc>
              <a:buSzPct val="100000"/>
              <a:buFont typeface="+mj-lt"/>
              <a:buAutoNum type="arabicPeriod" startAt="1"/>
            </a:pPr>
            <a:r>
              <a:rPr lang="en-US" sz="1300" dirty="0">
                <a:solidFill>
                  <a:srgbClr val="374151"/>
                </a:solidFill>
              </a:rPr>
              <a:t>Where the detail is essential to the point, go back to the participant and ask before publishing.</a:t>
            </a:r>
            <a:endParaRPr lang="en-US" sz="1300" dirty="0"/>
          </a:p>
          <a:p>
            <a:pPr marL="342900" indent="-342900">
              <a:lnSpc>
                <a:spcPct val="115000"/>
              </a:lnSpc>
              <a:buSzPct val="100000"/>
              <a:buFont typeface="+mj-lt"/>
              <a:buAutoNum type="arabicPeriod" startAt="1"/>
            </a:pPr>
            <a:r>
              <a:rPr lang="en-US" sz="1300" dirty="0">
                <a:solidFill>
                  <a:srgbClr val="374151"/>
                </a:solidFill>
              </a:rPr>
              <a:t>Say in the information sheet how quotations will be handled, so consent covers what you actually do.</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Autonomy — The principle that competent people decide for themselves whether to participate.</a:t>
            </a:r>
            <a:endParaRPr lang="en-US" sz="1700" dirty="0"/>
          </a:p>
          <a:p>
            <a:pPr marL="342900" indent="-342900">
              <a:lnSpc>
                <a:spcPct val="125000"/>
              </a:lnSpc>
              <a:spcAft>
                <a:spcPts val="800"/>
              </a:spcAft>
              <a:buSzPct val="100000"/>
              <a:buChar char="•"/>
            </a:pPr>
            <a:r>
              <a:rPr lang="en-US" sz="1700" dirty="0">
                <a:solidFill>
                  <a:srgbClr val="374151"/>
                </a:solidFill>
              </a:rPr>
              <a:t>Beneficence — The obligation to maximise benefit and minimise harm to participants.</a:t>
            </a:r>
            <a:endParaRPr lang="en-US" sz="1700" dirty="0"/>
          </a:p>
          <a:p>
            <a:pPr marL="342900" indent="-342900">
              <a:lnSpc>
                <a:spcPct val="125000"/>
              </a:lnSpc>
              <a:spcAft>
                <a:spcPts val="800"/>
              </a:spcAft>
              <a:buSzPct val="100000"/>
              <a:buChar char="•"/>
            </a:pPr>
            <a:r>
              <a:rPr lang="en-US" sz="1700" dirty="0">
                <a:solidFill>
                  <a:srgbClr val="374151"/>
                </a:solidFill>
              </a:rPr>
              <a:t>Justice — Fair distribution of the burdens and benefits of research across groups.</a:t>
            </a:r>
            <a:endParaRPr lang="en-US" sz="1700" dirty="0"/>
          </a:p>
          <a:p>
            <a:pPr marL="342900" indent="-342900">
              <a:lnSpc>
                <a:spcPct val="125000"/>
              </a:lnSpc>
              <a:spcAft>
                <a:spcPts val="800"/>
              </a:spcAft>
              <a:buSzPct val="100000"/>
              <a:buChar char="•"/>
            </a:pPr>
            <a:r>
              <a:rPr lang="en-US" sz="1700" dirty="0">
                <a:solidFill>
                  <a:srgbClr val="374151"/>
                </a:solidFill>
              </a:rPr>
              <a:t>Assent — A child's own agreement to take part, alongside a guardian's consent.</a:t>
            </a:r>
            <a:endParaRPr lang="en-US" sz="1700" dirty="0"/>
          </a:p>
          <a:p>
            <a:pPr marL="342900" indent="-342900">
              <a:lnSpc>
                <a:spcPct val="125000"/>
              </a:lnSpc>
              <a:spcAft>
                <a:spcPts val="800"/>
              </a:spcAft>
              <a:buSzPct val="100000"/>
              <a:buChar char="•"/>
            </a:pPr>
            <a:r>
              <a:rPr lang="en-US" sz="1700" dirty="0">
                <a:solidFill>
                  <a:srgbClr val="374151"/>
                </a:solidFill>
              </a:rPr>
              <a:t>Anonymity — Data cannot be linked to an individual by anyone, including the researcher.</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Confidentiality — Identifiable data exist but access is restricted and disclosure prevented.</a:t>
            </a:r>
            <a:endParaRPr lang="en-US" sz="1700" dirty="0"/>
          </a:p>
          <a:p>
            <a:pPr marL="342900" indent="-342900">
              <a:lnSpc>
                <a:spcPct val="125000"/>
              </a:lnSpc>
              <a:spcAft>
                <a:spcPts val="800"/>
              </a:spcAft>
              <a:buSzPct val="100000"/>
              <a:buChar char="•"/>
            </a:pPr>
            <a:r>
              <a:rPr lang="en-US" sz="1700" dirty="0">
                <a:solidFill>
                  <a:srgbClr val="374151"/>
                </a:solidFill>
              </a:rPr>
              <a:t>Gift authorship — Naming as author someone who has not met the criteria for authorship.</a:t>
            </a:r>
            <a:endParaRPr lang="en-US" sz="1700" dirty="0"/>
          </a:p>
          <a:p>
            <a:pPr marL="342900" indent="-342900">
              <a:lnSpc>
                <a:spcPct val="125000"/>
              </a:lnSpc>
              <a:spcAft>
                <a:spcPts val="800"/>
              </a:spcAft>
              <a:buSzPct val="100000"/>
              <a:buChar char="•"/>
            </a:pPr>
            <a:r>
              <a:rPr lang="en-US" sz="1700" dirty="0">
                <a:solidFill>
                  <a:srgbClr val="374151"/>
                </a:solidFill>
              </a:rPr>
              <a:t>Equipoise — Genuine uncertainty about which trial arm is superior, the ethical basis for randomising.</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You plan to interview nurses about errors they have witnessed. Draft the confidentiality paragraph of your information sheet, including its limits. Then list every way a reader might identify a participant from a quotation, and state how you would prevent each.</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10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Writing the Proposal, Rigour and Dissemination</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Assembling everything into a proposal that will be approved and funded, building in rigour rather than claiming it, and planning how findings will reach the people who can act on them.</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Structure a research proposal to the standard expected by committees and funders</a:t>
            </a:r>
            <a:endParaRPr lang="en-US" sz="1700" dirty="0"/>
          </a:p>
          <a:p>
            <a:pPr marL="342900" indent="-342900">
              <a:lnSpc>
                <a:spcPct val="125000"/>
              </a:lnSpc>
              <a:spcAft>
                <a:spcPts val="800"/>
              </a:spcAft>
              <a:buSzPct val="100000"/>
              <a:buChar char="•"/>
            </a:pPr>
            <a:r>
              <a:rPr lang="en-US" sz="1700" dirty="0">
                <a:solidFill>
                  <a:srgbClr val="374151"/>
                </a:solidFill>
              </a:rPr>
              <a:t>Write a methods section detailed enough to be reproduced</a:t>
            </a:r>
            <a:endParaRPr lang="en-US" sz="1700" dirty="0"/>
          </a:p>
          <a:p>
            <a:pPr marL="342900" indent="-342900">
              <a:lnSpc>
                <a:spcPct val="125000"/>
              </a:lnSpc>
              <a:spcAft>
                <a:spcPts val="800"/>
              </a:spcAft>
              <a:buSzPct val="100000"/>
              <a:buChar char="•"/>
            </a:pPr>
            <a:r>
              <a:rPr lang="en-US" sz="1700" dirty="0">
                <a:solidFill>
                  <a:srgbClr val="374151"/>
                </a:solidFill>
              </a:rPr>
              <a:t>Build a realistic timeline and budget</a:t>
            </a:r>
            <a:endParaRPr lang="en-US" sz="1700" dirty="0"/>
          </a:p>
          <a:p>
            <a:pPr marL="342900" indent="-342900">
              <a:lnSpc>
                <a:spcPct val="125000"/>
              </a:lnSpc>
              <a:spcAft>
                <a:spcPts val="800"/>
              </a:spcAft>
              <a:buSzPct val="100000"/>
              <a:buChar char="•"/>
            </a:pPr>
            <a:r>
              <a:rPr lang="en-US" sz="1700" dirty="0">
                <a:solidFill>
                  <a:srgbClr val="374151"/>
                </a:solidFill>
              </a:rPr>
              <a:t>State limitations honestly without undermining the study</a:t>
            </a:r>
            <a:endParaRPr lang="en-US" sz="1700" dirty="0"/>
          </a:p>
          <a:p>
            <a:pPr marL="342900" indent="-342900">
              <a:lnSpc>
                <a:spcPct val="125000"/>
              </a:lnSpc>
              <a:spcAft>
                <a:spcPts val="800"/>
              </a:spcAft>
              <a:buSzPct val="100000"/>
              <a:buChar char="•"/>
            </a:pPr>
            <a:r>
              <a:rPr lang="en-US" sz="1700" dirty="0">
                <a:solidFill>
                  <a:srgbClr val="374151"/>
                </a:solidFill>
              </a:rPr>
              <a:t>Plan a data management strategy</a:t>
            </a:r>
            <a:endParaRPr lang="en-US" sz="1700" dirty="0"/>
          </a:p>
          <a:p>
            <a:pPr marL="342900" indent="-342900">
              <a:lnSpc>
                <a:spcPct val="125000"/>
              </a:lnSpc>
              <a:spcAft>
                <a:spcPts val="800"/>
              </a:spcAft>
              <a:buSzPct val="100000"/>
              <a:buChar char="•"/>
            </a:pPr>
            <a:r>
              <a:rPr lang="en-US" sz="1700" dirty="0">
                <a:solidFill>
                  <a:srgbClr val="374151"/>
                </a:solidFill>
              </a:rPr>
              <a:t>Design a dissemination plan that reaches participants and decision makers, not only journals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Proposal structure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Title — specific, informative, usually naming design, population and setting</a:t>
            </a:r>
            <a:endParaRPr lang="en-US" sz="1700" dirty="0"/>
          </a:p>
          <a:p>
            <a:pPr marL="342900" indent="-342900">
              <a:lnSpc>
                <a:spcPct val="125000"/>
              </a:lnSpc>
              <a:spcAft>
                <a:spcPts val="800"/>
              </a:spcAft>
              <a:buSzPct val="100000"/>
              <a:buChar char="•"/>
            </a:pPr>
            <a:r>
              <a:rPr lang="en-US" sz="1700" dirty="0">
                <a:solidFill>
                  <a:srgbClr val="374151"/>
                </a:solidFill>
              </a:rPr>
              <a:t>Abstract — written last, covering background, aim, methods, expected outcomes; respect the word limit exactly</a:t>
            </a:r>
            <a:endParaRPr lang="en-US" sz="1700" dirty="0"/>
          </a:p>
          <a:p>
            <a:pPr marL="342900" indent="-342900">
              <a:lnSpc>
                <a:spcPct val="125000"/>
              </a:lnSpc>
              <a:spcAft>
                <a:spcPts val="800"/>
              </a:spcAft>
              <a:buSzPct val="100000"/>
              <a:buChar char="•"/>
            </a:pPr>
            <a:r>
              <a:rPr lang="en-US" sz="1700" dirty="0">
                <a:solidFill>
                  <a:srgbClr val="374151"/>
                </a:solidFill>
              </a:rPr>
              <a:t>Introduction and background — the problem, its magnitude, and the gap</a:t>
            </a:r>
            <a:endParaRPr lang="en-US" sz="1700" dirty="0"/>
          </a:p>
          <a:p>
            <a:pPr marL="342900" indent="-342900">
              <a:lnSpc>
                <a:spcPct val="125000"/>
              </a:lnSpc>
              <a:spcAft>
                <a:spcPts val="800"/>
              </a:spcAft>
              <a:buSzPct val="100000"/>
              <a:buChar char="•"/>
            </a:pPr>
            <a:r>
              <a:rPr lang="en-US" sz="1700" dirty="0">
                <a:solidFill>
                  <a:srgbClr val="374151"/>
                </a:solidFill>
              </a:rPr>
              <a:t>Literature review — the argument leading to your question</a:t>
            </a:r>
            <a:endParaRPr lang="en-US" sz="1700" dirty="0"/>
          </a:p>
          <a:p>
            <a:pPr marL="342900" indent="-342900">
              <a:lnSpc>
                <a:spcPct val="125000"/>
              </a:lnSpc>
              <a:spcAft>
                <a:spcPts val="800"/>
              </a:spcAft>
              <a:buSzPct val="100000"/>
              <a:buChar char="•"/>
            </a:pPr>
            <a:r>
              <a:rPr lang="en-US" sz="1700" dirty="0">
                <a:solidFill>
                  <a:srgbClr val="374151"/>
                </a:solidFill>
              </a:rPr>
              <a:t>Aim, objectives, research questions and hypotheses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Proposal structure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Methodology — design, setting, population, sampling, sample size, instruments, procedures, analysis plan</a:t>
            </a:r>
            <a:endParaRPr lang="en-US" sz="1500" dirty="0"/>
          </a:p>
          <a:p>
            <a:pPr marL="342900" indent="-342900">
              <a:lnSpc>
                <a:spcPct val="125000"/>
              </a:lnSpc>
              <a:spcAft>
                <a:spcPts val="800"/>
              </a:spcAft>
              <a:buSzPct val="100000"/>
              <a:buChar char="•"/>
            </a:pPr>
            <a:r>
              <a:rPr lang="en-US" sz="1500" dirty="0">
                <a:solidFill>
                  <a:srgbClr val="374151"/>
                </a:solidFill>
              </a:rPr>
              <a:t>Ethical considerations — approvals sought, consent, confidentiality, risk mitigation</a:t>
            </a:r>
            <a:endParaRPr lang="en-US" sz="1500" dirty="0"/>
          </a:p>
          <a:p>
            <a:pPr marL="342900" indent="-342900">
              <a:lnSpc>
                <a:spcPct val="125000"/>
              </a:lnSpc>
              <a:spcAft>
                <a:spcPts val="800"/>
              </a:spcAft>
              <a:buSzPct val="100000"/>
              <a:buChar char="•"/>
            </a:pPr>
            <a:r>
              <a:rPr lang="en-US" sz="1500" dirty="0">
                <a:solidFill>
                  <a:srgbClr val="374151"/>
                </a:solidFill>
              </a:rPr>
              <a:t>Timeline, budget, references, appendices with instruments and consent forms</a:t>
            </a:r>
            <a:endParaRPr lang="en-US" sz="1500" dirty="0"/>
          </a:p>
          <a:p>
            <a:pPr marL="342900" indent="-342900">
              <a:lnSpc>
                <a:spcPct val="125000"/>
              </a:lnSpc>
              <a:spcAft>
                <a:spcPts val="800"/>
              </a:spcAft>
              <a:buSzPct val="100000"/>
              <a:buChar char="•"/>
            </a:pPr>
            <a:r>
              <a:rPr lang="en-US" sz="1500" dirty="0">
                <a:solidFill>
                  <a:srgbClr val="374151"/>
                </a:solidFill>
              </a:rPr>
              <a:t>Reviewers commonly read the aim, then jump to sampling, sample size and analysis — those must survive isolated scrutiny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methods section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The test is reproducibility: could a competent stranger repeat this from what you wrote?</a:t>
            </a:r>
            <a:endParaRPr lang="en-US" sz="1700" dirty="0"/>
          </a:p>
          <a:p>
            <a:pPr marL="342900" indent="-342900">
              <a:lnSpc>
                <a:spcPct val="125000"/>
              </a:lnSpc>
              <a:spcAft>
                <a:spcPts val="800"/>
              </a:spcAft>
              <a:buSzPct val="100000"/>
              <a:buChar char="•"/>
            </a:pPr>
            <a:r>
              <a:rPr lang="en-US" sz="1700" dirty="0">
                <a:solidFill>
                  <a:srgbClr val="374151"/>
                </a:solidFill>
              </a:rPr>
              <a:t>Specify inclusion and exclusion criteria at the level of the individual participant</a:t>
            </a:r>
            <a:endParaRPr lang="en-US" sz="1700" dirty="0"/>
          </a:p>
          <a:p>
            <a:pPr marL="342900" indent="-342900">
              <a:lnSpc>
                <a:spcPct val="125000"/>
              </a:lnSpc>
              <a:spcAft>
                <a:spcPts val="800"/>
              </a:spcAft>
              <a:buSzPct val="100000"/>
              <a:buChar char="•"/>
            </a:pPr>
            <a:r>
              <a:rPr lang="en-US" sz="1700" dirty="0">
                <a:solidFill>
                  <a:srgbClr val="374151"/>
                </a:solidFill>
              </a:rPr>
              <a:t>State the sample size calculation with every input, not just the result</a:t>
            </a:r>
            <a:endParaRPr lang="en-US" sz="1700" dirty="0"/>
          </a:p>
          <a:p>
            <a:pPr marL="342900" indent="-342900">
              <a:lnSpc>
                <a:spcPct val="125000"/>
              </a:lnSpc>
              <a:spcAft>
                <a:spcPts val="800"/>
              </a:spcAft>
              <a:buSzPct val="100000"/>
              <a:buChar char="•"/>
            </a:pPr>
            <a:r>
              <a:rPr lang="en-US" sz="1700" dirty="0">
                <a:solidFill>
                  <a:srgbClr val="374151"/>
                </a:solidFill>
              </a:rPr>
              <a:t>Name the statistical tests against each objective, and say how missing data and confounding will be handled</a:t>
            </a:r>
            <a:endParaRPr lang="en-US" sz="1700" dirty="0"/>
          </a:p>
          <a:p>
            <a:pPr marL="342900" indent="-342900">
              <a:lnSpc>
                <a:spcPct val="125000"/>
              </a:lnSpc>
              <a:spcAft>
                <a:spcPts val="800"/>
              </a:spcAft>
              <a:buSzPct val="100000"/>
              <a:buChar char="•"/>
            </a:pPr>
            <a:r>
              <a:rPr lang="en-US" sz="1700" dirty="0">
                <a:solidFill>
                  <a:srgbClr val="374151"/>
                </a:solidFill>
              </a:rPr>
              <a:t>Pre-specify the analysis plan; deciding tests after seeing the data invites accusations of p-hacking</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methods section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For qualitative work, state the analytic approach, who will code, and how disagreements will be resolved</a:t>
            </a:r>
            <a:endParaRPr lang="en-US" sz="1300" dirty="0"/>
          </a:p>
          <a:p>
            <a:pPr marL="342900" indent="-342900">
              <a:lnSpc>
                <a:spcPct val="125000"/>
              </a:lnSpc>
              <a:spcAft>
                <a:spcPts val="800"/>
              </a:spcAft>
              <a:buSzPct val="100000"/>
              <a:buChar char="•"/>
            </a:pPr>
            <a:r>
              <a:rPr lang="en-US" sz="1300" dirty="0">
                <a:solidFill>
                  <a:srgbClr val="374151"/>
                </a:solidFill>
              </a:rPr>
              <a:t>Use the relevant reporting checklist while writing rather than afterwards: CONSORT for trials, STROBE for observational studies, COREQ or SRQR for qualitative work, PRISMA for reviews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10</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Reporting checklists are usually treated as a publication chore. Used at the proposal stage they function as a design checklist, and they surface the omissions reviewers would have found later.</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Timeline, budget and feasibility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Build the timeline backwards from the deadline, and add contingency — ethical approval alone commonly takes one to three months</a:t>
            </a:r>
            <a:endParaRPr lang="en-US" sz="1300" dirty="0"/>
          </a:p>
          <a:p>
            <a:pPr marL="342900" indent="-342900">
              <a:lnSpc>
                <a:spcPct val="125000"/>
              </a:lnSpc>
              <a:spcAft>
                <a:spcPts val="800"/>
              </a:spcAft>
              <a:buSzPct val="100000"/>
              <a:buChar char="•"/>
            </a:pPr>
            <a:r>
              <a:rPr lang="en-US" sz="1300" dirty="0">
                <a:solidFill>
                  <a:srgbClr val="374151"/>
                </a:solidFill>
              </a:rPr>
              <a:t>A Gantt chart makes dependencies visible: recruitment cannot begin before approval, analysis cannot begin before data cleaning</a:t>
            </a:r>
            <a:endParaRPr lang="en-US" sz="1300" dirty="0"/>
          </a:p>
          <a:p>
            <a:pPr marL="342900" indent="-342900">
              <a:lnSpc>
                <a:spcPct val="125000"/>
              </a:lnSpc>
              <a:spcAft>
                <a:spcPts val="800"/>
              </a:spcAft>
              <a:buSzPct val="100000"/>
              <a:buChar char="•"/>
            </a:pPr>
            <a:r>
              <a:rPr lang="en-US" sz="1300" dirty="0">
                <a:solidFill>
                  <a:srgbClr val="374151"/>
                </a:solidFill>
              </a:rPr>
              <a:t>Budget lines typically include personnel, transport, materials, participant compensation, data collection tools, software, transcription and translation, dissemination</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Timeline, budget and feasibility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Transcription is routinely underestimated — an hour of interview takes roughly four to six hours to transcribe</a:t>
            </a:r>
            <a:endParaRPr lang="en-US" sz="1700" dirty="0"/>
          </a:p>
          <a:p>
            <a:pPr marL="342900" indent="-342900">
              <a:lnSpc>
                <a:spcPct val="125000"/>
              </a:lnSpc>
              <a:spcAft>
                <a:spcPts val="800"/>
              </a:spcAft>
              <a:buSzPct val="100000"/>
              <a:buChar char="•"/>
            </a:pPr>
            <a:r>
              <a:rPr lang="en-US" sz="1700" dirty="0">
                <a:solidFill>
                  <a:srgbClr val="374151"/>
                </a:solidFill>
              </a:rPr>
              <a:t>Justify every line; unexplained round numbers attract scrutiny</a:t>
            </a:r>
            <a:endParaRPr lang="en-US" sz="1700" dirty="0"/>
          </a:p>
          <a:p>
            <a:pPr marL="342900" indent="-342900">
              <a:lnSpc>
                <a:spcPct val="125000"/>
              </a:lnSpc>
              <a:spcAft>
                <a:spcPts val="800"/>
              </a:spcAft>
              <a:buSzPct val="100000"/>
              <a:buChar char="•"/>
            </a:pPr>
            <a:r>
              <a:rPr lang="en-US" sz="1700" dirty="0">
                <a:solidFill>
                  <a:srgbClr val="374151"/>
                </a:solidFill>
              </a:rPr>
              <a:t>State what you will do if recruitment is slower than planned — reviewers ask</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limitations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Rigour is designed in, not asserted at the end</a:t>
            </a:r>
            <a:endParaRPr lang="en-US" sz="1500" dirty="0"/>
          </a:p>
          <a:p>
            <a:pPr marL="342900" indent="-342900">
              <a:lnSpc>
                <a:spcPct val="125000"/>
              </a:lnSpc>
              <a:spcAft>
                <a:spcPts val="800"/>
              </a:spcAft>
              <a:buSzPct val="100000"/>
              <a:buChar char="•"/>
            </a:pPr>
            <a:r>
              <a:rPr lang="en-US" sz="1500" dirty="0">
                <a:solidFill>
                  <a:srgbClr val="374151"/>
                </a:solidFill>
              </a:rPr>
              <a:t>Quantitative: adequate power, valid instruments, control of confounding, pre-specified analysis, appropriate handling of missing data</a:t>
            </a:r>
            <a:endParaRPr lang="en-US" sz="1500" dirty="0"/>
          </a:p>
          <a:p>
            <a:pPr marL="342900" indent="-342900">
              <a:lnSpc>
                <a:spcPct val="125000"/>
              </a:lnSpc>
              <a:spcAft>
                <a:spcPts val="800"/>
              </a:spcAft>
              <a:buSzPct val="100000"/>
              <a:buChar char="•"/>
            </a:pPr>
            <a:r>
              <a:rPr lang="en-US" sz="1500" dirty="0">
                <a:solidFill>
                  <a:srgbClr val="374151"/>
                </a:solidFill>
              </a:rPr>
              <a:t>Qualitative: audit trail, reflexivity, triangulation, thick description, transparent coding</a:t>
            </a:r>
            <a:endParaRPr lang="en-US" sz="1500" dirty="0"/>
          </a:p>
          <a:p>
            <a:pPr marL="342900" indent="-342900">
              <a:lnSpc>
                <a:spcPct val="125000"/>
              </a:lnSpc>
              <a:spcAft>
                <a:spcPts val="800"/>
              </a:spcAft>
              <a:buSzPct val="100000"/>
              <a:buChar char="•"/>
            </a:pPr>
            <a:r>
              <a:rPr lang="en-US" sz="1500" dirty="0">
                <a:solidFill>
                  <a:srgbClr val="374151"/>
                </a:solidFill>
              </a:rPr>
              <a:t>Limitations should name the threat, its likely direction, and what you did to reduce it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limitations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"Time and financial constraints" is not a limitation; a convenience sample that may over-represent urban, literate respondents is</a:t>
            </a:r>
            <a:endParaRPr lang="en-US" sz="1500" dirty="0"/>
          </a:p>
          <a:p>
            <a:pPr marL="342900" indent="-342900">
              <a:lnSpc>
                <a:spcPct val="125000"/>
              </a:lnSpc>
              <a:spcAft>
                <a:spcPts val="800"/>
              </a:spcAft>
              <a:buSzPct val="100000"/>
              <a:buChar char="•"/>
            </a:pPr>
            <a:r>
              <a:rPr lang="en-US" sz="1500" dirty="0">
                <a:solidFill>
                  <a:srgbClr val="374151"/>
                </a:solidFill>
              </a:rPr>
              <a:t>Do not list limitations so severe they undermine the study — if one does, redesign rather than disclose and proceed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management and dissemination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 data management plan states what data are collected, how stored, who has access, how backed up, how long retained and what is shared</a:t>
            </a:r>
            <a:endParaRPr lang="en-US" sz="1500" dirty="0"/>
          </a:p>
          <a:p>
            <a:pPr marL="342900" indent="-342900">
              <a:lnSpc>
                <a:spcPct val="125000"/>
              </a:lnSpc>
              <a:spcAft>
                <a:spcPts val="800"/>
              </a:spcAft>
              <a:buSzPct val="100000"/>
              <a:buChar char="•"/>
            </a:pPr>
            <a:r>
              <a:rPr lang="en-US" sz="1500" dirty="0">
                <a:solidFill>
                  <a:srgbClr val="374151"/>
                </a:solidFill>
              </a:rPr>
              <a:t>Follow the 3-2-1 rule: three copies, two media, one off-site</a:t>
            </a:r>
            <a:endParaRPr lang="en-US" sz="1500" dirty="0"/>
          </a:p>
          <a:p>
            <a:pPr marL="342900" indent="-342900">
              <a:lnSpc>
                <a:spcPct val="125000"/>
              </a:lnSpc>
              <a:spcAft>
                <a:spcPts val="800"/>
              </a:spcAft>
              <a:buSzPct val="100000"/>
              <a:buChar char="•"/>
            </a:pPr>
            <a:r>
              <a:rPr lang="en-US" sz="1500" dirty="0">
                <a:solidFill>
                  <a:srgbClr val="374151"/>
                </a:solidFill>
              </a:rPr>
              <a:t>Version your files by date and never overwrite raw data — all cleaning happens in a script or a documented copy</a:t>
            </a:r>
            <a:endParaRPr lang="en-US" sz="1500" dirty="0"/>
          </a:p>
          <a:p>
            <a:pPr marL="342900" indent="-342900">
              <a:lnSpc>
                <a:spcPct val="125000"/>
              </a:lnSpc>
              <a:spcAft>
                <a:spcPts val="800"/>
              </a:spcAft>
              <a:buSzPct val="100000"/>
              <a:buChar char="•"/>
            </a:pPr>
            <a:r>
              <a:rPr lang="en-US" sz="1500" dirty="0">
                <a:solidFill>
                  <a:srgbClr val="374151"/>
                </a:solidFill>
              </a:rPr>
              <a:t>FAIR principles — Findable, Accessible, Interoperable, Reusable — increasingly required by funders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management and dissemination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Dissemination should reach participants and their communities, not only journals: policy briefs, community feedback meetings, radio, professional bodies</a:t>
            </a:r>
            <a:endParaRPr lang="en-US" sz="1300" dirty="0"/>
          </a:p>
          <a:p>
            <a:pPr marL="342900" indent="-342900">
              <a:lnSpc>
                <a:spcPct val="125000"/>
              </a:lnSpc>
              <a:spcAft>
                <a:spcPts val="800"/>
              </a:spcAft>
              <a:buSzPct val="100000"/>
              <a:buChar char="•"/>
            </a:pPr>
            <a:r>
              <a:rPr lang="en-US" sz="1300" dirty="0">
                <a:solidFill>
                  <a:srgbClr val="374151"/>
                </a:solidFill>
              </a:rPr>
              <a:t>Feeding results back to the community that provided them is an ethical obligation, and it is what makes the next study possible</a:t>
            </a:r>
            <a:endParaRPr lang="en-US" sz="1300" dirty="0"/>
          </a:p>
          <a:p>
            <a:pPr marL="342900" indent="-342900">
              <a:lnSpc>
                <a:spcPct val="125000"/>
              </a:lnSpc>
              <a:spcAft>
                <a:spcPts val="800"/>
              </a:spcAft>
              <a:buSzPct val="100000"/>
              <a:buChar char="•"/>
            </a:pPr>
            <a:r>
              <a:rPr lang="en-US" sz="1300" dirty="0">
                <a:solidFill>
                  <a:srgbClr val="374151"/>
                </a:solidFill>
              </a:rPr>
              <a:t>Plan dissemination in the proposal, and budget for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10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 limitations section that earns marks instead of losing them</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writes: "Limitations included time and financial constraints, and a small sample size. More research is needed."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Time and money are constraints on the researcher, not limitations of the evidence — they tell the reader nothing.</a:t>
            </a:r>
            <a:endParaRPr lang="en-US" sz="1300" dirty="0"/>
          </a:p>
          <a:p>
            <a:pPr marL="342900" indent="-342900">
              <a:lnSpc>
                <a:spcPct val="115000"/>
              </a:lnSpc>
              <a:buSzPct val="100000"/>
              <a:buFont typeface="+mj-lt"/>
              <a:buAutoNum type="arabicPeriod" startAt="1"/>
            </a:pPr>
            <a:r>
              <a:rPr lang="en-US" sz="1300" dirty="0">
                <a:solidFill>
                  <a:srgbClr val="374151"/>
                </a:solidFill>
              </a:rPr>
              <a:t>"Small sample" is unquantified: small relative to what, and with what consequence?</a:t>
            </a:r>
            <a:endParaRPr lang="en-US" sz="1300" dirty="0"/>
          </a:p>
          <a:p>
            <a:pPr marL="342900" indent="-342900">
              <a:lnSpc>
                <a:spcPct val="115000"/>
              </a:lnSpc>
              <a:buSzPct val="100000"/>
              <a:buFont typeface="+mj-lt"/>
              <a:buAutoNum type="arabicPeriod" startAt="1"/>
            </a:pPr>
            <a:r>
              <a:rPr lang="en-US" sz="1300" dirty="0">
                <a:solidFill>
                  <a:srgbClr val="374151"/>
                </a:solidFill>
              </a:rPr>
              <a:t>Name the specific threat: the sample came from one urban clinic.</a:t>
            </a:r>
            <a:endParaRPr lang="en-US" sz="1300" dirty="0"/>
          </a:p>
          <a:p>
            <a:pPr marL="342900" indent="-342900">
              <a:lnSpc>
                <a:spcPct val="115000"/>
              </a:lnSpc>
              <a:buSzPct val="100000"/>
              <a:buFont typeface="+mj-lt"/>
              <a:buAutoNum type="arabicPeriod" startAt="1"/>
            </a:pPr>
            <a:r>
              <a:rPr lang="en-US" sz="1300" dirty="0">
                <a:solidFill>
                  <a:srgbClr val="374151"/>
                </a:solidFill>
              </a:rPr>
              <a:t>State the likely direction: urban patients are more literate and closer to care, so adherence is probably overestimated.</a:t>
            </a:r>
            <a:endParaRPr lang="en-US" sz="1300" dirty="0"/>
          </a:p>
          <a:p>
            <a:pPr marL="342900" indent="-342900">
              <a:lnSpc>
                <a:spcPct val="115000"/>
              </a:lnSpc>
              <a:buSzPct val="100000"/>
              <a:buFont typeface="+mj-lt"/>
              <a:buAutoNum type="arabicPeriod" startAt="1"/>
            </a:pPr>
            <a:r>
              <a:rPr lang="en-US" sz="1300" dirty="0">
                <a:solidFill>
                  <a:srgbClr val="374151"/>
                </a:solidFill>
              </a:rPr>
              <a:t>State the mitigation: findings are presented as applying to urban facility attenders, not to the district population.</a:t>
            </a:r>
            <a:endParaRPr lang="en-US" sz="1300" dirty="0"/>
          </a:p>
          <a:p>
            <a:pPr marL="342900" indent="-342900">
              <a:lnSpc>
                <a:spcPct val="115000"/>
              </a:lnSpc>
              <a:buSzPct val="100000"/>
              <a:buFont typeface="+mj-lt"/>
              <a:buAutoNum type="arabicPeriod" startAt="1"/>
            </a:pPr>
            <a:r>
              <a:rPr lang="en-US" sz="1300" dirty="0">
                <a:solidFill>
                  <a:srgbClr val="374151"/>
                </a:solidFill>
              </a:rPr>
              <a:t>Rewritten: "Recruitment from a single urban clinic likely over-represents literate, higher-income patients and probably overstates adherence; results should be read as applying to urban facility attenders."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10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Building the timeline backwards from the deadline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has 12 months and plans: "Months 1-2 proposal, 3-8 data collection, 9-10 analysis, 11-12 writing." It is already unrealistic.</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Ethical approval commonly takes 1-3 months and cannot start until the proposal is finished — so fieldwork cannot begin in month 3.</a:t>
            </a:r>
            <a:endParaRPr lang="en-US" sz="1300" dirty="0"/>
          </a:p>
          <a:p>
            <a:pPr marL="342900" indent="-342900">
              <a:lnSpc>
                <a:spcPct val="115000"/>
              </a:lnSpc>
              <a:buSzPct val="100000"/>
              <a:buFont typeface="+mj-lt"/>
              <a:buAutoNum type="arabicPeriod" startAt="1"/>
            </a:pPr>
            <a:r>
              <a:rPr lang="en-US" sz="1300" dirty="0">
                <a:solidFill>
                  <a:srgbClr val="374151"/>
                </a:solidFill>
              </a:rPr>
              <a:t>For 20 interviews at 1 hour each, transcription alone is 80-120 hours of work, which is weeks not days.</a:t>
            </a:r>
            <a:endParaRPr lang="en-US" sz="1300" dirty="0"/>
          </a:p>
          <a:p>
            <a:pPr marL="342900" indent="-342900">
              <a:lnSpc>
                <a:spcPct val="115000"/>
              </a:lnSpc>
              <a:buSzPct val="100000"/>
              <a:buFont typeface="+mj-lt"/>
              <a:buAutoNum type="arabicPeriod" startAt="1"/>
            </a:pPr>
            <a:r>
              <a:rPr lang="en-US" sz="1300" dirty="0">
                <a:solidFill>
                  <a:srgbClr val="374151"/>
                </a:solidFill>
              </a:rPr>
              <a:t>Analysis cannot begin until cleaning is done, and cleaning always takes longer than planned.</a:t>
            </a:r>
            <a:endParaRPr lang="en-US" sz="1300" dirty="0"/>
          </a:p>
          <a:p>
            <a:pPr marL="342900" indent="-342900">
              <a:lnSpc>
                <a:spcPct val="115000"/>
              </a:lnSpc>
              <a:buSzPct val="100000"/>
              <a:buFont typeface="+mj-lt"/>
              <a:buAutoNum type="arabicPeriod" startAt="1"/>
            </a:pPr>
            <a:r>
              <a:rPr lang="en-US" sz="1300" dirty="0">
                <a:solidFill>
                  <a:srgbClr val="374151"/>
                </a:solidFill>
              </a:rPr>
              <a:t>Supervisors need time to read: allow two weeks per full draft, and expect at least three drafts.</a:t>
            </a:r>
            <a:endParaRPr lang="en-US" sz="1300" dirty="0"/>
          </a:p>
          <a:p>
            <a:pPr marL="342900" indent="-342900">
              <a:lnSpc>
                <a:spcPct val="115000"/>
              </a:lnSpc>
              <a:buSzPct val="100000"/>
              <a:buFont typeface="+mj-lt"/>
              <a:buAutoNum type="arabicPeriod" startAt="1"/>
            </a:pPr>
            <a:r>
              <a:rPr lang="en-US" sz="1300" dirty="0">
                <a:solidFill>
                  <a:srgbClr val="374151"/>
                </a:solidFill>
              </a:rPr>
              <a:t>Working backwards from submission: writing 3 months, analysis 2, transcription 1, fieldwork 3, approval 2, proposal 1 — that is 12 with no contingency.</a:t>
            </a:r>
            <a:endParaRPr lang="en-US" sz="1300" dirty="0"/>
          </a:p>
          <a:p>
            <a:pPr marL="342900" indent="-342900">
              <a:lnSpc>
                <a:spcPct val="115000"/>
              </a:lnSpc>
              <a:buSzPct val="100000"/>
              <a:buFont typeface="+mj-lt"/>
              <a:buAutoNum type="arabicPeriod" startAt="1"/>
            </a:pPr>
            <a:r>
              <a:rPr lang="en-US" sz="1300" dirty="0">
                <a:solidFill>
                  <a:srgbClr val="374151"/>
                </a:solidFill>
              </a:rPr>
              <a:t>So either reduce scope now, or accept the plan will slip.</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Gantt chart — A bar chart showing project activities against time, making dependencies and overlaps visible.</a:t>
            </a:r>
            <a:endParaRPr lang="en-US" sz="1500" dirty="0"/>
          </a:p>
          <a:p>
            <a:pPr marL="342900" indent="-342900">
              <a:lnSpc>
                <a:spcPct val="125000"/>
              </a:lnSpc>
              <a:spcAft>
                <a:spcPts val="800"/>
              </a:spcAft>
              <a:buSzPct val="100000"/>
              <a:buChar char="•"/>
            </a:pPr>
            <a:r>
              <a:rPr lang="en-US" sz="1500" dirty="0">
                <a:solidFill>
                  <a:srgbClr val="374151"/>
                </a:solidFill>
              </a:rPr>
              <a:t>STROBE — The reporting checklist for observational epidemiological studies.</a:t>
            </a:r>
            <a:endParaRPr lang="en-US" sz="1500" dirty="0"/>
          </a:p>
          <a:p>
            <a:pPr marL="342900" indent="-342900">
              <a:lnSpc>
                <a:spcPct val="125000"/>
              </a:lnSpc>
              <a:spcAft>
                <a:spcPts val="800"/>
              </a:spcAft>
              <a:buSzPct val="100000"/>
              <a:buChar char="•"/>
            </a:pPr>
            <a:r>
              <a:rPr lang="en-US" sz="1500" dirty="0">
                <a:solidFill>
                  <a:srgbClr val="374151"/>
                </a:solidFill>
              </a:rPr>
              <a:t>COREQ — The 32-item reporting checklist for qualitative interview and focus group research.</a:t>
            </a:r>
            <a:endParaRPr lang="en-US" sz="1500" dirty="0"/>
          </a:p>
          <a:p>
            <a:pPr marL="342900" indent="-342900">
              <a:lnSpc>
                <a:spcPct val="125000"/>
              </a:lnSpc>
              <a:spcAft>
                <a:spcPts val="800"/>
              </a:spcAft>
              <a:buSzPct val="100000"/>
              <a:buChar char="•"/>
            </a:pPr>
            <a:r>
              <a:rPr lang="en-US" sz="1500" dirty="0">
                <a:solidFill>
                  <a:srgbClr val="374151"/>
                </a:solidFill>
              </a:rPr>
              <a:t>Data management plan — A document specifying how data will be collected, stored, protected, retained and shared.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FAIR principles — Findable, Accessible, Interoperable, Reusable — standards for research data stewardship.</a:t>
            </a:r>
            <a:endParaRPr lang="en-US" sz="1700" dirty="0"/>
          </a:p>
          <a:p>
            <a:pPr marL="342900" indent="-342900">
              <a:lnSpc>
                <a:spcPct val="125000"/>
              </a:lnSpc>
              <a:spcAft>
                <a:spcPts val="800"/>
              </a:spcAft>
              <a:buSzPct val="100000"/>
              <a:buChar char="•"/>
            </a:pPr>
            <a:r>
              <a:rPr lang="en-US" sz="1700" dirty="0">
                <a:solidFill>
                  <a:srgbClr val="374151"/>
                </a:solidFill>
              </a:rPr>
              <a:t>p-hacking — Trying analyses until a significant result appears, then reporting only that one.</a:t>
            </a:r>
            <a:endParaRPr lang="en-US" sz="1700" dirty="0"/>
          </a:p>
          <a:p>
            <a:pPr marL="342900" indent="-342900">
              <a:lnSpc>
                <a:spcPct val="125000"/>
              </a:lnSpc>
              <a:spcAft>
                <a:spcPts val="800"/>
              </a:spcAft>
              <a:buSzPct val="100000"/>
              <a:buChar char="•"/>
            </a:pPr>
            <a:r>
              <a:rPr lang="en-US" sz="1700" dirty="0">
                <a:solidFill>
                  <a:srgbClr val="374151"/>
                </a:solidFill>
              </a:rPr>
              <a:t>Policy brief — A short, non-technical summary of findings and recommendations aimed at decision makers.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Assemble a two-page proposal skeleton for your own study: title, aim, three objectives, design, sampling and sample size, analysis plan, and three limitations each stating direction and mitigation. Exchange with a partner and mark it against the relevant reporting checklist.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Institute of Computational Biology and Bioinformatics (ICBB)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Research Methods: Quantitative &amp; Qualitative Design</dc:title>
  <dc:subject>Research Methods: Quantitative &amp; Qualitative Design</dc:subject>
  <dc:creator>Jesse Anak</dc:creator>
  <cp:lastModifiedBy>Jesse Anak</cp:lastModifiedBy>
  <cp:revision>1</cp:revision>
  <dcterms:created xsi:type="dcterms:W3CDTF">2026-08-18T23:34:15Z</dcterms:created>
  <dcterms:modified xsi:type="dcterms:W3CDTF">2026-08-18T23:34:15Z</dcterms:modified>
</cp:coreProperties>
</file>