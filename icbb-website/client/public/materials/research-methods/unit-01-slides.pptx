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 Foundations of Research
Duration: 90 minutes
Objectives:
- Define research and distinguish it from opinion, audit and routine reporting
- Classify research by purpose, approach and time dimension
- Explain the difference between positivist, interpretivist and pragmatic paradigms
- Trace how a paradigm constrains the designs available to you
- Describe the stages of the research process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at the start and return to them at the end of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Decide which one you are doing before you collect anything. Teams that start as audit and later try to publish are routinely told the work needed ethical approval it never obtained.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Examiners read the paradigm statement and the method side by side. This mismatch is one of the most common reasons for a viva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10-15 minutes, then take feedback from two or three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CBB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18872" cy="5148072"/>
          </a:xfrm>
          <a:prstGeom prst="rect">
            <a:avLst/>
          </a:prstGeom>
          <a:solidFill>
            <a:srgbClr val="0066CC"/>
          </a:solidFill>
          <a:ln/>
        </p:spPr>
      </p:sp>
      <p:pic>
        <p:nvPicPr>
          <p:cNvPr id="3" name="Image 0" descr="preencoded.png">    </p:cNvPr>
          <p:cNvPicPr>
            <a:picLocks noChangeAspect="1"/>
          </p:cNvPicPr>
          <p:nvPr/>
        </p:nvPicPr>
        <p:blipFill>
          <a:blip r:embed="rId1">
            <a:alphaModFix amt="18000"/>
          </a:blip>
          <a:stretch>
            <a:fillRect/>
          </a:stretch>
        </p:blipFill>
        <p:spPr>
          <a:xfrm>
            <a:off x="6903720" y="3977640"/>
            <a:ext cx="1920240" cy="1280160"/>
          </a:xfrm>
          <a:prstGeom prst="rect">
            <a:avLst/>
          </a:prstGeom>
        </p:spPr>
      </p:pic>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CBB_TITLE">
    <p:bg>
      <p:bgPr>
        <a:solidFill>
          <a:srgbClr val="004D99"/>
        </a:solidFill>
      </p:bgPr>
    </p:bg>
    <p:spTree>
      <p:nvGrpSpPr>
        <p:cNvPr id="1" name=""/>
        <p:cNvGrpSpPr/>
        <p:nvPr/>
      </p:nvGrpSpPr>
      <p:grpSpPr>
        <a:xfrm>
          <a:off x="0" y="0"/>
          <a:ext cx="0" cy="0"/>
          <a:chOff x="0" y="0"/>
          <a:chExt cx="0" cy="0"/>
        </a:xfrm>
      </p:grpSpPr>
      <p:sp>
        <p:nvSpPr>
          <p:cNvPr id="2" name="Shape 0"/>
          <p:cNvSpPr/>
          <p:nvPr/>
        </p:nvSpPr>
        <p:spPr>
          <a:xfrm>
            <a:off x="0" y="4526280"/>
            <a:ext cx="9144000" cy="621792"/>
          </a:xfrm>
          <a:prstGeom prst="rect">
            <a:avLst/>
          </a:prstGeom>
          <a:solidFill>
            <a:srgbClr val="00A86B"/>
          </a:solidFill>
          <a:ln/>
        </p:spPr>
      </p:sp>
      <p:pic>
        <p:nvPicPr>
          <p:cNvPr id="3" name="Image 0" descr="preencoded.png">    </p:cNvPr>
          <p:cNvPicPr>
            <a:picLocks noChangeAspect="1"/>
          </p:cNvPicPr>
          <p:nvPr/>
        </p:nvPicPr>
        <p:blipFill>
          <a:blip r:embed="rId1">
            <a:alphaModFix amt="75000"/>
          </a:blip>
          <a:stretch>
            <a:fillRect/>
          </a:stretch>
        </p:blipFill>
        <p:spPr>
          <a:xfrm>
            <a:off x="7452360" y="384048"/>
            <a:ext cx="1371600" cy="9144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1005840"/>
            <a:ext cx="6675120" cy="274320"/>
          </a:xfrm>
          <a:prstGeom prst="rect">
            <a:avLst/>
          </a:prstGeom>
          <a:noFill/>
          <a:ln/>
        </p:spPr>
        <p:txBody>
          <a:bodyPr wrap="square" rtlCol="0" anchor="ctr"/>
          <a:lstStyle/>
          <a:p>
            <a:pPr indent="0" marL="0">
              <a:buNone/>
            </a:pPr>
            <a:r>
              <a:rPr lang="en-US" sz="1200" b="1" spc="200" kern="0" dirty="0">
                <a:solidFill>
                  <a:srgbClr val="00A86B"/>
                </a:solidFill>
              </a:rPr>
              <a:t>ICBB-RM101  ·  UNIT 1 OF 10</a:t>
            </a:r>
            <a:endParaRPr lang="en-US" sz="1200" dirty="0"/>
          </a:p>
        </p:txBody>
      </p:sp>
      <p:sp>
        <p:nvSpPr>
          <p:cNvPr id="3" name="Text 1"/>
          <p:cNvSpPr/>
          <p:nvPr/>
        </p:nvSpPr>
        <p:spPr>
          <a:xfrm>
            <a:off x="548640" y="1371600"/>
            <a:ext cx="6766560" cy="1371600"/>
          </a:xfrm>
          <a:prstGeom prst="rect">
            <a:avLst/>
          </a:prstGeom>
          <a:noFill/>
          <a:ln/>
        </p:spPr>
        <p:txBody>
          <a:bodyPr wrap="square" rtlCol="0" anchor="t"/>
          <a:lstStyle/>
          <a:p>
            <a:pPr indent="0" marL="0">
              <a:buNone/>
            </a:pPr>
            <a:r>
              <a:rPr lang="en-US" sz="3400" b="1" dirty="0">
                <a:solidFill>
                  <a:srgbClr val="FFFFFF"/>
                </a:solidFill>
              </a:rPr>
              <a:t>Foundations of Research</a:t>
            </a:r>
            <a:endParaRPr lang="en-US" sz="3400" dirty="0"/>
          </a:p>
        </p:txBody>
      </p:sp>
      <p:sp>
        <p:nvSpPr>
          <p:cNvPr id="4" name="Text 2"/>
          <p:cNvSpPr/>
          <p:nvPr/>
        </p:nvSpPr>
        <p:spPr>
          <a:xfrm>
            <a:off x="548640" y="2788920"/>
            <a:ext cx="6766560" cy="1188720"/>
          </a:xfrm>
          <a:prstGeom prst="rect">
            <a:avLst/>
          </a:prstGeom>
          <a:noFill/>
          <a:ln/>
        </p:spPr>
        <p:txBody>
          <a:bodyPr wrap="square" rtlCol="0" anchor="t"/>
          <a:lstStyle/>
          <a:p>
            <a:pPr indent="0" marL="0">
              <a:lnSpc>
                <a:spcPct val="120000"/>
              </a:lnSpc>
              <a:buNone/>
            </a:pPr>
            <a:r>
              <a:rPr lang="en-US" sz="1400" dirty="0">
                <a:solidFill>
                  <a:srgbClr val="DCE7F5"/>
                </a:solidFill>
              </a:rPr>
              <a:t>What separates research from other ways of knowing, the main types of research, and the philosophical positions that quietly shape every methodological choice you will make later.</a:t>
            </a:r>
            <a:endParaRPr lang="en-US" sz="1400" dirty="0"/>
          </a:p>
        </p:txBody>
      </p:sp>
      <p:sp>
        <p:nvSpPr>
          <p:cNvPr id="5" name="Text 3"/>
          <p:cNvSpPr/>
          <p:nvPr/>
        </p:nvSpPr>
        <p:spPr>
          <a:xfrm>
            <a:off x="548640" y="4645152"/>
            <a:ext cx="5486400" cy="365760"/>
          </a:xfrm>
          <a:prstGeom prst="rect">
            <a:avLst/>
          </a:prstGeom>
          <a:noFill/>
          <a:ln/>
        </p:spPr>
        <p:txBody>
          <a:bodyPr wrap="square" rtlCol="0" anchor="ctr"/>
          <a:lstStyle/>
          <a:p>
            <a:pPr indent="0" marL="0">
              <a:buNone/>
            </a:pPr>
            <a:r>
              <a:rPr lang="en-US" sz="1200" b="1" dirty="0">
                <a:solidFill>
                  <a:srgbClr val="FFFFFF"/>
                </a:solidFill>
              </a:rPr>
              <a:t>Jesse Anak  ·  ICBB</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you will be able to do</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Define research and distinguish it from opinion, audit and routine reporting</a:t>
            </a:r>
            <a:endParaRPr lang="en-US" sz="1700" dirty="0"/>
          </a:p>
          <a:p>
            <a:pPr marL="342900" indent="-342900">
              <a:lnSpc>
                <a:spcPct val="125000"/>
              </a:lnSpc>
              <a:spcAft>
                <a:spcPts val="800"/>
              </a:spcAft>
              <a:buSzPct val="100000"/>
              <a:buChar char="•"/>
            </a:pPr>
            <a:r>
              <a:rPr lang="en-US" sz="1700" dirty="0">
                <a:solidFill>
                  <a:srgbClr val="374151"/>
                </a:solidFill>
              </a:rPr>
              <a:t>Classify research by purpose, approach and time dimension</a:t>
            </a:r>
            <a:endParaRPr lang="en-US" sz="1700" dirty="0"/>
          </a:p>
          <a:p>
            <a:pPr marL="342900" indent="-342900">
              <a:lnSpc>
                <a:spcPct val="125000"/>
              </a:lnSpc>
              <a:spcAft>
                <a:spcPts val="800"/>
              </a:spcAft>
              <a:buSzPct val="100000"/>
              <a:buChar char="•"/>
            </a:pPr>
            <a:r>
              <a:rPr lang="en-US" sz="1700" dirty="0">
                <a:solidFill>
                  <a:srgbClr val="374151"/>
                </a:solidFill>
              </a:rPr>
              <a:t>Explain the difference between positivist, interpretivist and pragmatic paradigms</a:t>
            </a:r>
            <a:endParaRPr lang="en-US" sz="1700" dirty="0"/>
          </a:p>
          <a:p>
            <a:pPr marL="342900" indent="-342900">
              <a:lnSpc>
                <a:spcPct val="125000"/>
              </a:lnSpc>
              <a:spcAft>
                <a:spcPts val="800"/>
              </a:spcAft>
              <a:buSzPct val="100000"/>
              <a:buChar char="•"/>
            </a:pPr>
            <a:r>
              <a:rPr lang="en-US" sz="1700" dirty="0">
                <a:solidFill>
                  <a:srgbClr val="374151"/>
                </a:solidFill>
              </a:rPr>
              <a:t>Trace how a paradigm constrains the designs available to you</a:t>
            </a:r>
            <a:endParaRPr lang="en-US" sz="1700" dirty="0"/>
          </a:p>
          <a:p>
            <a:pPr marL="342900" indent="-342900">
              <a:lnSpc>
                <a:spcPct val="125000"/>
              </a:lnSpc>
              <a:spcAft>
                <a:spcPts val="800"/>
              </a:spcAft>
              <a:buSzPct val="100000"/>
              <a:buChar char="•"/>
            </a:pPr>
            <a:r>
              <a:rPr lang="en-US" sz="1700" dirty="0">
                <a:solidFill>
                  <a:srgbClr val="374151"/>
                </a:solidFill>
              </a:rPr>
              <a:t>Describe the stages of the research process end to end</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research is, and is not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Research is systematic, planned enquiry that produces evidence capable of being checked by someone else</a:t>
            </a:r>
            <a:endParaRPr lang="en-US" sz="1500" dirty="0"/>
          </a:p>
          <a:p>
            <a:pPr marL="342900" indent="-342900">
              <a:lnSpc>
                <a:spcPct val="125000"/>
              </a:lnSpc>
              <a:spcAft>
                <a:spcPts val="800"/>
              </a:spcAft>
              <a:buSzPct val="100000"/>
              <a:buChar char="•"/>
            </a:pPr>
            <a:r>
              <a:rPr lang="en-US" sz="1500" dirty="0">
                <a:solidFill>
                  <a:srgbClr val="374151"/>
                </a:solidFill>
              </a:rPr>
              <a:t>Three features distinguish it: a clear question, a documented method, and conclusions that follow from the data</a:t>
            </a:r>
            <a:endParaRPr lang="en-US" sz="1500" dirty="0"/>
          </a:p>
          <a:p>
            <a:pPr marL="342900" indent="-342900">
              <a:lnSpc>
                <a:spcPct val="125000"/>
              </a:lnSpc>
              <a:spcAft>
                <a:spcPts val="800"/>
              </a:spcAft>
              <a:buSzPct val="100000"/>
              <a:buChar char="•"/>
            </a:pPr>
            <a:r>
              <a:rPr lang="en-US" sz="1500" dirty="0">
                <a:solidFill>
                  <a:srgbClr val="374151"/>
                </a:solidFill>
              </a:rPr>
              <a:t>It is not: summarising what others said, confirming an opinion you already hold, or collecting data because it is available</a:t>
            </a:r>
            <a:endParaRPr lang="en-US" sz="1500" dirty="0"/>
          </a:p>
          <a:p>
            <a:pPr marL="342900" indent="-342900">
              <a:lnSpc>
                <a:spcPct val="125000"/>
              </a:lnSpc>
              <a:spcAft>
                <a:spcPts val="800"/>
              </a:spcAft>
              <a:buSzPct val="100000"/>
              <a:buChar char="•"/>
            </a:pPr>
            <a:r>
              <a:rPr lang="en-US" sz="1500" dirty="0">
                <a:solidFill>
                  <a:srgbClr val="374151"/>
                </a:solidFill>
              </a:rPr>
              <a:t>Audit asks "are we meeting an agreed standard?"; research asks "what is the case, and why?"</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What research is, and is not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The test of research is reproducibility — could a competent stranger follow your method and reach comparable conclusions?</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1</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A great deal of published work fails this test. Reviewers increasingly ask for the protocol, the raw data and the analysis code precisely because the written method alone often is not enough to reproduce.</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Classifying research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By purpose: exploratory (what is going on here?), descriptive (what is the pattern?), explanatory (why does it happen?), evaluative (did it work?)</a:t>
            </a:r>
            <a:endParaRPr lang="en-US" sz="1300" dirty="0"/>
          </a:p>
          <a:p>
            <a:pPr marL="342900" indent="-342900">
              <a:lnSpc>
                <a:spcPct val="125000"/>
              </a:lnSpc>
              <a:spcAft>
                <a:spcPts val="800"/>
              </a:spcAft>
              <a:buSzPct val="100000"/>
              <a:buChar char="•"/>
            </a:pPr>
            <a:r>
              <a:rPr lang="en-US" sz="1300" dirty="0">
                <a:solidFill>
                  <a:srgbClr val="374151"/>
                </a:solidFill>
              </a:rPr>
              <a:t>By approach: quantitative (numbers, measurement, statistical inference), qualitative (meaning, context, interpretation), mixed methods (both, deliberately integrated)</a:t>
            </a:r>
            <a:endParaRPr lang="en-US" sz="1300" dirty="0"/>
          </a:p>
          <a:p>
            <a:pPr marL="342900" indent="-342900">
              <a:lnSpc>
                <a:spcPct val="125000"/>
              </a:lnSpc>
              <a:spcAft>
                <a:spcPts val="800"/>
              </a:spcAft>
              <a:buSzPct val="100000"/>
              <a:buChar char="•"/>
            </a:pPr>
            <a:r>
              <a:rPr lang="en-US" sz="1300" dirty="0">
                <a:solidFill>
                  <a:srgbClr val="374151"/>
                </a:solidFill>
              </a:rPr>
              <a:t>By time: cross-sectional (a snapshot), longitudinal (repeated over time), retrospective (looking back), prospective (following forward)</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Classifying research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By setting: laboratory, field, clinical, desk-based or secondary analysis</a:t>
            </a:r>
            <a:endParaRPr lang="en-US" sz="1700" dirty="0"/>
          </a:p>
          <a:p>
            <a:pPr marL="342900" indent="-342900">
              <a:lnSpc>
                <a:spcPct val="125000"/>
              </a:lnSpc>
              <a:spcAft>
                <a:spcPts val="800"/>
              </a:spcAft>
              <a:buSzPct val="100000"/>
              <a:buChar char="•"/>
            </a:pPr>
            <a:r>
              <a:rPr lang="en-US" sz="1700" dirty="0">
                <a:solidFill>
                  <a:srgbClr val="374151"/>
                </a:solidFill>
              </a:rPr>
              <a:t>By application: basic (extends knowledge) versus applied (solves a defined problem)</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Paradigms: the assumptions underneath the method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Ontology asks what reality is: a single objective reality, or multiple realities constructed by participants?</a:t>
            </a:r>
            <a:endParaRPr lang="en-US" sz="1500" dirty="0"/>
          </a:p>
          <a:p>
            <a:pPr marL="342900" indent="-342900">
              <a:lnSpc>
                <a:spcPct val="125000"/>
              </a:lnSpc>
              <a:spcAft>
                <a:spcPts val="800"/>
              </a:spcAft>
              <a:buSzPct val="100000"/>
              <a:buChar char="•"/>
            </a:pPr>
            <a:r>
              <a:rPr lang="en-US" sz="1500" dirty="0">
                <a:solidFill>
                  <a:srgbClr val="374151"/>
                </a:solidFill>
              </a:rPr>
              <a:t>Epistemology asks how we can know it: by measuring from the outside, or by interpreting from within?</a:t>
            </a:r>
            <a:endParaRPr lang="en-US" sz="1500" dirty="0"/>
          </a:p>
          <a:p>
            <a:pPr marL="342900" indent="-342900">
              <a:lnSpc>
                <a:spcPct val="125000"/>
              </a:lnSpc>
              <a:spcAft>
                <a:spcPts val="800"/>
              </a:spcAft>
              <a:buSzPct val="100000"/>
              <a:buChar char="•"/>
            </a:pPr>
            <a:r>
              <a:rPr lang="en-US" sz="1500" dirty="0">
                <a:solidFill>
                  <a:srgbClr val="374151"/>
                </a:solidFill>
              </a:rPr>
              <a:t>Positivism assumes an objective reality that can be measured — it leads naturally to experiments, surveys and statistical inference</a:t>
            </a:r>
            <a:endParaRPr lang="en-US" sz="1500" dirty="0"/>
          </a:p>
          <a:p>
            <a:pPr marL="342900" indent="-342900">
              <a:lnSpc>
                <a:spcPct val="125000"/>
              </a:lnSpc>
              <a:spcAft>
                <a:spcPts val="800"/>
              </a:spcAft>
              <a:buSzPct val="100000"/>
              <a:buChar char="•"/>
            </a:pPr>
            <a:r>
              <a:rPr lang="en-US" sz="1500" dirty="0">
                <a:solidFill>
                  <a:srgbClr val="374151"/>
                </a:solidFill>
              </a:rPr>
              <a:t>Interpretivism assumes reality is socially constructed — it leads to interviews, observation and thematic interpretation</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Paradigms: the assumptions underneath the method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Pragmatism asks what works for the question at hand, and is the usual justification for mixed methods</a:t>
            </a:r>
            <a:endParaRPr lang="en-US" sz="1500" dirty="0"/>
          </a:p>
          <a:p>
            <a:pPr marL="342900" indent="-342900">
              <a:lnSpc>
                <a:spcPct val="125000"/>
              </a:lnSpc>
              <a:spcAft>
                <a:spcPts val="800"/>
              </a:spcAft>
              <a:buSzPct val="100000"/>
              <a:buChar char="•"/>
            </a:pPr>
            <a:r>
              <a:rPr lang="en-US" sz="1500" dirty="0">
                <a:solidFill>
                  <a:srgbClr val="374151"/>
                </a:solidFill>
              </a:rPr>
              <a:t>Critical and transformative paradigms foreground power and aim at change, common in participatory and action research</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1</a:t>
            </a:r>
            <a:endParaRPr lang="en-US" sz="1100" dirty="0"/>
          </a:p>
        </p:txBody>
      </p:sp>
      <p:sp>
        <p:nvSpPr>
          <p:cNvPr id="3" name="Text 1"/>
          <p:cNvSpPr/>
          <p:nvPr/>
        </p:nvSpPr>
        <p:spPr>
          <a:xfrm>
            <a:off x="502920" y="548640"/>
            <a:ext cx="8046720" cy="548640"/>
          </a:xfrm>
          <a:prstGeom prst="rect">
            <a:avLst/>
          </a:prstGeom>
          <a:noFill/>
          <a:ln/>
        </p:spPr>
        <p:txBody>
          <a:bodyPr wrap="square" rtlCol="0" anchor="ctr"/>
          <a:lstStyle/>
          <a:p>
            <a:pPr indent="0" marL="0">
              <a:buNone/>
            </a:pPr>
            <a:r>
              <a:rPr lang="en-US" sz="2400" b="1" dirty="0">
                <a:solidFill>
                  <a:srgbClr val="111827"/>
                </a:solidFill>
              </a:rPr>
              <a:t>In practice</a:t>
            </a:r>
            <a:endParaRPr lang="en-US" sz="2400" dirty="0"/>
          </a:p>
        </p:txBody>
      </p:sp>
      <p:sp>
        <p:nvSpPr>
          <p:cNvPr id="4" name="Shape 2"/>
          <p:cNvSpPr/>
          <p:nvPr/>
        </p:nvSpPr>
        <p:spPr>
          <a:xfrm>
            <a:off x="502920" y="1280160"/>
            <a:ext cx="54864" cy="2377440"/>
          </a:xfrm>
          <a:prstGeom prst="rect">
            <a:avLst/>
          </a:prstGeom>
          <a:solidFill>
            <a:srgbClr val="00A86B"/>
          </a:solidFill>
          <a:ln/>
        </p:spPr>
      </p:sp>
      <p:sp>
        <p:nvSpPr>
          <p:cNvPr id="5" name="Text 3"/>
          <p:cNvSpPr/>
          <p:nvPr/>
        </p:nvSpPr>
        <p:spPr>
          <a:xfrm>
            <a:off x="777240" y="1280160"/>
            <a:ext cx="7589520" cy="2377440"/>
          </a:xfrm>
          <a:prstGeom prst="rect">
            <a:avLst/>
          </a:prstGeom>
          <a:noFill/>
          <a:ln/>
        </p:spPr>
        <p:txBody>
          <a:bodyPr wrap="square" rtlCol="0" anchor="t"/>
          <a:lstStyle/>
          <a:p>
            <a:pPr indent="0" marL="0">
              <a:lnSpc>
                <a:spcPct val="130000"/>
              </a:lnSpc>
              <a:buNone/>
            </a:pPr>
            <a:r>
              <a:rPr lang="en-US" sz="1600" dirty="0">
                <a:solidFill>
                  <a:srgbClr val="374151"/>
                </a:solidFill>
              </a:rPr>
              <a:t>You do not need to win the philosophical argument. You do need your paradigm, question, design and analysis to be consistent with one another — examiners notice when they are not.</a:t>
            </a:r>
            <a:endParaRPr lang="en-US" sz="16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The research process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800" dirty="0">
                <a:solidFill>
                  <a:srgbClr val="374151"/>
                </a:solidFill>
              </a:rPr>
              <a:t>Identify a problem worth solving and confirm it is not already solved</a:t>
            </a:r>
            <a:endParaRPr lang="en-US" sz="1800" dirty="0"/>
          </a:p>
          <a:p>
            <a:pPr marL="342900" indent="-342900">
              <a:lnSpc>
                <a:spcPct val="125000"/>
              </a:lnSpc>
              <a:spcAft>
                <a:spcPts val="800"/>
              </a:spcAft>
              <a:buSzPct val="100000"/>
              <a:buChar char="•"/>
            </a:pPr>
            <a:r>
              <a:rPr lang="en-US" sz="1800" dirty="0">
                <a:solidFill>
                  <a:srgbClr val="374151"/>
                </a:solidFill>
              </a:rPr>
              <a:t>Review the literature and locate the gap precisely</a:t>
            </a:r>
            <a:endParaRPr lang="en-US" sz="1800" dirty="0"/>
          </a:p>
          <a:p>
            <a:pPr marL="342900" indent="-342900">
              <a:lnSpc>
                <a:spcPct val="125000"/>
              </a:lnSpc>
              <a:spcAft>
                <a:spcPts val="800"/>
              </a:spcAft>
              <a:buSzPct val="100000"/>
              <a:buChar char="•"/>
            </a:pPr>
            <a:r>
              <a:rPr lang="en-US" sz="1800" dirty="0">
                <a:solidFill>
                  <a:srgbClr val="374151"/>
                </a:solidFill>
              </a:rPr>
              <a:t>State the question, aims, objectives and (if quantitative) hypotheses</a:t>
            </a:r>
            <a:endParaRPr lang="en-US" sz="1800" dirty="0"/>
          </a:p>
          <a:p>
            <a:pPr marL="342900" indent="-342900">
              <a:lnSpc>
                <a:spcPct val="125000"/>
              </a:lnSpc>
              <a:spcAft>
                <a:spcPts val="800"/>
              </a:spcAft>
              <a:buSzPct val="100000"/>
              <a:buChar char="•"/>
            </a:pPr>
            <a:r>
              <a:rPr lang="en-US" sz="1800" dirty="0">
                <a:solidFill>
                  <a:srgbClr val="374151"/>
                </a:solidFill>
              </a:rPr>
              <a:t>Choose a design, population, sample and instruments</a:t>
            </a:r>
            <a:endParaRPr lang="en-US" sz="1800" dirty="0"/>
          </a:p>
          <a:p>
            <a:pPr marL="342900" indent="-342900">
              <a:lnSpc>
                <a:spcPct val="125000"/>
              </a:lnSpc>
              <a:spcAft>
                <a:spcPts val="800"/>
              </a:spcAft>
              <a:buSzPct val="100000"/>
              <a:buChar char="•"/>
            </a:pPr>
            <a:r>
              <a:rPr lang="en-US" sz="1800" dirty="0">
                <a:solidFill>
                  <a:srgbClr val="374151"/>
                </a:solidFill>
              </a:rPr>
              <a:t>Obtain ethical approval before collecting anything</a:t>
            </a:r>
            <a:endParaRPr lang="en-US" sz="18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The research process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700" dirty="0">
                <a:solidFill>
                  <a:srgbClr val="374151"/>
                </a:solidFill>
              </a:rPr>
              <a:t>Collect, manage and analyse data</a:t>
            </a:r>
            <a:endParaRPr lang="en-US" sz="1700" dirty="0"/>
          </a:p>
          <a:p>
            <a:pPr marL="342900" indent="-342900">
              <a:lnSpc>
                <a:spcPct val="125000"/>
              </a:lnSpc>
              <a:spcAft>
                <a:spcPts val="800"/>
              </a:spcAft>
              <a:buSzPct val="100000"/>
              <a:buChar char="•"/>
            </a:pPr>
            <a:r>
              <a:rPr lang="en-US" sz="1700" dirty="0">
                <a:solidFill>
                  <a:srgbClr val="374151"/>
                </a:solidFill>
              </a:rPr>
              <a:t>Interpret against the literature, then report and disseminate</a:t>
            </a:r>
            <a:endParaRPr lang="en-US" sz="1700" dirty="0"/>
          </a:p>
          <a:p>
            <a:pPr marL="342900" indent="-342900">
              <a:lnSpc>
                <a:spcPct val="125000"/>
              </a:lnSpc>
              <a:spcAft>
                <a:spcPts val="800"/>
              </a:spcAft>
              <a:buSzPct val="100000"/>
              <a:buChar char="•"/>
            </a:pPr>
            <a:r>
              <a:rPr lang="en-US" sz="1700" dirty="0">
                <a:solidFill>
                  <a:srgbClr val="374151"/>
                </a:solidFill>
              </a:rPr>
              <a:t>The process is iterative in practice — the literature review continues until you submit</a:t>
            </a:r>
            <a:endParaRPr lang="en-US" sz="17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1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Audit or research? The same data, two different studies</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district hospital notices that 1 in 5 women who book antenatal care never return for a second visit. The medical director asks a midwife to "look into it".</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If she compares the return rate against the national target of 4+ visits, that is audit — the standard already exists and she is measuring compliance.</a:t>
            </a:r>
            <a:endParaRPr lang="en-US" sz="1300" dirty="0"/>
          </a:p>
          <a:p>
            <a:pPr marL="342900" indent="-342900">
              <a:lnSpc>
                <a:spcPct val="115000"/>
              </a:lnSpc>
              <a:buSzPct val="100000"/>
              <a:buFont typeface="+mj-lt"/>
              <a:buAutoNum type="arabicPeriod" startAt="1"/>
            </a:pPr>
            <a:r>
              <a:rPr lang="en-US" sz="1300" dirty="0">
                <a:solidFill>
                  <a:srgbClr val="374151"/>
                </a:solidFill>
              </a:rPr>
              <a:t>If she asks why women do not return, and the answer is not already known, that is research.</a:t>
            </a:r>
            <a:endParaRPr lang="en-US" sz="1300" dirty="0"/>
          </a:p>
          <a:p>
            <a:pPr marL="342900" indent="-342900">
              <a:lnSpc>
                <a:spcPct val="115000"/>
              </a:lnSpc>
              <a:buSzPct val="100000"/>
              <a:buFont typeface="+mj-lt"/>
              <a:buAutoNum type="arabicPeriod" startAt="1"/>
            </a:pPr>
            <a:r>
              <a:rPr lang="en-US" sz="1300" dirty="0">
                <a:solidFill>
                  <a:srgbClr val="374151"/>
                </a:solidFill>
              </a:rPr>
              <a:t>The same appointment records serve both. What separates them is the question, not the data.</a:t>
            </a:r>
            <a:endParaRPr lang="en-US" sz="1300" dirty="0"/>
          </a:p>
          <a:p>
            <a:pPr marL="342900" indent="-342900">
              <a:lnSpc>
                <a:spcPct val="115000"/>
              </a:lnSpc>
              <a:buSzPct val="100000"/>
              <a:buFont typeface="+mj-lt"/>
              <a:buAutoNum type="arabicPeriod" startAt="1"/>
            </a:pPr>
            <a:r>
              <a:rPr lang="en-US" sz="1300" dirty="0">
                <a:solidFill>
                  <a:srgbClr val="374151"/>
                </a:solidFill>
              </a:rPr>
              <a:t>The research version needs ethical approval, a sampling strategy and a defined method; the audit does not.</a:t>
            </a:r>
            <a:endParaRPr lang="en-US" sz="1300" dirty="0"/>
          </a:p>
          <a:p>
            <a:pPr marL="342900" indent="-342900">
              <a:lnSpc>
                <a:spcPct val="115000"/>
              </a:lnSpc>
              <a:buSzPct val="100000"/>
              <a:buFont typeface="+mj-lt"/>
              <a:buAutoNum type="arabicPeriod" startAt="1"/>
            </a:pPr>
            <a:r>
              <a:rPr lang="en-US" sz="1300" dirty="0">
                <a:solidFill>
                  <a:srgbClr val="374151"/>
                </a:solidFill>
              </a:rPr>
              <a:t>She could do both: audit to establish the size of the problem, then research to explain it.</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A86B"/>
                </a:solidFill>
              </a:rPr>
              <a:t>UNIT 1  ·  WORKED EXAMPLE</a:t>
            </a:r>
            <a:endParaRPr lang="en-US" sz="1100" dirty="0"/>
          </a:p>
        </p:txBody>
      </p:sp>
      <p:sp>
        <p:nvSpPr>
          <p:cNvPr id="3" name="Text 1"/>
          <p:cNvSpPr/>
          <p:nvPr/>
        </p:nvSpPr>
        <p:spPr>
          <a:xfrm>
            <a:off x="502920" y="548640"/>
            <a:ext cx="8046720" cy="566928"/>
          </a:xfrm>
          <a:prstGeom prst="rect">
            <a:avLst/>
          </a:prstGeom>
          <a:noFill/>
          <a:ln/>
        </p:spPr>
        <p:txBody>
          <a:bodyPr wrap="square" rtlCol="0" anchor="t"/>
          <a:lstStyle/>
          <a:p>
            <a:pPr indent="0" marL="0">
              <a:buNone/>
            </a:pPr>
            <a:r>
              <a:rPr lang="en-US" sz="2300" b="1" dirty="0">
                <a:solidFill>
                  <a:srgbClr val="111827"/>
                </a:solidFill>
              </a:rPr>
              <a:t>When the paradigm and the method do not match</a:t>
            </a:r>
            <a:endParaRPr lang="en-US" sz="2300" dirty="0"/>
          </a:p>
        </p:txBody>
      </p:sp>
      <p:sp>
        <p:nvSpPr>
          <p:cNvPr id="4" name="Shape 2"/>
          <p:cNvSpPr/>
          <p:nvPr/>
        </p:nvSpPr>
        <p:spPr>
          <a:xfrm>
            <a:off x="502920" y="1207008"/>
            <a:ext cx="8138160" cy="3200400"/>
          </a:xfrm>
          <a:prstGeom prst="rect">
            <a:avLst/>
          </a:prstGeom>
          <a:solidFill>
            <a:srgbClr val="F3F7FC"/>
          </a:solidFill>
          <a:ln w="9525">
            <a:solidFill>
              <a:srgbClr val="0066CC"/>
            </a:solidFill>
            <a:prstDash val="solid"/>
          </a:ln>
        </p:spPr>
      </p:sp>
      <p:sp>
        <p:nvSpPr>
          <p:cNvPr id="5" name="Text 3"/>
          <p:cNvSpPr/>
          <p:nvPr/>
        </p:nvSpPr>
        <p:spPr>
          <a:xfrm>
            <a:off x="731520" y="1371600"/>
            <a:ext cx="7680960" cy="1005840"/>
          </a:xfrm>
          <a:prstGeom prst="rect">
            <a:avLst/>
          </a:prstGeom>
          <a:noFill/>
          <a:ln/>
        </p:spPr>
        <p:txBody>
          <a:bodyPr wrap="square" rtlCol="0" anchor="t"/>
          <a:lstStyle/>
          <a:p>
            <a:pPr indent="0" marL="0">
              <a:lnSpc>
                <a:spcPct val="120000"/>
              </a:lnSpc>
              <a:buNone/>
            </a:pPr>
            <a:r>
              <a:rPr lang="en-US" sz="1400" i="1" dirty="0">
                <a:solidFill>
                  <a:srgbClr val="374151"/>
                </a:solidFill>
              </a:rPr>
              <a:t>A master's student writes that she takes an interpretivist position because "reality is socially constructed". Her method section then describes a 40-item Likert questionnaire administered to 300 nurses, analysed with chi-square tests.</a:t>
            </a:r>
            <a:endParaRPr lang="en-US" sz="1400" dirty="0"/>
          </a:p>
        </p:txBody>
      </p:sp>
      <p:sp>
        <p:nvSpPr>
          <p:cNvPr id="6" name="Text 4"/>
          <p:cNvSpPr/>
          <p:nvPr/>
        </p:nvSpPr>
        <p:spPr>
          <a:xfrm>
            <a:off x="868680" y="2395728"/>
            <a:ext cx="7452360" cy="1920240"/>
          </a:xfrm>
          <a:prstGeom prst="rect">
            <a:avLst/>
          </a:prstGeom>
          <a:noFill/>
          <a:ln/>
        </p:spPr>
        <p:txBody>
          <a:bodyPr wrap="square" rtlCol="0" anchor="t"/>
          <a:lstStyle/>
          <a:p>
            <a:pPr marL="342900" indent="-342900">
              <a:lnSpc>
                <a:spcPct val="115000"/>
              </a:lnSpc>
              <a:buSzPct val="100000"/>
              <a:buFont typeface="+mj-lt"/>
              <a:buAutoNum type="arabicPeriod" startAt="1"/>
            </a:pPr>
            <a:r>
              <a:rPr lang="en-US" sz="1300" dirty="0">
                <a:solidFill>
                  <a:srgbClr val="374151"/>
                </a:solidFill>
              </a:rPr>
              <a:t>Interpretivism treats meaning as constructed and context-specific, so it points towards interviews or observation.</a:t>
            </a:r>
            <a:endParaRPr lang="en-US" sz="1300" dirty="0"/>
          </a:p>
          <a:p>
            <a:pPr marL="342900" indent="-342900">
              <a:lnSpc>
                <a:spcPct val="115000"/>
              </a:lnSpc>
              <a:buSzPct val="100000"/>
              <a:buFont typeface="+mj-lt"/>
              <a:buAutoNum type="arabicPeriod" startAt="1"/>
            </a:pPr>
            <a:r>
              <a:rPr lang="en-US" sz="1300" dirty="0">
                <a:solidFill>
                  <a:srgbClr val="374151"/>
                </a:solidFill>
              </a:rPr>
              <a:t>A fixed-response questionnaire assumes the researcher already knows the categories that matter — a positivist assumption.</a:t>
            </a:r>
            <a:endParaRPr lang="en-US" sz="1300" dirty="0"/>
          </a:p>
          <a:p>
            <a:pPr marL="342900" indent="-342900">
              <a:lnSpc>
                <a:spcPct val="115000"/>
              </a:lnSpc>
              <a:buSzPct val="100000"/>
              <a:buFont typeface="+mj-lt"/>
              <a:buAutoNum type="arabicPeriod" startAt="1"/>
            </a:pPr>
            <a:r>
              <a:rPr lang="en-US" sz="1300" dirty="0">
                <a:solidFill>
                  <a:srgbClr val="374151"/>
                </a:solidFill>
              </a:rPr>
              <a:t>Neither choice is wrong on its own. The problem is that they contradict each other in one study.</a:t>
            </a:r>
            <a:endParaRPr lang="en-US" sz="1300" dirty="0"/>
          </a:p>
          <a:p>
            <a:pPr marL="342900" indent="-342900">
              <a:lnSpc>
                <a:spcPct val="115000"/>
              </a:lnSpc>
              <a:buSzPct val="100000"/>
              <a:buFont typeface="+mj-lt"/>
              <a:buAutoNum type="arabicPeriod" startAt="1"/>
            </a:pPr>
            <a:r>
              <a:rPr lang="en-US" sz="1300" dirty="0">
                <a:solidFill>
                  <a:srgbClr val="374151"/>
                </a:solidFill>
              </a:rPr>
              <a:t>Two honest fixes: keep the survey and state a post-positivist position, or keep interpretivism and switch to interviews.</a:t>
            </a:r>
            <a:endParaRPr lang="en-US" sz="1300" dirty="0"/>
          </a:p>
          <a:p>
            <a:pPr marL="342900" indent="-342900">
              <a:lnSpc>
                <a:spcPct val="115000"/>
              </a:lnSpc>
              <a:buSzPct val="100000"/>
              <a:buFont typeface="+mj-lt"/>
              <a:buAutoNum type="arabicPeriod" startAt="1"/>
            </a:pPr>
            <a:r>
              <a:rPr lang="en-US" sz="1300" dirty="0">
                <a:solidFill>
                  <a:srgbClr val="374151"/>
                </a:solidFill>
              </a:rPr>
              <a:t>A third option is a genuine mixed methods design, but then the integration has to be planned, not implied.</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(1/2)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Paradigm — A set of shared assumptions about the nature of reality and how it can be known, which shapes what counts as legitimate evidence.</a:t>
            </a:r>
            <a:endParaRPr lang="en-US" sz="1500" dirty="0"/>
          </a:p>
          <a:p>
            <a:pPr marL="342900" indent="-342900">
              <a:lnSpc>
                <a:spcPct val="125000"/>
              </a:lnSpc>
              <a:spcAft>
                <a:spcPts val="800"/>
              </a:spcAft>
              <a:buSzPct val="100000"/>
              <a:buChar char="•"/>
            </a:pPr>
            <a:r>
              <a:rPr lang="en-US" sz="1500" dirty="0">
                <a:solidFill>
                  <a:srgbClr val="374151"/>
                </a:solidFill>
              </a:rPr>
              <a:t>Ontology — Assumptions about the nature of reality — whether it is single and objective, or multiple and constructed.</a:t>
            </a:r>
            <a:endParaRPr lang="en-US" sz="1500" dirty="0"/>
          </a:p>
          <a:p>
            <a:pPr marL="342900" indent="-342900">
              <a:lnSpc>
                <a:spcPct val="125000"/>
              </a:lnSpc>
              <a:spcAft>
                <a:spcPts val="800"/>
              </a:spcAft>
              <a:buSzPct val="100000"/>
              <a:buChar char="•"/>
            </a:pPr>
            <a:r>
              <a:rPr lang="en-US" sz="1500" dirty="0">
                <a:solidFill>
                  <a:srgbClr val="374151"/>
                </a:solidFill>
              </a:rPr>
              <a:t>Epistemology — Assumptions about what knowledge is and how it can legitimately be acquired.</a:t>
            </a:r>
            <a:endParaRPr lang="en-US" sz="1500" dirty="0"/>
          </a:p>
          <a:p>
            <a:pPr marL="342900" indent="-342900">
              <a:lnSpc>
                <a:spcPct val="125000"/>
              </a:lnSpc>
              <a:spcAft>
                <a:spcPts val="800"/>
              </a:spcAft>
              <a:buSzPct val="100000"/>
              <a:buChar char="•"/>
            </a:pPr>
            <a:r>
              <a:rPr lang="en-US" sz="1500" dirty="0">
                <a:solidFill>
                  <a:srgbClr val="374151"/>
                </a:solidFill>
              </a:rPr>
              <a:t>Basic research — Research undertaken to extend understanding, without a specific application in view.</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Key terms (2/2)</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500" dirty="0">
                <a:solidFill>
                  <a:srgbClr val="374151"/>
                </a:solidFill>
              </a:rPr>
              <a:t>Applied research — Research directed at solving an identified practical problem.</a:t>
            </a:r>
            <a:endParaRPr lang="en-US" sz="1500" dirty="0"/>
          </a:p>
          <a:p>
            <a:pPr marL="342900" indent="-342900">
              <a:lnSpc>
                <a:spcPct val="125000"/>
              </a:lnSpc>
              <a:spcAft>
                <a:spcPts val="800"/>
              </a:spcAft>
              <a:buSzPct val="100000"/>
              <a:buChar char="•"/>
            </a:pPr>
            <a:r>
              <a:rPr lang="en-US" sz="1500" dirty="0">
                <a:solidFill>
                  <a:srgbClr val="374151"/>
                </a:solidFill>
              </a:rPr>
              <a:t>Reproducibility — The property that another researcher, following the reported method with the same data, obtains the same result.</a:t>
            </a:r>
            <a:endParaRPr lang="en-US" sz="15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92608"/>
            <a:ext cx="8046720" cy="228600"/>
          </a:xfrm>
          <a:prstGeom prst="rect">
            <a:avLst/>
          </a:prstGeom>
          <a:noFill/>
          <a:ln/>
        </p:spPr>
        <p:txBody>
          <a:bodyPr wrap="square" rtlCol="0" anchor="ctr"/>
          <a:lstStyle/>
          <a:p>
            <a:pPr indent="0" marL="0">
              <a:buNone/>
            </a:pPr>
            <a:r>
              <a:rPr lang="en-US" sz="1100" b="1" spc="150" kern="0" dirty="0">
                <a:solidFill>
                  <a:srgbClr val="0066CC"/>
                </a:solidFill>
              </a:rPr>
              <a:t>UNIT 1  ·  OVER TO YOU</a:t>
            </a:r>
            <a:endParaRPr lang="en-US" sz="1100" dirty="0"/>
          </a:p>
        </p:txBody>
      </p:sp>
      <p:sp>
        <p:nvSpPr>
          <p:cNvPr id="3" name="Text 1"/>
          <p:cNvSpPr/>
          <p:nvPr/>
        </p:nvSpPr>
        <p:spPr>
          <a:xfrm>
            <a:off x="502920" y="548640"/>
            <a:ext cx="8046720" cy="640080"/>
          </a:xfrm>
          <a:prstGeom prst="rect">
            <a:avLst/>
          </a:prstGeom>
          <a:noFill/>
          <a:ln/>
        </p:spPr>
        <p:txBody>
          <a:bodyPr wrap="square" rtlCol="0" anchor="t"/>
          <a:lstStyle/>
          <a:p>
            <a:pPr indent="0" marL="0">
              <a:buNone/>
            </a:pPr>
            <a:r>
              <a:rPr lang="en-US" sz="2400" b="1" dirty="0">
                <a:solidFill>
                  <a:srgbClr val="111827"/>
                </a:solidFill>
              </a:rPr>
              <a:t>Activity</a:t>
            </a:r>
            <a:endParaRPr lang="en-US" sz="2400" dirty="0"/>
          </a:p>
        </p:txBody>
      </p:sp>
      <p:sp>
        <p:nvSpPr>
          <p:cNvPr id="4" name="Text 2"/>
          <p:cNvSpPr/>
          <p:nvPr/>
        </p:nvSpPr>
        <p:spPr>
          <a:xfrm>
            <a:off x="685800" y="1325880"/>
            <a:ext cx="7772400" cy="3200400"/>
          </a:xfrm>
          <a:prstGeom prst="rect">
            <a:avLst/>
          </a:prstGeom>
          <a:noFill/>
          <a:ln/>
        </p:spPr>
        <p:txBody>
          <a:bodyPr wrap="square" rtlCol="0" anchor="t"/>
          <a:lstStyle/>
          <a:p>
            <a:pPr marL="342900" indent="-342900">
              <a:lnSpc>
                <a:spcPct val="125000"/>
              </a:lnSpc>
              <a:spcAft>
                <a:spcPts val="800"/>
              </a:spcAft>
              <a:buSzPct val="100000"/>
              <a:buChar char="•"/>
            </a:pPr>
            <a:r>
              <a:rPr lang="en-US" sz="1300" dirty="0">
                <a:solidFill>
                  <a:srgbClr val="374151"/>
                </a:solidFill>
              </a:rPr>
              <a:t>In pairs, take a recent paper from your own field. Identify its purpose, approach, time dimension and implied paradigm. Then argue whether the design actually matches the paradigm the authors claim.</a:t>
            </a:r>
            <a:endParaRPr lang="en-US" sz="1300" dirty="0"/>
          </a:p>
        </p:txBody>
      </p:sp>
      <p:sp>
        <p:nvSpPr>
          <p:cNvPr id="25" name="Slide Number Placeholder 0"/>
          <p:cNvSpPr>
            <a:spLocks noGrp="1"/>
          </p:cNvSpPr>
          <p:nvPr>
            <p:ph type="sldNum" sz="quarter" idx="4294967295"/>
          </p:nvPr>
        </p:nvSpPr>
        <p:spPr>
          <a:xfrm>
            <a:off x="8503920" y="470916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Institute of Computational Biology and Bioinformatics (ICBB)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ICBB-RM101 — Unit 1: Foundations of Research</dc:title>
  <dc:subject>Research Methods: Quantitative &amp; Qualitative Design</dc:subject>
  <dc:creator>Jesse Anak</dc:creator>
  <cp:lastModifiedBy>Jesse Anak</cp:lastModifiedBy>
  <cp:revision>1</cp:revision>
  <dcterms:created xsi:type="dcterms:W3CDTF">2026-08-18T20:12:12Z</dcterms:created>
  <dcterms:modified xsi:type="dcterms:W3CDTF">2026-08-18T20:12:12Z</dcterms:modified>
</cp:coreProperties>
</file>