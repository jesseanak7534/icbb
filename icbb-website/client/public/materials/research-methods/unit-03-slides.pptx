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3: The Literature Review
Duration: 120 minutes
Objectives:
- Explain the four functions a literature review performs in a research project
- Distinguish narrative, scoping, systematic, rapid and integrative reviews
- Select the review type appropriate to your purpose and resources
- Organise a review thematically rather than source by source
- Use a synthesis matrix to move from reading to argument
- Recognise and avoid the most common review failures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out at the start and return to them at the end of the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Synthesis is what you see reading down the columns. Summary is what you get reading across the rows. Reviewers can tell instantly which one you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Pick the review type from your resources and question, not from which label sounds most impressive. A finished scoping review beats an abandoned systematic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10-15 minutes, then take feedback from two or three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CBB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18872" cy="5148072"/>
          </a:xfrm>
          <a:prstGeom prst="rect">
            <a:avLst/>
          </a:prstGeom>
          <a:solidFill>
            <a:srgbClr val="0066CC"/>
          </a:solidFill>
          <a:ln/>
        </p:spPr>
      </p:sp>
      <p:pic>
        <p:nvPicPr>
          <p:cNvPr id="3" name="Image 0" descr="preencoded.png">    </p:cNvPr>
          <p:cNvPicPr>
            <a:picLocks noChangeAspect="1"/>
          </p:cNvPicPr>
          <p:nvPr/>
        </p:nvPicPr>
        <p:blipFill>
          <a:blip r:embed="rId1">
            <a:alphaModFix amt="18000"/>
          </a:blip>
          <a:stretch>
            <a:fillRect/>
          </a:stretch>
        </p:blipFill>
        <p:spPr>
          <a:xfrm>
            <a:off x="6903720" y="3977640"/>
            <a:ext cx="1920240" cy="1280160"/>
          </a:xfrm>
          <a:prstGeom prst="rect">
            <a:avLst/>
          </a:prstGeom>
        </p:spPr>
      </p:pic>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CBB_TITLE">
    <p:bg>
      <p:bgPr>
        <a:solidFill>
          <a:srgbClr val="004D99"/>
        </a:solidFill>
      </p:bgPr>
    </p:bg>
    <p:spTree>
      <p:nvGrpSpPr>
        <p:cNvPr id="1" name=""/>
        <p:cNvGrpSpPr/>
        <p:nvPr/>
      </p:nvGrpSpPr>
      <p:grpSpPr>
        <a:xfrm>
          <a:off x="0" y="0"/>
          <a:ext cx="0" cy="0"/>
          <a:chOff x="0" y="0"/>
          <a:chExt cx="0" cy="0"/>
        </a:xfrm>
      </p:grpSpPr>
      <p:sp>
        <p:nvSpPr>
          <p:cNvPr id="2" name="Shape 0"/>
          <p:cNvSpPr/>
          <p:nvPr/>
        </p:nvSpPr>
        <p:spPr>
          <a:xfrm>
            <a:off x="0" y="4526280"/>
            <a:ext cx="9144000" cy="621792"/>
          </a:xfrm>
          <a:prstGeom prst="rect">
            <a:avLst/>
          </a:prstGeom>
          <a:solidFill>
            <a:srgbClr val="00A86B"/>
          </a:solidFill>
          <a:ln/>
        </p:spPr>
      </p:sp>
      <p:pic>
        <p:nvPicPr>
          <p:cNvPr id="3" name="Image 0" descr="preencoded.png">    </p:cNvPr>
          <p:cNvPicPr>
            <a:picLocks noChangeAspect="1"/>
          </p:cNvPicPr>
          <p:nvPr/>
        </p:nvPicPr>
        <p:blipFill>
          <a:blip r:embed="rId1">
            <a:alphaModFix amt="75000"/>
          </a:blip>
          <a:stretch>
            <a:fillRect/>
          </a:stretch>
        </p:blipFill>
        <p:spPr>
          <a:xfrm>
            <a:off x="7452360" y="384048"/>
            <a:ext cx="1371600" cy="9144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48640" y="1005840"/>
            <a:ext cx="6675120" cy="274320"/>
          </a:xfrm>
          <a:prstGeom prst="rect">
            <a:avLst/>
          </a:prstGeom>
          <a:noFill/>
          <a:ln/>
        </p:spPr>
        <p:txBody>
          <a:bodyPr wrap="square" rtlCol="0" anchor="ctr"/>
          <a:lstStyle/>
          <a:p>
            <a:pPr indent="0" marL="0">
              <a:buNone/>
            </a:pPr>
            <a:r>
              <a:rPr lang="en-US" sz="1200" b="1" spc="200" kern="0" dirty="0">
                <a:solidFill>
                  <a:srgbClr val="00A86B"/>
                </a:solidFill>
              </a:rPr>
              <a:t>ICBB-RM101  ·  UNIT 3 OF 10</a:t>
            </a:r>
            <a:endParaRPr lang="en-US" sz="1200" dirty="0"/>
          </a:p>
        </p:txBody>
      </p:sp>
      <p:sp>
        <p:nvSpPr>
          <p:cNvPr id="3" name="Text 1"/>
          <p:cNvSpPr/>
          <p:nvPr/>
        </p:nvSpPr>
        <p:spPr>
          <a:xfrm>
            <a:off x="548640" y="1371600"/>
            <a:ext cx="6766560" cy="1371600"/>
          </a:xfrm>
          <a:prstGeom prst="rect">
            <a:avLst/>
          </a:prstGeom>
          <a:noFill/>
          <a:ln/>
        </p:spPr>
        <p:txBody>
          <a:bodyPr wrap="square" rtlCol="0" anchor="t"/>
          <a:lstStyle/>
          <a:p>
            <a:pPr indent="0" marL="0">
              <a:buNone/>
            </a:pPr>
            <a:r>
              <a:rPr lang="en-US" sz="3400" b="1" dirty="0">
                <a:solidFill>
                  <a:srgbClr val="FFFFFF"/>
                </a:solidFill>
              </a:rPr>
              <a:t>The Literature Review</a:t>
            </a:r>
            <a:endParaRPr lang="en-US" sz="3400" dirty="0"/>
          </a:p>
        </p:txBody>
      </p:sp>
      <p:sp>
        <p:nvSpPr>
          <p:cNvPr id="4" name="Text 2"/>
          <p:cNvSpPr/>
          <p:nvPr/>
        </p:nvSpPr>
        <p:spPr>
          <a:xfrm>
            <a:off x="548640" y="2788920"/>
            <a:ext cx="6766560" cy="1188720"/>
          </a:xfrm>
          <a:prstGeom prst="rect">
            <a:avLst/>
          </a:prstGeom>
          <a:noFill/>
          <a:ln/>
        </p:spPr>
        <p:txBody>
          <a:bodyPr wrap="square" rtlCol="0" anchor="t"/>
          <a:lstStyle/>
          <a:p>
            <a:pPr indent="0" marL="0">
              <a:lnSpc>
                <a:spcPct val="120000"/>
              </a:lnSpc>
              <a:buNone/>
            </a:pPr>
            <a:r>
              <a:rPr lang="en-US" sz="1400" dirty="0">
                <a:solidFill>
                  <a:srgbClr val="DCE7F5"/>
                </a:solidFill>
              </a:rPr>
              <a:t>What a literature review is for, the main types and when each is appropriate, and how to build one that argues rather than merely lists.</a:t>
            </a:r>
            <a:endParaRPr lang="en-US" sz="1400" dirty="0"/>
          </a:p>
        </p:txBody>
      </p:sp>
      <p:sp>
        <p:nvSpPr>
          <p:cNvPr id="5" name="Text 3"/>
          <p:cNvSpPr/>
          <p:nvPr/>
        </p:nvSpPr>
        <p:spPr>
          <a:xfrm>
            <a:off x="548640" y="4645152"/>
            <a:ext cx="5486400" cy="365760"/>
          </a:xfrm>
          <a:prstGeom prst="rect">
            <a:avLst/>
          </a:prstGeom>
          <a:noFill/>
          <a:ln/>
        </p:spPr>
        <p:txBody>
          <a:bodyPr wrap="square" rtlCol="0" anchor="ctr"/>
          <a:lstStyle/>
          <a:p>
            <a:pPr indent="0" marL="0">
              <a:buNone/>
            </a:pPr>
            <a:r>
              <a:rPr lang="en-US" sz="1200" b="1" dirty="0">
                <a:solidFill>
                  <a:srgbClr val="FFFFFF"/>
                </a:solidFill>
              </a:rPr>
              <a:t>Jesse Anak  ·  ICBB</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3</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What you will be able to do</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800" dirty="0">
                <a:solidFill>
                  <a:srgbClr val="374151"/>
                </a:solidFill>
              </a:rPr>
              <a:t>Explain the four functions a literature review performs in a research project</a:t>
            </a:r>
            <a:endParaRPr lang="en-US" sz="1800" dirty="0"/>
          </a:p>
          <a:p>
            <a:pPr marL="342900" indent="-342900">
              <a:lnSpc>
                <a:spcPct val="125000"/>
              </a:lnSpc>
              <a:spcAft>
                <a:spcPts val="800"/>
              </a:spcAft>
              <a:buSzPct val="100000"/>
              <a:buChar char="•"/>
            </a:pPr>
            <a:r>
              <a:rPr lang="en-US" sz="1800" dirty="0">
                <a:solidFill>
                  <a:srgbClr val="374151"/>
                </a:solidFill>
              </a:rPr>
              <a:t>Distinguish narrative, scoping, systematic, rapid and integrative reviews</a:t>
            </a:r>
            <a:endParaRPr lang="en-US" sz="1800" dirty="0"/>
          </a:p>
          <a:p>
            <a:pPr marL="342900" indent="-342900">
              <a:lnSpc>
                <a:spcPct val="125000"/>
              </a:lnSpc>
              <a:spcAft>
                <a:spcPts val="800"/>
              </a:spcAft>
              <a:buSzPct val="100000"/>
              <a:buChar char="•"/>
            </a:pPr>
            <a:r>
              <a:rPr lang="en-US" sz="1800" dirty="0">
                <a:solidFill>
                  <a:srgbClr val="374151"/>
                </a:solidFill>
              </a:rPr>
              <a:t>Select the review type appropriate to your purpose and resources</a:t>
            </a:r>
            <a:endParaRPr lang="en-US" sz="1800" dirty="0"/>
          </a:p>
          <a:p>
            <a:pPr marL="342900" indent="-342900">
              <a:lnSpc>
                <a:spcPct val="125000"/>
              </a:lnSpc>
              <a:spcAft>
                <a:spcPts val="800"/>
              </a:spcAft>
              <a:buSzPct val="100000"/>
              <a:buChar char="•"/>
            </a:pPr>
            <a:r>
              <a:rPr lang="en-US" sz="1800" dirty="0">
                <a:solidFill>
                  <a:srgbClr val="374151"/>
                </a:solidFill>
              </a:rPr>
              <a:t>Organise a review thematically rather than source by source</a:t>
            </a:r>
            <a:endParaRPr lang="en-US" sz="1800" dirty="0"/>
          </a:p>
          <a:p>
            <a:pPr marL="342900" indent="-342900">
              <a:lnSpc>
                <a:spcPct val="125000"/>
              </a:lnSpc>
              <a:spcAft>
                <a:spcPts val="800"/>
              </a:spcAft>
              <a:buSzPct val="100000"/>
              <a:buChar char="•"/>
            </a:pPr>
            <a:r>
              <a:rPr lang="en-US" sz="1800" dirty="0">
                <a:solidFill>
                  <a:srgbClr val="374151"/>
                </a:solidFill>
              </a:rPr>
              <a:t>Use a synthesis matrix to move from reading to argument</a:t>
            </a:r>
            <a:endParaRPr lang="en-US" sz="1800" dirty="0"/>
          </a:p>
          <a:p>
            <a:pPr marL="342900" indent="-342900">
              <a:lnSpc>
                <a:spcPct val="125000"/>
              </a:lnSpc>
              <a:spcAft>
                <a:spcPts val="800"/>
              </a:spcAft>
              <a:buSzPct val="100000"/>
              <a:buChar char="•"/>
            </a:pPr>
            <a:r>
              <a:rPr lang="en-US" sz="1800" dirty="0">
                <a:solidFill>
                  <a:srgbClr val="374151"/>
                </a:solidFill>
              </a:rPr>
              <a:t>Recognise and avoid the most common review failures</a:t>
            </a:r>
            <a:endParaRPr lang="en-US" sz="18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3</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What the review is for</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700" dirty="0">
                <a:solidFill>
                  <a:srgbClr val="374151"/>
                </a:solidFill>
              </a:rPr>
              <a:t>To establish what is already known, so you do not repeat settled work</a:t>
            </a:r>
            <a:endParaRPr lang="en-US" sz="1700" dirty="0"/>
          </a:p>
          <a:p>
            <a:pPr marL="342900" indent="-342900">
              <a:lnSpc>
                <a:spcPct val="125000"/>
              </a:lnSpc>
              <a:spcAft>
                <a:spcPts val="800"/>
              </a:spcAft>
              <a:buSzPct val="100000"/>
              <a:buChar char="•"/>
            </a:pPr>
            <a:r>
              <a:rPr lang="en-US" sz="1700" dirty="0">
                <a:solidFill>
                  <a:srgbClr val="374151"/>
                </a:solidFill>
              </a:rPr>
              <a:t>To locate and justify the gap your study will fill</a:t>
            </a:r>
            <a:endParaRPr lang="en-US" sz="1700" dirty="0"/>
          </a:p>
          <a:p>
            <a:pPr marL="342900" indent="-342900">
              <a:lnSpc>
                <a:spcPct val="125000"/>
              </a:lnSpc>
              <a:spcAft>
                <a:spcPts val="800"/>
              </a:spcAft>
              <a:buSzPct val="100000"/>
              <a:buChar char="•"/>
            </a:pPr>
            <a:r>
              <a:rPr lang="en-US" sz="1700" dirty="0">
                <a:solidFill>
                  <a:srgbClr val="374151"/>
                </a:solidFill>
              </a:rPr>
              <a:t>To inform your method — which designs, instruments and measures others found workable</a:t>
            </a:r>
            <a:endParaRPr lang="en-US" sz="1700" dirty="0"/>
          </a:p>
          <a:p>
            <a:pPr marL="342900" indent="-342900">
              <a:lnSpc>
                <a:spcPct val="125000"/>
              </a:lnSpc>
              <a:spcAft>
                <a:spcPts val="800"/>
              </a:spcAft>
              <a:buSzPct val="100000"/>
              <a:buChar char="•"/>
            </a:pPr>
            <a:r>
              <a:rPr lang="en-US" sz="1700" dirty="0">
                <a:solidFill>
                  <a:srgbClr val="374151"/>
                </a:solidFill>
              </a:rPr>
              <a:t>To supply the framework against which you will later interpret your own findings</a:t>
            </a:r>
            <a:endParaRPr lang="en-US" sz="1700" dirty="0"/>
          </a:p>
          <a:p>
            <a:pPr marL="342900" indent="-342900">
              <a:lnSpc>
                <a:spcPct val="125000"/>
              </a:lnSpc>
              <a:spcAft>
                <a:spcPts val="800"/>
              </a:spcAft>
              <a:buSzPct val="100000"/>
              <a:buChar char="•"/>
            </a:pPr>
            <a:r>
              <a:rPr lang="en-US" sz="1700" dirty="0">
                <a:solidFill>
                  <a:srgbClr val="374151"/>
                </a:solidFill>
              </a:rPr>
              <a:t>A review is an argument leading to your question, not a catalogue of everything published</a:t>
            </a:r>
            <a:endParaRPr lang="en-US" sz="17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A86B"/>
                </a:solidFill>
              </a:rPr>
              <a:t>UNIT 3</a:t>
            </a:r>
            <a:endParaRPr lang="en-US" sz="1100" dirty="0"/>
          </a:p>
        </p:txBody>
      </p:sp>
      <p:sp>
        <p:nvSpPr>
          <p:cNvPr id="3" name="Text 1"/>
          <p:cNvSpPr/>
          <p:nvPr/>
        </p:nvSpPr>
        <p:spPr>
          <a:xfrm>
            <a:off x="502920" y="548640"/>
            <a:ext cx="8046720" cy="548640"/>
          </a:xfrm>
          <a:prstGeom prst="rect">
            <a:avLst/>
          </a:prstGeom>
          <a:noFill/>
          <a:ln/>
        </p:spPr>
        <p:txBody>
          <a:bodyPr wrap="square" rtlCol="0" anchor="ctr"/>
          <a:lstStyle/>
          <a:p>
            <a:pPr indent="0" marL="0">
              <a:buNone/>
            </a:pPr>
            <a:r>
              <a:rPr lang="en-US" sz="2400" b="1" dirty="0">
                <a:solidFill>
                  <a:srgbClr val="111827"/>
                </a:solidFill>
              </a:rPr>
              <a:t>In practice</a:t>
            </a:r>
            <a:endParaRPr lang="en-US" sz="2400" dirty="0"/>
          </a:p>
        </p:txBody>
      </p:sp>
      <p:sp>
        <p:nvSpPr>
          <p:cNvPr id="4" name="Shape 2"/>
          <p:cNvSpPr/>
          <p:nvPr/>
        </p:nvSpPr>
        <p:spPr>
          <a:xfrm>
            <a:off x="502920" y="1280160"/>
            <a:ext cx="54864" cy="2377440"/>
          </a:xfrm>
          <a:prstGeom prst="rect">
            <a:avLst/>
          </a:prstGeom>
          <a:solidFill>
            <a:srgbClr val="00A86B"/>
          </a:solidFill>
          <a:ln/>
        </p:spPr>
      </p:sp>
      <p:sp>
        <p:nvSpPr>
          <p:cNvPr id="5" name="Text 3"/>
          <p:cNvSpPr/>
          <p:nvPr/>
        </p:nvSpPr>
        <p:spPr>
          <a:xfrm>
            <a:off x="777240" y="1280160"/>
            <a:ext cx="7589520" cy="2377440"/>
          </a:xfrm>
          <a:prstGeom prst="rect">
            <a:avLst/>
          </a:prstGeom>
          <a:noFill/>
          <a:ln/>
        </p:spPr>
        <p:txBody>
          <a:bodyPr wrap="square" rtlCol="0" anchor="t"/>
          <a:lstStyle/>
          <a:p>
            <a:pPr indent="0" marL="0">
              <a:lnSpc>
                <a:spcPct val="130000"/>
              </a:lnSpc>
              <a:buNone/>
            </a:pPr>
            <a:r>
              <a:rPr lang="en-US" sz="1600" dirty="0">
                <a:solidFill>
                  <a:srgbClr val="374151"/>
                </a:solidFill>
              </a:rPr>
              <a:t>The single most common examiner criticism is a review that summarises twenty studies in twenty paragraphs and never says what they collectively mean. If a paragraph begins with an author name rather than an idea, suspect this failure.</a:t>
            </a:r>
            <a:endParaRPr lang="en-US" sz="16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3</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Types of review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Narrative review — broad, expert overview; flexible but vulnerable to selection bias</a:t>
            </a:r>
            <a:endParaRPr lang="en-US" sz="1500" dirty="0"/>
          </a:p>
          <a:p>
            <a:pPr marL="342900" indent="-342900">
              <a:lnSpc>
                <a:spcPct val="125000"/>
              </a:lnSpc>
              <a:spcAft>
                <a:spcPts val="800"/>
              </a:spcAft>
              <a:buSzPct val="100000"/>
              <a:buChar char="•"/>
            </a:pPr>
            <a:r>
              <a:rPr lang="en-US" sz="1500" dirty="0">
                <a:solidFill>
                  <a:srgbClr val="374151"/>
                </a:solidFill>
              </a:rPr>
              <a:t>Scoping review — maps the extent and nature of evidence and identifies gaps; ideal when a field is new or heterogeneous</a:t>
            </a:r>
            <a:endParaRPr lang="en-US" sz="1500" dirty="0"/>
          </a:p>
          <a:p>
            <a:pPr marL="342900" indent="-342900">
              <a:lnSpc>
                <a:spcPct val="125000"/>
              </a:lnSpc>
              <a:spcAft>
                <a:spcPts val="800"/>
              </a:spcAft>
              <a:buSzPct val="100000"/>
              <a:buChar char="•"/>
            </a:pPr>
            <a:r>
              <a:rPr lang="en-US" sz="1500" dirty="0">
                <a:solidFill>
                  <a:srgbClr val="374151"/>
                </a:solidFill>
              </a:rPr>
              <a:t>Systematic review — answers a focused question using a pre-registered protocol and exhaustive search; the highest standard, and the most work</a:t>
            </a:r>
            <a:endParaRPr lang="en-US" sz="1500" dirty="0"/>
          </a:p>
          <a:p>
            <a:pPr marL="342900" indent="-342900">
              <a:lnSpc>
                <a:spcPct val="125000"/>
              </a:lnSpc>
              <a:spcAft>
                <a:spcPts val="800"/>
              </a:spcAft>
              <a:buSzPct val="100000"/>
              <a:buChar char="•"/>
            </a:pPr>
            <a:r>
              <a:rPr lang="en-US" sz="1500" dirty="0">
                <a:solidFill>
                  <a:srgbClr val="374151"/>
                </a:solidFill>
              </a:rPr>
              <a:t>Meta-analysis — statistical pooling of results across studies; only valid when studies are sufficiently comparable</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3</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Types of review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Rapid review — systematic methods with deliberate, documented shortcuts, used under time pressure</a:t>
            </a:r>
            <a:endParaRPr lang="en-US" sz="1500" dirty="0"/>
          </a:p>
          <a:p>
            <a:pPr marL="342900" indent="-342900">
              <a:lnSpc>
                <a:spcPct val="125000"/>
              </a:lnSpc>
              <a:spcAft>
                <a:spcPts val="800"/>
              </a:spcAft>
              <a:buSzPct val="100000"/>
              <a:buChar char="•"/>
            </a:pPr>
            <a:r>
              <a:rPr lang="en-US" sz="1500" dirty="0">
                <a:solidFill>
                  <a:srgbClr val="374151"/>
                </a:solidFill>
              </a:rPr>
              <a:t>Integrative review — combines experimental and non-experimental evidence, common in nursing and health services research</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3</a:t>
            </a:r>
            <a:endParaRPr lang="en-US" sz="1100" dirty="0"/>
          </a:p>
        </p:txBody>
      </p:sp>
      <p:sp>
        <p:nvSpPr>
          <p:cNvPr id="3" name="Text 1"/>
          <p:cNvSpPr/>
          <p:nvPr/>
        </p:nvSpPr>
        <p:spPr>
          <a:xfrm>
            <a:off x="502920" y="548640"/>
            <a:ext cx="8046720" cy="548640"/>
          </a:xfrm>
          <a:prstGeom prst="rect">
            <a:avLst/>
          </a:prstGeom>
          <a:noFill/>
          <a:ln/>
        </p:spPr>
        <p:txBody>
          <a:bodyPr wrap="square" rtlCol="0" anchor="t"/>
          <a:lstStyle/>
          <a:p>
            <a:pPr indent="0" marL="0">
              <a:buNone/>
            </a:pPr>
            <a:r>
              <a:rPr lang="en-US" sz="2200" b="1" dirty="0">
                <a:solidFill>
                  <a:srgbClr val="111827"/>
                </a:solidFill>
              </a:rPr>
              <a:t>Choosing a review type</a:t>
            </a:r>
            <a:endParaRPr lang="en-US" sz="2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8138160" cy="914400"/>
        </p:xfrm>
        <a:graphic>
          <a:graphicData uri="http://schemas.openxmlformats.org/drawingml/2006/table">
            <a:tbl>
              <a:tblPr/>
              <a:tblGrid>
                <a:gridCol w="2712720"/>
                <a:gridCol w="2712720"/>
                <a:gridCol w="2712720"/>
              </a:tblGrid>
              <a:tr h="0">
                <a:tc>
                  <a:txBody>
                    <a:bodyPr/>
                    <a:lstStyle/>
                    <a:p>
                      <a:pPr indent="0" marL="0">
                        <a:buNone/>
                      </a:pPr>
                      <a:r>
                        <a:rPr lang="en-US" sz="1100" b="1" dirty="0">
                          <a:solidFill>
                            <a:srgbClr val="FFFFFF"/>
                          </a:solidFill>
                        </a:rPr>
                        <a:t>If your purpose is…</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4D99"/>
                    </a:solidFill>
                  </a:tcPr>
                </a:tc>
                <a:tc>
                  <a:txBody>
                    <a:bodyPr/>
                    <a:lstStyle/>
                    <a:p>
                      <a:pPr indent="0" marL="0">
                        <a:buNone/>
                      </a:pPr>
                      <a:r>
                        <a:rPr lang="en-US" sz="1100" b="1" dirty="0">
                          <a:solidFill>
                            <a:srgbClr val="FFFFFF"/>
                          </a:solidFill>
                        </a:rPr>
                        <a:t>Use</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4D99"/>
                    </a:solidFill>
                  </a:tcPr>
                </a:tc>
                <a:tc>
                  <a:txBody>
                    <a:bodyPr/>
                    <a:lstStyle/>
                    <a:p>
                      <a:pPr indent="0" marL="0">
                        <a:buNone/>
                      </a:pPr>
                      <a:r>
                        <a:rPr lang="en-US" sz="1100" b="1" dirty="0">
                          <a:solidFill>
                            <a:srgbClr val="FFFFFF"/>
                          </a:solidFill>
                        </a:rPr>
                        <a:t>Typical effort</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4D99"/>
                    </a:solidFill>
                  </a:tcPr>
                </a:tc>
              </a:tr>
              <a:tr h="0">
                <a:tc>
                  <a:txBody>
                    <a:bodyPr/>
                    <a:lstStyle/>
                    <a:p>
                      <a:pPr indent="0" marL="0">
                        <a:buNone/>
                      </a:pPr>
                      <a:r>
                        <a:rPr lang="en-US" sz="1100" dirty="0">
                          <a:solidFill>
                            <a:srgbClr val="374151"/>
                          </a:solidFill>
                        </a:rPr>
                        <a:t>Introduce a thesis chapter</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374151"/>
                          </a:solidFill>
                        </a:rPr>
                        <a:t>Narrative or integrative</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374151"/>
                          </a:solidFill>
                        </a:rPr>
                        <a:t>4-8 weeks</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374151"/>
                          </a:solidFill>
                        </a:rPr>
                        <a:t>Map an emerging or scattered field</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374151"/>
                          </a:solidFill>
                        </a:rPr>
                        <a:t>Scoping review</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374151"/>
                          </a:solidFill>
                        </a:rPr>
                        <a:t>3-6 months</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9FAFB"/>
                    </a:solidFill>
                  </a:tcPr>
                </a:tc>
              </a:tr>
              <a:tr h="0">
                <a:tc>
                  <a:txBody>
                    <a:bodyPr/>
                    <a:lstStyle/>
                    <a:p>
                      <a:pPr indent="0" marL="0">
                        <a:buNone/>
                      </a:pPr>
                      <a:r>
                        <a:rPr lang="en-US" sz="1100" dirty="0">
                          <a:solidFill>
                            <a:srgbClr val="374151"/>
                          </a:solidFill>
                        </a:rPr>
                        <a:t>Answer a focused effectiveness question</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374151"/>
                          </a:solidFill>
                        </a:rPr>
                        <a:t>Systematic review</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374151"/>
                          </a:solidFill>
                        </a:rPr>
                        <a:t>6-12 months</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374151"/>
                          </a:solidFill>
                        </a:rPr>
                        <a:t>Pool effect estimates numerically</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374151"/>
                          </a:solidFill>
                        </a:rPr>
                        <a:t>Systematic review with meta-analysis</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374151"/>
                          </a:solidFill>
                        </a:rPr>
                        <a:t>9-18 months</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9FAFB"/>
                    </a:solidFill>
                  </a:tcPr>
                </a:tc>
              </a:tr>
              <a:tr h="0">
                <a:tc>
                  <a:txBody>
                    <a:bodyPr/>
                    <a:lstStyle/>
                    <a:p>
                      <a:pPr indent="0" marL="0">
                        <a:buNone/>
                      </a:pPr>
                      <a:r>
                        <a:rPr lang="en-US" sz="1100" dirty="0">
                          <a:solidFill>
                            <a:srgbClr val="374151"/>
                          </a:solidFill>
                        </a:rPr>
                        <a:t>Inform an urgent policy decision</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374151"/>
                          </a:solidFill>
                        </a:rPr>
                        <a:t>Rapid review</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374151"/>
                          </a:solidFill>
                        </a:rPr>
                        <a:t>4-12 weeks</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3</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Building the review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Define the scope first: concepts, populations, date range, languages and study types, with a reason for each limit</a:t>
            </a:r>
            <a:endParaRPr lang="en-US" sz="1500" dirty="0"/>
          </a:p>
          <a:p>
            <a:pPr marL="342900" indent="-342900">
              <a:lnSpc>
                <a:spcPct val="125000"/>
              </a:lnSpc>
              <a:spcAft>
                <a:spcPts val="800"/>
              </a:spcAft>
              <a:buSzPct val="100000"/>
              <a:buChar char="•"/>
            </a:pPr>
            <a:r>
              <a:rPr lang="en-US" sz="1500" dirty="0">
                <a:solidFill>
                  <a:srgbClr val="374151"/>
                </a:solidFill>
              </a:rPr>
              <a:t>Search systematically even for a narrative review — record databases, terms and dates so the search can be repeated</a:t>
            </a:r>
            <a:endParaRPr lang="en-US" sz="1500" dirty="0"/>
          </a:p>
          <a:p>
            <a:pPr marL="342900" indent="-342900">
              <a:lnSpc>
                <a:spcPct val="125000"/>
              </a:lnSpc>
              <a:spcAft>
                <a:spcPts val="800"/>
              </a:spcAft>
              <a:buSzPct val="100000"/>
              <a:buChar char="•"/>
            </a:pPr>
            <a:r>
              <a:rPr lang="en-US" sz="1500" dirty="0">
                <a:solidFill>
                  <a:srgbClr val="374151"/>
                </a:solidFill>
              </a:rPr>
              <a:t>Screen in two passes: title and abstract, then full text against explicit criteria</a:t>
            </a:r>
            <a:endParaRPr lang="en-US" sz="1500" dirty="0"/>
          </a:p>
          <a:p>
            <a:pPr marL="342900" indent="-342900">
              <a:lnSpc>
                <a:spcPct val="125000"/>
              </a:lnSpc>
              <a:spcAft>
                <a:spcPts val="800"/>
              </a:spcAft>
              <a:buSzPct val="100000"/>
              <a:buChar char="•"/>
            </a:pPr>
            <a:r>
              <a:rPr lang="en-US" sz="1500" dirty="0">
                <a:solidFill>
                  <a:srgbClr val="374151"/>
                </a:solidFill>
              </a:rPr>
              <a:t>Extract into a synthesis matrix: rows are studies, columns are the themes, methods and findings you care about</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3</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Building the review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700" dirty="0">
                <a:solidFill>
                  <a:srgbClr val="374151"/>
                </a:solidFill>
              </a:rPr>
              <a:t>Reading the matrix down the columns rather than across the rows is what turns reading into synthesis</a:t>
            </a:r>
            <a:endParaRPr lang="en-US" sz="1700" dirty="0"/>
          </a:p>
          <a:p>
            <a:pPr marL="342900" indent="-342900">
              <a:lnSpc>
                <a:spcPct val="125000"/>
              </a:lnSpc>
              <a:spcAft>
                <a:spcPts val="800"/>
              </a:spcAft>
              <a:buSzPct val="100000"/>
              <a:buChar char="•"/>
            </a:pPr>
            <a:r>
              <a:rPr lang="en-US" sz="1700" dirty="0">
                <a:solidFill>
                  <a:srgbClr val="374151"/>
                </a:solidFill>
              </a:rPr>
              <a:t>Organise the written review by theme, debate or chronology of ideas — never by author</a:t>
            </a:r>
            <a:endParaRPr lang="en-US" sz="17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3</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Appraising what you find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300" dirty="0">
                <a:solidFill>
                  <a:srgbClr val="374151"/>
                </a:solidFill>
              </a:rPr>
              <a:t>Not all evidence carries equal weight; state how you judged quality</a:t>
            </a:r>
            <a:endParaRPr lang="en-US" sz="1300" dirty="0"/>
          </a:p>
          <a:p>
            <a:pPr marL="342900" indent="-342900">
              <a:lnSpc>
                <a:spcPct val="125000"/>
              </a:lnSpc>
              <a:spcAft>
                <a:spcPts val="800"/>
              </a:spcAft>
              <a:buSzPct val="100000"/>
              <a:buChar char="•"/>
            </a:pPr>
            <a:r>
              <a:rPr lang="en-US" sz="1300" dirty="0">
                <a:solidFill>
                  <a:srgbClr val="374151"/>
                </a:solidFill>
              </a:rPr>
              <a:t>Evidence hierarchies place systematic reviews and randomised trials above cohort, case-control and cross-sectional designs for effectiveness questions</a:t>
            </a:r>
            <a:endParaRPr lang="en-US" sz="1300" dirty="0"/>
          </a:p>
          <a:p>
            <a:pPr marL="342900" indent="-342900">
              <a:lnSpc>
                <a:spcPct val="125000"/>
              </a:lnSpc>
              <a:spcAft>
                <a:spcPts val="800"/>
              </a:spcAft>
              <a:buSzPct val="100000"/>
              <a:buChar char="•"/>
            </a:pPr>
            <a:r>
              <a:rPr lang="en-US" sz="1300" dirty="0">
                <a:solidFill>
                  <a:srgbClr val="374151"/>
                </a:solidFill>
              </a:rPr>
              <a:t>Hierarchies apply to questions of effectiveness, not to questions of meaning or experience — a qualitative study is not "low quality" evidence for how patients understand illness</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3</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Appraising what you find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Use a structured tool: CASP checklists, the Newcastle-Ottawa Scale, or Cochrane Risk of Bias 2</a:t>
            </a:r>
            <a:endParaRPr lang="en-US" sz="1500" dirty="0"/>
          </a:p>
          <a:p>
            <a:pPr marL="342900" indent="-342900">
              <a:lnSpc>
                <a:spcPct val="125000"/>
              </a:lnSpc>
              <a:spcAft>
                <a:spcPts val="800"/>
              </a:spcAft>
              <a:buSzPct val="100000"/>
              <a:buChar char="•"/>
            </a:pPr>
            <a:r>
              <a:rPr lang="en-US" sz="1500" dirty="0">
                <a:solidFill>
                  <a:srgbClr val="374151"/>
                </a:solidFill>
              </a:rPr>
              <a:t>Watch for predatory journals — check indexing, editorial board, and whether the publisher appears in DOAJ or on Cabells lists</a:t>
            </a:r>
            <a:endParaRPr lang="en-US" sz="1500" dirty="0"/>
          </a:p>
          <a:p>
            <a:pPr marL="342900" indent="-342900">
              <a:lnSpc>
                <a:spcPct val="125000"/>
              </a:lnSpc>
              <a:spcAft>
                <a:spcPts val="800"/>
              </a:spcAft>
              <a:buSzPct val="100000"/>
              <a:buChar char="•"/>
            </a:pPr>
            <a:r>
              <a:rPr lang="en-US" sz="1500" dirty="0">
                <a:solidFill>
                  <a:srgbClr val="374151"/>
                </a:solidFill>
              </a:rPr>
              <a:t>Note conflicts of interest and funding sources</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3</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Common failures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700" dirty="0">
                <a:solidFill>
                  <a:srgbClr val="374151"/>
                </a:solidFill>
              </a:rPr>
              <a:t>Listing rather than synthesising — the "annotated bibliography" review</a:t>
            </a:r>
            <a:endParaRPr lang="en-US" sz="1700" dirty="0"/>
          </a:p>
          <a:p>
            <a:pPr marL="342900" indent="-342900">
              <a:lnSpc>
                <a:spcPct val="125000"/>
              </a:lnSpc>
              <a:spcAft>
                <a:spcPts val="800"/>
              </a:spcAft>
              <a:buSzPct val="100000"/>
              <a:buChar char="•"/>
            </a:pPr>
            <a:r>
              <a:rPr lang="en-US" sz="1700" dirty="0">
                <a:solidFill>
                  <a:srgbClr val="374151"/>
                </a:solidFill>
              </a:rPr>
              <a:t>Relying only on what is freely available, producing a review biased towards open-access journals</a:t>
            </a:r>
            <a:endParaRPr lang="en-US" sz="1700" dirty="0"/>
          </a:p>
          <a:p>
            <a:pPr marL="342900" indent="-342900">
              <a:lnSpc>
                <a:spcPct val="125000"/>
              </a:lnSpc>
              <a:spcAft>
                <a:spcPts val="800"/>
              </a:spcAft>
              <a:buSzPct val="100000"/>
              <a:buChar char="•"/>
            </a:pPr>
            <a:r>
              <a:rPr lang="en-US" sz="1700" dirty="0">
                <a:solidFill>
                  <a:srgbClr val="374151"/>
                </a:solidFill>
              </a:rPr>
              <a:t>Citing abstracts without reading the full paper, and repeating a misreading from a secondary source</a:t>
            </a:r>
            <a:endParaRPr lang="en-US" sz="1700" dirty="0"/>
          </a:p>
          <a:p>
            <a:pPr marL="342900" indent="-342900">
              <a:lnSpc>
                <a:spcPct val="125000"/>
              </a:lnSpc>
              <a:spcAft>
                <a:spcPts val="800"/>
              </a:spcAft>
              <a:buSzPct val="100000"/>
              <a:buChar char="•"/>
            </a:pPr>
            <a:r>
              <a:rPr lang="en-US" sz="1700" dirty="0">
                <a:solidFill>
                  <a:srgbClr val="374151"/>
                </a:solidFill>
              </a:rPr>
              <a:t>Ignoring evidence that contradicts your position, which reviewers will notice</a:t>
            </a:r>
            <a:endParaRPr lang="en-US" sz="1700" dirty="0"/>
          </a:p>
          <a:p>
            <a:pPr marL="342900" indent="-342900">
              <a:lnSpc>
                <a:spcPct val="125000"/>
              </a:lnSpc>
              <a:spcAft>
                <a:spcPts val="800"/>
              </a:spcAft>
              <a:buSzPct val="100000"/>
              <a:buChar char="•"/>
            </a:pPr>
            <a:r>
              <a:rPr lang="en-US" sz="1700" dirty="0">
                <a:solidFill>
                  <a:srgbClr val="374151"/>
                </a:solidFill>
              </a:rPr>
              <a:t>Reviewing only recent work and losing the origin of a debate</a:t>
            </a:r>
            <a:endParaRPr lang="en-US" sz="17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3</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Common failures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700" dirty="0">
                <a:solidFill>
                  <a:srgbClr val="374151"/>
                </a:solidFill>
              </a:rPr>
              <a:t>Letting the review stop when data collection begins — it must be updated before submission</a:t>
            </a:r>
            <a:endParaRPr lang="en-US" sz="17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A86B"/>
                </a:solidFill>
              </a:rPr>
              <a:t>UNIT 3  ·  WORKED EXAMPLE</a:t>
            </a:r>
            <a:endParaRPr lang="en-US" sz="1100" dirty="0"/>
          </a:p>
        </p:txBody>
      </p:sp>
      <p:sp>
        <p:nvSpPr>
          <p:cNvPr id="3" name="Text 1"/>
          <p:cNvSpPr/>
          <p:nvPr/>
        </p:nvSpPr>
        <p:spPr>
          <a:xfrm>
            <a:off x="502920" y="548640"/>
            <a:ext cx="8046720" cy="566928"/>
          </a:xfrm>
          <a:prstGeom prst="rect">
            <a:avLst/>
          </a:prstGeom>
          <a:noFill/>
          <a:ln/>
        </p:spPr>
        <p:txBody>
          <a:bodyPr wrap="square" rtlCol="0" anchor="t"/>
          <a:lstStyle/>
          <a:p>
            <a:pPr indent="0" marL="0">
              <a:buNone/>
            </a:pPr>
            <a:r>
              <a:rPr lang="en-US" sz="2300" b="1" dirty="0">
                <a:solidFill>
                  <a:srgbClr val="111827"/>
                </a:solidFill>
              </a:rPr>
              <a:t>Turning five papers into one paragraph</a:t>
            </a:r>
            <a:endParaRPr lang="en-US" sz="2300" dirty="0"/>
          </a:p>
        </p:txBody>
      </p:sp>
      <p:sp>
        <p:nvSpPr>
          <p:cNvPr id="4" name="Shape 2"/>
          <p:cNvSpPr/>
          <p:nvPr/>
        </p:nvSpPr>
        <p:spPr>
          <a:xfrm>
            <a:off x="502920" y="1207008"/>
            <a:ext cx="8138160" cy="3200400"/>
          </a:xfrm>
          <a:prstGeom prst="rect">
            <a:avLst/>
          </a:prstGeom>
          <a:solidFill>
            <a:srgbClr val="F3F7FC"/>
          </a:solidFill>
          <a:ln w="9525">
            <a:solidFill>
              <a:srgbClr val="0066CC"/>
            </a:solidFill>
            <a:prstDash val="solid"/>
          </a:ln>
        </p:spPr>
      </p:sp>
      <p:sp>
        <p:nvSpPr>
          <p:cNvPr id="5" name="Text 3"/>
          <p:cNvSpPr/>
          <p:nvPr/>
        </p:nvSpPr>
        <p:spPr>
          <a:xfrm>
            <a:off x="731520" y="1371600"/>
            <a:ext cx="7680960" cy="1005840"/>
          </a:xfrm>
          <a:prstGeom prst="rect">
            <a:avLst/>
          </a:prstGeom>
          <a:noFill/>
          <a:ln/>
        </p:spPr>
        <p:txBody>
          <a:bodyPr wrap="square" rtlCol="0" anchor="t"/>
          <a:lstStyle/>
          <a:p>
            <a:pPr indent="0" marL="0">
              <a:lnSpc>
                <a:spcPct val="120000"/>
              </a:lnSpc>
              <a:buNone/>
            </a:pPr>
            <a:r>
              <a:rPr lang="en-US" sz="1400" i="1" dirty="0">
                <a:solidFill>
                  <a:srgbClr val="374151"/>
                </a:solidFill>
              </a:rPr>
              <a:t>A student has read five studies on adherence to hypertension medication and has written five paragraphs, one per study, each beginning with an author name.</a:t>
            </a:r>
            <a:endParaRPr lang="en-US" sz="1400" dirty="0"/>
          </a:p>
        </p:txBody>
      </p:sp>
      <p:sp>
        <p:nvSpPr>
          <p:cNvPr id="6" name="Text 4"/>
          <p:cNvSpPr/>
          <p:nvPr/>
        </p:nvSpPr>
        <p:spPr>
          <a:xfrm>
            <a:off x="868680" y="2395728"/>
            <a:ext cx="7452360" cy="1920240"/>
          </a:xfrm>
          <a:prstGeom prst="rect">
            <a:avLst/>
          </a:prstGeom>
          <a:noFill/>
          <a:ln/>
        </p:spPr>
        <p:txBody>
          <a:bodyPr wrap="square" rtlCol="0" anchor="t"/>
          <a:lstStyle/>
          <a:p>
            <a:pPr marL="342900" indent="-342900">
              <a:lnSpc>
                <a:spcPct val="115000"/>
              </a:lnSpc>
              <a:buSzPct val="100000"/>
              <a:buFont typeface="+mj-lt"/>
              <a:buAutoNum type="arabicPeriod" startAt="1"/>
            </a:pPr>
            <a:r>
              <a:rPr lang="en-US" sz="1300" dirty="0">
                <a:solidFill>
                  <a:srgbClr val="374151"/>
                </a:solidFill>
              </a:rPr>
              <a:t>Build a matrix: rows are the five studies, columns are design, setting, sample, adherence measure and main finding.</a:t>
            </a:r>
            <a:endParaRPr lang="en-US" sz="1300" dirty="0"/>
          </a:p>
          <a:p>
            <a:pPr marL="342900" indent="-342900">
              <a:lnSpc>
                <a:spcPct val="115000"/>
              </a:lnSpc>
              <a:buSzPct val="100000"/>
              <a:buFont typeface="+mj-lt"/>
              <a:buAutoNum type="arabicPeriod" startAt="1"/>
            </a:pPr>
            <a:r>
              <a:rPr lang="en-US" sz="1300" dirty="0">
                <a:solidFill>
                  <a:srgbClr val="374151"/>
                </a:solidFill>
              </a:rPr>
              <a:t>Reading down the "adherence measure" column shows three used self-report and two used pill counts.</a:t>
            </a:r>
            <a:endParaRPr lang="en-US" sz="1300" dirty="0"/>
          </a:p>
          <a:p>
            <a:pPr marL="342900" indent="-342900">
              <a:lnSpc>
                <a:spcPct val="115000"/>
              </a:lnSpc>
              <a:buSzPct val="100000"/>
              <a:buFont typeface="+mj-lt"/>
              <a:buAutoNum type="arabicPeriod" startAt="1"/>
            </a:pPr>
            <a:r>
              <a:rPr lang="en-US" sz="1300" dirty="0">
                <a:solidFill>
                  <a:srgbClr val="374151"/>
                </a:solidFill>
              </a:rPr>
              <a:t>Reading down "main finding" shows the self-report studies all report higher adherence than the pill-count studies.</a:t>
            </a:r>
            <a:endParaRPr lang="en-US" sz="1300" dirty="0"/>
          </a:p>
          <a:p>
            <a:pPr marL="342900" indent="-342900">
              <a:lnSpc>
                <a:spcPct val="115000"/>
              </a:lnSpc>
              <a:buSzPct val="100000"/>
              <a:buFont typeface="+mj-lt"/>
              <a:buAutoNum type="arabicPeriod" startAt="1"/>
            </a:pPr>
            <a:r>
              <a:rPr lang="en-US" sz="1300" dirty="0">
                <a:solidFill>
                  <a:srgbClr val="374151"/>
                </a:solidFill>
              </a:rPr>
              <a:t>That comparison is the paragraph: "Reported adherence varies with how it was measured, with self-report consistently higher than objective measures (refs) — a pattern that complicates comparison across settings."</a:t>
            </a:r>
            <a:endParaRPr lang="en-US" sz="1300" dirty="0"/>
          </a:p>
          <a:p>
            <a:pPr marL="342900" indent="-342900">
              <a:lnSpc>
                <a:spcPct val="115000"/>
              </a:lnSpc>
              <a:buSzPct val="100000"/>
              <a:buFont typeface="+mj-lt"/>
              <a:buAutoNum type="arabicPeriod" startAt="1"/>
            </a:pPr>
            <a:r>
              <a:rPr lang="en-US" sz="1300" dirty="0">
                <a:solidFill>
                  <a:srgbClr val="374151"/>
                </a:solidFill>
              </a:rPr>
              <a:t>No sentence in that paragraph has an author as its subject. The studies are evidence for a claim, not the topic of the writing.</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A86B"/>
                </a:solidFill>
              </a:rPr>
              <a:t>UNIT 3  ·  WORKED EXAMPLE</a:t>
            </a:r>
            <a:endParaRPr lang="en-US" sz="1100" dirty="0"/>
          </a:p>
        </p:txBody>
      </p:sp>
      <p:sp>
        <p:nvSpPr>
          <p:cNvPr id="3" name="Text 1"/>
          <p:cNvSpPr/>
          <p:nvPr/>
        </p:nvSpPr>
        <p:spPr>
          <a:xfrm>
            <a:off x="502920" y="548640"/>
            <a:ext cx="8046720" cy="566928"/>
          </a:xfrm>
          <a:prstGeom prst="rect">
            <a:avLst/>
          </a:prstGeom>
          <a:noFill/>
          <a:ln/>
        </p:spPr>
        <p:txBody>
          <a:bodyPr wrap="square" rtlCol="0" anchor="t"/>
          <a:lstStyle/>
          <a:p>
            <a:pPr indent="0" marL="0">
              <a:buNone/>
            </a:pPr>
            <a:r>
              <a:rPr lang="en-US" sz="2300" b="1" dirty="0">
                <a:solidFill>
                  <a:srgbClr val="111827"/>
                </a:solidFill>
              </a:rPr>
              <a:t>Choosing the review your timeline can survive</a:t>
            </a:r>
            <a:endParaRPr lang="en-US" sz="2300" dirty="0"/>
          </a:p>
        </p:txBody>
      </p:sp>
      <p:sp>
        <p:nvSpPr>
          <p:cNvPr id="4" name="Shape 2"/>
          <p:cNvSpPr/>
          <p:nvPr/>
        </p:nvSpPr>
        <p:spPr>
          <a:xfrm>
            <a:off x="502920" y="1207008"/>
            <a:ext cx="8138160" cy="3200400"/>
          </a:xfrm>
          <a:prstGeom prst="rect">
            <a:avLst/>
          </a:prstGeom>
          <a:solidFill>
            <a:srgbClr val="F3F7FC"/>
          </a:solidFill>
          <a:ln w="9525">
            <a:solidFill>
              <a:srgbClr val="0066CC"/>
            </a:solidFill>
            <a:prstDash val="solid"/>
          </a:ln>
        </p:spPr>
      </p:sp>
      <p:sp>
        <p:nvSpPr>
          <p:cNvPr id="5" name="Text 3"/>
          <p:cNvSpPr/>
          <p:nvPr/>
        </p:nvSpPr>
        <p:spPr>
          <a:xfrm>
            <a:off x="731520" y="1371600"/>
            <a:ext cx="7680960" cy="1005840"/>
          </a:xfrm>
          <a:prstGeom prst="rect">
            <a:avLst/>
          </a:prstGeom>
          <a:noFill/>
          <a:ln/>
        </p:spPr>
        <p:txBody>
          <a:bodyPr wrap="square" rtlCol="0" anchor="t"/>
          <a:lstStyle/>
          <a:p>
            <a:pPr indent="0" marL="0">
              <a:lnSpc>
                <a:spcPct val="120000"/>
              </a:lnSpc>
              <a:buNone/>
            </a:pPr>
            <a:r>
              <a:rPr lang="en-US" sz="1400" i="1" dirty="0">
                <a:solidFill>
                  <a:srgbClr val="374151"/>
                </a:solidFill>
              </a:rPr>
              <a:t>A student with nine months until submission proposes "a systematic review and meta-analysis of interventions to reduce malaria in under-fives across sub-Saharan Africa".</a:t>
            </a:r>
            <a:endParaRPr lang="en-US" sz="1400" dirty="0"/>
          </a:p>
        </p:txBody>
      </p:sp>
      <p:sp>
        <p:nvSpPr>
          <p:cNvPr id="6" name="Text 4"/>
          <p:cNvSpPr/>
          <p:nvPr/>
        </p:nvSpPr>
        <p:spPr>
          <a:xfrm>
            <a:off x="868680" y="2395728"/>
            <a:ext cx="7452360" cy="1920240"/>
          </a:xfrm>
          <a:prstGeom prst="rect">
            <a:avLst/>
          </a:prstGeom>
          <a:noFill/>
          <a:ln/>
        </p:spPr>
        <p:txBody>
          <a:bodyPr wrap="square" rtlCol="0" anchor="t"/>
          <a:lstStyle/>
          <a:p>
            <a:pPr marL="342900" indent="-342900">
              <a:lnSpc>
                <a:spcPct val="115000"/>
              </a:lnSpc>
              <a:buSzPct val="100000"/>
              <a:buFont typeface="+mj-lt"/>
              <a:buAutoNum type="arabicPeriod" startAt="1"/>
            </a:pPr>
            <a:r>
              <a:rPr lang="en-US" sz="1300" dirty="0">
                <a:solidFill>
                  <a:srgbClr val="374151"/>
                </a:solidFill>
              </a:rPr>
              <a:t>A proper systematic review needs a protocol, two independent screeners, dual data extraction and risk-of-bias assessment.</a:t>
            </a:r>
            <a:endParaRPr lang="en-US" sz="1300" dirty="0"/>
          </a:p>
          <a:p>
            <a:pPr marL="342900" indent="-342900">
              <a:lnSpc>
                <a:spcPct val="115000"/>
              </a:lnSpc>
              <a:buSzPct val="100000"/>
              <a:buFont typeface="+mj-lt"/>
              <a:buAutoNum type="arabicPeriod" startAt="1"/>
            </a:pPr>
            <a:r>
              <a:rPr lang="en-US" sz="1300" dirty="0">
                <a:solidFill>
                  <a:srgbClr val="374151"/>
                </a:solidFill>
              </a:rPr>
              <a:t>That question would return several thousand records to screen at title and abstract.</a:t>
            </a:r>
            <a:endParaRPr lang="en-US" sz="1300" dirty="0"/>
          </a:p>
          <a:p>
            <a:pPr marL="342900" indent="-342900">
              <a:lnSpc>
                <a:spcPct val="115000"/>
              </a:lnSpc>
              <a:buSzPct val="100000"/>
              <a:buFont typeface="+mj-lt"/>
              <a:buAutoNum type="arabicPeriod" startAt="1"/>
            </a:pPr>
            <a:r>
              <a:rPr lang="en-US" sz="1300" dirty="0">
                <a:solidFill>
                  <a:srgbClr val="374151"/>
                </a:solidFill>
              </a:rPr>
              <a:t>She is working alone, so the second screener does not exist — and without one it is not a systematic review by PRISMA standards.</a:t>
            </a:r>
            <a:endParaRPr lang="en-US" sz="1300" dirty="0"/>
          </a:p>
          <a:p>
            <a:pPr marL="342900" indent="-342900">
              <a:lnSpc>
                <a:spcPct val="115000"/>
              </a:lnSpc>
              <a:buSzPct val="100000"/>
              <a:buFont typeface="+mj-lt"/>
              <a:buAutoNum type="arabicPeriod" startAt="1"/>
            </a:pPr>
            <a:r>
              <a:rPr lang="en-US" sz="1300" dirty="0">
                <a:solidFill>
                  <a:srgbClr val="374151"/>
                </a:solidFill>
              </a:rPr>
              <a:t>A scoping review of the same area is defensible, achievable solo, and still publishable.</a:t>
            </a:r>
            <a:endParaRPr lang="en-US" sz="1300" dirty="0"/>
          </a:p>
          <a:p>
            <a:pPr marL="342900" indent="-342900">
              <a:lnSpc>
                <a:spcPct val="115000"/>
              </a:lnSpc>
              <a:buSzPct val="100000"/>
              <a:buFont typeface="+mj-lt"/>
              <a:buAutoNum type="arabicPeriod" startAt="1"/>
            </a:pPr>
            <a:r>
              <a:rPr lang="en-US" sz="1300" dirty="0">
                <a:solidFill>
                  <a:srgbClr val="374151"/>
                </a:solidFill>
              </a:rPr>
              <a:t>Alternatively, narrow the question hard: one intervention, one age band, one country — which can make a systematic review feasible.</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3</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Key terms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300" dirty="0">
                <a:solidFill>
                  <a:srgbClr val="374151"/>
                </a:solidFill>
              </a:rPr>
              <a:t>Synthesis matrix — A table with studies as rows and themes or attributes as columns, used to compare across sources rather than summarise each in turn.</a:t>
            </a:r>
            <a:endParaRPr lang="en-US" sz="1300" dirty="0"/>
          </a:p>
          <a:p>
            <a:pPr marL="342900" indent="-342900">
              <a:lnSpc>
                <a:spcPct val="125000"/>
              </a:lnSpc>
              <a:spcAft>
                <a:spcPts val="800"/>
              </a:spcAft>
              <a:buSzPct val="100000"/>
              <a:buChar char="•"/>
            </a:pPr>
            <a:r>
              <a:rPr lang="en-US" sz="1300" dirty="0">
                <a:solidFill>
                  <a:srgbClr val="374151"/>
                </a:solidFill>
              </a:rPr>
              <a:t>Scoping review — A structured review that maps the extent, range and nature of evidence on a topic and identifies gaps.</a:t>
            </a:r>
            <a:endParaRPr lang="en-US" sz="1300" dirty="0"/>
          </a:p>
          <a:p>
            <a:pPr marL="342900" indent="-342900">
              <a:lnSpc>
                <a:spcPct val="125000"/>
              </a:lnSpc>
              <a:spcAft>
                <a:spcPts val="800"/>
              </a:spcAft>
              <a:buSzPct val="100000"/>
              <a:buChar char="•"/>
            </a:pPr>
            <a:r>
              <a:rPr lang="en-US" sz="1300" dirty="0">
                <a:solidFill>
                  <a:srgbClr val="374151"/>
                </a:solidFill>
              </a:rPr>
              <a:t>Grey literature — Material outside commercial publishing — theses, government and NGO reports, working papers, conference abstracts.</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3</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Key terms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Publication bias — The tendency for studies with positive or significant results to be published more often, distorting the apparent evidence.</a:t>
            </a:r>
            <a:endParaRPr lang="en-US" sz="1500" dirty="0"/>
          </a:p>
          <a:p>
            <a:pPr marL="342900" indent="-342900">
              <a:lnSpc>
                <a:spcPct val="125000"/>
              </a:lnSpc>
              <a:spcAft>
                <a:spcPts val="800"/>
              </a:spcAft>
              <a:buSzPct val="100000"/>
              <a:buChar char="•"/>
            </a:pPr>
            <a:r>
              <a:rPr lang="en-US" sz="1500" dirty="0">
                <a:solidFill>
                  <a:srgbClr val="374151"/>
                </a:solidFill>
              </a:rPr>
              <a:t>Predatory journal — A journal charging publication fees while providing little or no genuine peer review or editorial service.</a:t>
            </a:r>
            <a:endParaRPr lang="en-US" sz="1500" dirty="0"/>
          </a:p>
          <a:p>
            <a:pPr marL="342900" indent="-342900">
              <a:lnSpc>
                <a:spcPct val="125000"/>
              </a:lnSpc>
              <a:spcAft>
                <a:spcPts val="800"/>
              </a:spcAft>
              <a:buSzPct val="100000"/>
              <a:buChar char="•"/>
            </a:pPr>
            <a:r>
              <a:rPr lang="en-US" sz="1500" dirty="0">
                <a:solidFill>
                  <a:srgbClr val="374151"/>
                </a:solidFill>
              </a:rPr>
              <a:t>Saturation (in reviewing) — The point at which additional searching returns no new relevant concepts.</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3  ·  OVER TO YOU</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Activity</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300" dirty="0">
                <a:solidFill>
                  <a:srgbClr val="374151"/>
                </a:solidFill>
              </a:rPr>
              <a:t>Take five papers you have already read. Build a synthesis matrix with columns for design, sample, setting, key finding and limitation. Then write one paragraph that compares across the column "key finding" without naming an author as the subject of any sentence.</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Institute of Computational Biology and Bioinformatics (ICBB)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ICBB-RM101 — Unit 3: The Literature Review</dc:title>
  <dc:subject>Research Methods: Quantitative &amp; Qualitative Design</dc:subject>
  <dc:creator>Jesse Anak</dc:creator>
  <cp:lastModifiedBy>Jesse Anak</cp:lastModifiedBy>
  <cp:revision>1</cp:revision>
  <dcterms:created xsi:type="dcterms:W3CDTF">2026-08-18T20:12:12Z</dcterms:created>
  <dcterms:modified xsi:type="dcterms:W3CDTF">2026-08-18T20:12:12Z</dcterms:modified>
</cp:coreProperties>
</file>