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5: Quantitative Research Designs
Duration: 120 minutes
Objectives:
- Describe cross-sectional, case-control, cohort and experimental designs
- Match a design to a research question and justify the choice
- Explain why association does not establish causation and what would
- Identify the principal biases threatening each design
- Explain randomisation, blinding and allocation concealment
- Recognise quasi-experimental designs and when they are the honest option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out at the start and return to them at the end of the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Take-away: Choose the weakest design that still answers your question honestly, then state plainly what it cannot establish. Overclaiming from a cross-sectional study is the most common criticism in peer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Take-away: Intention to treat is the primary analysis. Report per-protocol as a secondary sensitivity analysis if at all, and never as the headline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10-15 minutes, then take feedback from two or three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8072"/>
          </a:xfrm>
          <a:prstGeom prst="rect">
            <a:avLst/>
          </a:prstGeom>
          <a:solidFill>
            <a:srgbClr val="0066C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6903720" y="3977640"/>
            <a:ext cx="1920240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TITLE">
    <p:bg>
      <p:bgPr>
        <a:solidFill>
          <a:srgbClr val="004D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00A8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452360" y="384048"/>
            <a:ext cx="1371600" cy="914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6B"/>
                </a:solidFill>
              </a:rPr>
              <a:t>ICBB-RM101  ·  UNIT 5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Quantitative Research Designs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7F5"/>
                </a:solidFill>
              </a:rPr>
              <a:t>The main observational and experimental designs, what each can and cannot establish, and how to choose the weakest design that still answers your question honestly.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645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Jesse Anak  ·  ICBB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What you will be able to 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Describe cross-sectional, case-control, cohort and experimental designs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Match a design to a research question and justify the choice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Explain why association does not establish causation and what would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Identify the principal biases threatening each design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Explain randomisation, blinding and allocation concealment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Recognise quasi-experimental designs and when they are the honest option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Observational designs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Cross-sectional — exposure and outcome measured at the same moment; fast and cheap; gives prevalence but cannot establish which came first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Case-control — starts from the outcome and looks backward at exposure; efficient for rare outcomes; vulnerable to recall and selection bias; yields an odds ratio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Cohort — starts from exposure and follows forward to outcome; establishes temporal sequence; expensive and vulnerable to loss to follow-up; yields relative risk and incidence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Observational designs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Ecological — units of analysis are groups rather than individuals; cheap but subject to the ecological fallacy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Case series and case reports — descriptive only, no comparison group, hypothesis-generating at best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Choosing an observational design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914400"/>
        </p:xfrm>
        <a:graphic>
          <a:graphicData uri="http://schemas.openxmlformats.org/drawingml/2006/table">
            <a:tbl>
              <a:tblPr/>
              <a:tblGrid>
                <a:gridCol w="2034540"/>
                <a:gridCol w="2034540"/>
                <a:gridCol w="2034540"/>
                <a:gridCol w="20345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Design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Starts from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Main weakness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9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Cross-sectional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A population at one time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Prevalence, associations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No temporal sequence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Case-control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The outcome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Rare outcomes, long latency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Recall and selection bias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Cohort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The exposure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Incidence, temporal sequence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Cost, attrition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Ecological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Groups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Population-level hypotheses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Ecological fallacy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Experimental designs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The investigator assigns the exposure, which is what permits causal inference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Randomisation distributes both known and unknown confounders across arms — its unique strength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Allocation concealment stops the recruiter from knowing the next assignment, preventing selection bias at entry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Blinding stops participants, providers or assessors from knowing the assignment, preventing performance and detection bias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Experimental designs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Randomised controlled trials may be parallel, crossover, factorial or cluster-randomised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Cluster randomisation assigns groups (schools, clinics, villages) and requires a larger sample because responses within a cluster are correlated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Analyse by intention to treat: participants are analysed in the arm to which they were assigned, whatever they actually received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In practice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4864" cy="237744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74151"/>
                </a:solidFill>
              </a:rPr>
              <a:t>Per-protocol analysis, which counts only those who complied, quietly destroys randomisation and reintroduces confounding. Report it as a secondary analysis if at all.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Quasi-experimental designs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Used when randomisation is impossible, unethical or politically unacceptable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Non-equivalent control group — an untreated comparison group not formed by randomisation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Interrupted time series — repeated measures before and after an intervention, strong when many time points exist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Difference-in-differences — compares change over time between exposed and unexposed groups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Quasi-experimental designs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Stepped wedge — all clusters eventually receive the intervention, in a randomised order; ethically attractive for programme rollout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These designs support weaker causal claims and must state the residual threats explicitly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Causation and bias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Association is necessary but not sufficient for causation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The Bradford Hill considerations — strength, consistency, temporality, biological gradient, plausibility and others — aid judgement but prove nothing individually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Temporality is the only genuinely necessary condition: the cause must precede the effect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Selection bias arises when those included differ systematically from those not included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Causation and bias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Information bias arises from measurement error — including recall bias and interviewer bias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Confounding arises when a third variable explains the apparent relationship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Confounding can be handled by design (randomisation, restriction, matching) or by analysis (stratification, regression adjustment)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5  ·  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One question, four designs, four different answers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3200400"/>
          </a:xfrm>
          <a:prstGeom prst="rect">
            <a:avLst/>
          </a:prstGeom>
          <a:solidFill>
            <a:srgbClr val="F3F7FC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74151"/>
                </a:solidFill>
              </a:rPr>
              <a:t>Does using an insecticide-treated net reduce malaria in under-fives? The design chosen changes what can honestly be claimed.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7452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Cross-sectional: survey households, record net use and current infection. Shows association only — sick children may have been given nets because they were sick.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Case-control: take children with malaria and matched controls, ask about past net use. Efficient, but caregivers of sick children recall exposure differently (recall bias).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Cohort: enrol net users and non-users, follow for a season. Establishes sequence, but families choosing nets differ from those who do not.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Cluster-randomised trial: randomise villages to receive nets. Balances known and unknown confounders — and answers the causal question.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The trial is strongest and also the slowest and most expensive; the cross-sectional study is fastest and answers least.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5  ·  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Why per-protocol analysis quietly breaks a trial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3200400"/>
          </a:xfrm>
          <a:prstGeom prst="rect">
            <a:avLst/>
          </a:prstGeom>
          <a:solidFill>
            <a:srgbClr val="F3F7FC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74151"/>
                </a:solidFill>
              </a:rPr>
              <a:t>In a trial of a six-month TB treatment regimen, 15% of the intervention arm stopped taking the drug. The analyst proposes excluding them "so we measure the drug's true effect".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7452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Ask who stopped. Typically those with worse side effects, more advanced disease, or less social support.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Those same characteristics predict worse outcomes independently of the drug.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Removing them leaves a healthier intervention arm compared against an intact control arm.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Randomisation guaranteed comparable groups at baseline; this exclusion destroys that guarantee.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Intention to treat keeps everyone in the arm they were assigned, and answers the question a clinician actually faces: what happens if I prescribe this?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Key terms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Incidence — The rate of new cases arising in a population over a defined period.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Prevalence — The proportion of a population having the condition at a point in time.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Odds ratio — The ratio of the odds of exposure in cases to the odds in controls; the standard measure from case-control studies.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Allocation concealment — Preventing those enrolling participants from knowing the upcoming assignment.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Key terms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Intention to treat — Analysing participants in the arm to which they were randomised, regardless of adherence.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Ecological fallacy — Wrongly inferring something about individuals from a relationship observed between groups.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Confounding — Distortion of an exposure-outcome association by a third variable related to both.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5  ·  OVER TO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Activity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You are asked whether a new community health worker programme reduced under-five mortality. Randomisation is refused by the district. Propose two quasi-experimental designs, state what each can and cannot establish, and name the biases you would have to acknowledge.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Institute of Computational Biology and Bioinformatics (ICBB)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ICBB-RM101 — Unit 5: Quantitative Research Designs</dc:title>
  <dc:subject>Research Methods: Quantitative &amp; Qualitative Design</dc:subject>
  <dc:creator>Jesse Anak</dc:creator>
  <cp:lastModifiedBy>Jesse Anak</cp:lastModifiedBy>
  <cp:revision>1</cp:revision>
  <dcterms:created xsi:type="dcterms:W3CDTF">2026-08-18T20:12:12Z</dcterms:created>
  <dcterms:modified xsi:type="dcterms:W3CDTF">2026-08-18T20:12:12Z</dcterms:modified>
</cp:coreProperties>
</file>